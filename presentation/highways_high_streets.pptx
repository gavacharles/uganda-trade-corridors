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Model</c:v>
                </c:pt>
              </c:strCache>
            </c:strRef>
          </c:tx>
          <c:spPr>
            <a:solidFill>
              <a:srgbClr val="C4532D"/>
            </a:solidFill>
          </c:spPr>
          <c:cat>
            <c:strRef>
              <c:f>Sheet1!$A$2:$A$5</c:f>
              <c:strCache>
                <c:ptCount val="4"/>
                <c:pt idx="0">
                  <c:v>Kampala–Gulu</c:v>
                </c:pt>
                <c:pt idx="1">
                  <c:v>Kampala–Kabale</c:v>
                </c:pt>
                <c:pt idx="2">
                  <c:v>Kampala–Hoima</c:v>
                </c:pt>
                <c:pt idx="3">
                  <c:v>Kampala–Njeru</c:v>
                </c:pt>
              </c:strCache>
            </c:strRef>
          </c:cat>
          <c:val>
            <c:numRef>
              <c:f>Sheet1!$B$2:$B$5</c:f>
              <c:numCache>
                <c:formatCode>General</c:formatCode>
                <c:ptCount val="4"/>
                <c:pt idx="0">
                  <c:v>266</c:v>
                </c:pt>
                <c:pt idx="1">
                  <c:v>344</c:v>
                </c:pt>
                <c:pt idx="2">
                  <c:v>164</c:v>
                </c:pt>
                <c:pt idx="3">
                  <c:v>87</c:v>
                </c:pt>
              </c:numCache>
            </c:numRef>
          </c:val>
        </c:ser>
        <c:ser>
          <c:idx val="1"/>
          <c:order val="1"/>
          <c:tx>
            <c:strRef>
              <c:f>Sheet1!$C$1</c:f>
              <c:strCache>
                <c:ptCount val="1"/>
                <c:pt idx="0">
                  <c:v>Routing estimate</c:v>
                </c:pt>
              </c:strCache>
            </c:strRef>
          </c:tx>
          <c:spPr>
            <a:solidFill>
              <a:srgbClr val="B8C7C4"/>
            </a:solidFill>
          </c:spPr>
          <c:cat>
            <c:strRef>
              <c:f>Sheet1!$A$2:$A$5</c:f>
              <c:strCache>
                <c:ptCount val="4"/>
                <c:pt idx="0">
                  <c:v>Kampala–Gulu</c:v>
                </c:pt>
                <c:pt idx="1">
                  <c:v>Kampala–Kabale</c:v>
                </c:pt>
                <c:pt idx="2">
                  <c:v>Kampala–Hoima</c:v>
                </c:pt>
                <c:pt idx="3">
                  <c:v>Kampala–Njeru</c:v>
                </c:pt>
              </c:strCache>
            </c:strRef>
          </c:cat>
          <c:val>
            <c:numRef>
              <c:f>Sheet1!$C$2:$C$5</c:f>
              <c:numCache>
                <c:formatCode>General</c:formatCode>
                <c:ptCount val="4"/>
                <c:pt idx="0">
                  <c:v>286</c:v>
                </c:pt>
                <c:pt idx="1">
                  <c:v>345</c:v>
                </c:pt>
                <c:pt idx="2">
                  <c:v>172</c:v>
                </c:pt>
                <c:pt idx="3">
                  <c:v>66</c:v>
                </c:pt>
              </c:numCache>
            </c:numRef>
          </c:val>
        </c:ser>
        <c:dLbls>
          <c:txPr>
            <a:bodyPr/>
            <a:lstStyle/>
            <a:p>
              <a:pPr>
                <a:defRPr sz="1300">
                  <a:solidFill>
                    <a:srgbClr val="1E2528"/>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B8C7C4"/>
            </a:solidFill>
          </a:ln>
        </c:spPr>
        <c:txPr>
          <a:bodyPr/>
          <a:lstStyle/>
          <a:p>
            <a:pPr>
              <a:defRPr sz="1200"/>
            </a:pPr>
          </a:p>
        </c:txPr>
        <c:crossAx val="-2113994440"/>
        <c:crosses val="autoZero"/>
        <c:auto val="1"/>
        <c:lblAlgn val="ctr"/>
        <c:lblOffset val="100"/>
        <c:noMultiLvlLbl val="0"/>
      </c:catAx>
      <c:valAx>
        <c:axId val="-2113994440"/>
        <c:scaling>
          <c:max val="400.0"/>
        </c:scaling>
        <c:delete val="0"/>
        <c:axPos val="l"/>
        <c:majorGridlines>
          <c:spPr>
            <a:ln>
              <a:solidFill>
                <a:srgbClr val="E3E7E6"/>
              </a:solidFill>
            </a:ln>
          </c:spPr>
        </c:majorGridlines>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5B677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percentStacked"/>
        <c:ser>
          <c:idx val="0"/>
          <c:order val="0"/>
          <c:tx>
            <c:strRef>
              <c:f>Sheet1!$B$1</c:f>
              <c:strCache>
                <c:ptCount val="1"/>
                <c:pt idx="0">
                  <c:v>Open road</c:v>
                </c:pt>
              </c:strCache>
            </c:strRef>
          </c:tx>
          <c:spPr>
            <a:solidFill>
              <a:srgbClr val="3A7D5C"/>
            </a:solidFill>
          </c:spPr>
          <c:cat>
            <c:strRef>
              <c:f>Sheet1!$A$2:$A$5</c:f>
              <c:strCache>
                <c:ptCount val="4"/>
                <c:pt idx="0">
                  <c:v>Malaba (A1)</c:v>
                </c:pt>
                <c:pt idx="1">
                  <c:v>Elegu (A6)</c:v>
                </c:pt>
                <c:pt idx="2">
                  <c:v>Katuna (A2)</c:v>
                </c:pt>
                <c:pt idx="3">
                  <c:v>Hoima (A9)</c:v>
                </c:pt>
              </c:strCache>
            </c:strRef>
          </c:cat>
          <c:val>
            <c:numRef>
              <c:f>Sheet1!$B$2:$B$5</c:f>
              <c:numCache>
                <c:formatCode>General</c:formatCode>
                <c:ptCount val="4"/>
                <c:pt idx="0">
                  <c:v>0.199</c:v>
                </c:pt>
                <c:pt idx="1">
                  <c:v>0.342</c:v>
                </c:pt>
                <c:pt idx="2">
                  <c:v>0.25</c:v>
                </c:pt>
                <c:pt idx="3">
                  <c:v>0.165</c:v>
                </c:pt>
              </c:numCache>
            </c:numRef>
          </c:val>
        </c:ser>
        <c:ser>
          <c:idx val="1"/>
          <c:order val="1"/>
          <c:tx>
            <c:strRef>
              <c:f>Sheet1!$C$1</c:f>
              <c:strCache>
                <c:ptCount val="1"/>
                <c:pt idx="0">
                  <c:v>Roadside settlement</c:v>
                </c:pt>
              </c:strCache>
            </c:strRef>
          </c:tx>
          <c:spPr>
            <a:solidFill>
              <a:srgbClr val="D9A441"/>
            </a:solidFill>
          </c:spPr>
          <c:cat>
            <c:strRef>
              <c:f>Sheet1!$A$2:$A$5</c:f>
              <c:strCache>
                <c:ptCount val="4"/>
                <c:pt idx="0">
                  <c:v>Malaba (A1)</c:v>
                </c:pt>
                <c:pt idx="1">
                  <c:v>Elegu (A6)</c:v>
                </c:pt>
                <c:pt idx="2">
                  <c:v>Katuna (A2)</c:v>
                </c:pt>
                <c:pt idx="3">
                  <c:v>Hoima (A9)</c:v>
                </c:pt>
              </c:strCache>
            </c:strRef>
          </c:cat>
          <c:val>
            <c:numRef>
              <c:f>Sheet1!$C$2:$C$5</c:f>
              <c:numCache>
                <c:formatCode>General</c:formatCode>
                <c:ptCount val="4"/>
                <c:pt idx="0">
                  <c:v>0.581</c:v>
                </c:pt>
                <c:pt idx="1">
                  <c:v>0.582</c:v>
                </c:pt>
                <c:pt idx="2">
                  <c:v>0.637</c:v>
                </c:pt>
                <c:pt idx="3">
                  <c:v>0.756</c:v>
                </c:pt>
              </c:numCache>
            </c:numRef>
          </c:val>
        </c:ser>
        <c:ser>
          <c:idx val="2"/>
          <c:order val="2"/>
          <c:tx>
            <c:strRef>
              <c:f>Sheet1!$D$1</c:f>
              <c:strCache>
                <c:ptCount val="1"/>
                <c:pt idx="0">
                  <c:v>Town</c:v>
                </c:pt>
              </c:strCache>
            </c:strRef>
          </c:tx>
          <c:spPr>
            <a:solidFill>
              <a:srgbClr val="C4532D"/>
            </a:solidFill>
          </c:spPr>
          <c:cat>
            <c:strRef>
              <c:f>Sheet1!$A$2:$A$5</c:f>
              <c:strCache>
                <c:ptCount val="4"/>
                <c:pt idx="0">
                  <c:v>Malaba (A1)</c:v>
                </c:pt>
                <c:pt idx="1">
                  <c:v>Elegu (A6)</c:v>
                </c:pt>
                <c:pt idx="2">
                  <c:v>Katuna (A2)</c:v>
                </c:pt>
                <c:pt idx="3">
                  <c:v>Hoima (A9)</c:v>
                </c:pt>
              </c:strCache>
            </c:strRef>
          </c:cat>
          <c:val>
            <c:numRef>
              <c:f>Sheet1!$D$2:$D$5</c:f>
              <c:numCache>
                <c:formatCode>General</c:formatCode>
                <c:ptCount val="4"/>
                <c:pt idx="0">
                  <c:v>0.22</c:v>
                </c:pt>
                <c:pt idx="1">
                  <c:v>0.075</c:v>
                </c:pt>
                <c:pt idx="2">
                  <c:v>0.113</c:v>
                </c:pt>
                <c:pt idx="3">
                  <c:v>0.08</c:v>
                </c:pt>
              </c:numCache>
            </c:numRef>
          </c:val>
        </c:ser>
        <c:dLbls>
          <c:numFmt formatCode="0%" sourceLinked="0"/>
          <c:txPr>
            <a:bodyPr/>
            <a:lstStyle/>
            <a:p>
              <a:pPr>
                <a:defRPr sz="1300" b="1">
                  <a:solidFill>
                    <a:srgbClr val="FFFFFF"/>
                  </a:solidFill>
                </a:defRPr>
              </a:pPr>
            </a:p>
          </c:txPr>
          <c:dLblPos val="ctr"/>
          <c:showLegendKey val="0"/>
          <c:showVal val="1"/>
          <c:showCatName val="0"/>
          <c:showSerName val="0"/>
          <c:showPercent val="0"/>
          <c:showBubbleSize val="0"/>
          <c:showLeaderLines val="1"/>
        </c:dLbls>
        <c:gapWidth val="45"/>
        <c:overlap val="100"/>
        <c:axId val="-2068027336"/>
        <c:axId val="-2113994440"/>
      </c:barChart>
      <c:catAx>
        <c:axId val="-2068027336"/>
        <c:scaling>
          <c:orientation val="maxMin"/>
        </c:scaling>
        <c:delete val="0"/>
        <c:axPos val="l"/>
        <c:majorTickMark val="out"/>
        <c:minorTickMark val="none"/>
        <c:tickLblPos val="nextTo"/>
        <c:spPr>
          <a:ln>
            <a:solidFill>
              <a:srgbClr val="B8C7C4"/>
            </a:solidFill>
          </a:ln>
        </c:spPr>
        <c:txPr>
          <a:bodyPr/>
          <a:lstStyle/>
          <a:p>
            <a:pPr>
              <a:defRPr sz="1300"/>
            </a:pPr>
          </a:p>
        </c:txPr>
        <c:crossAx val="-2113994440"/>
        <c:crosses val="autoZero"/>
        <c:auto val="1"/>
        <c:lblAlgn val="ctr"/>
        <c:lblOffset val="100"/>
        <c:noMultiLvlLbl val="0"/>
      </c:catAx>
      <c:valAx>
        <c:axId val="-2113994440"/>
        <c:scaling/>
        <c:delete val="0"/>
        <c:axPos val="b"/>
        <c:majorGridlines>
          <c:spPr>
            <a:ln>
              <a:solidFill>
                <a:srgbClr val="E3E7E6"/>
              </a:solidFill>
            </a:ln>
          </c:spPr>
        </c:majorGridlines>
        <c:numFmt formatCode="0%" sourceLinked="0"/>
        <c:majorTickMark val="out"/>
        <c:minorTickMark val="none"/>
        <c:tickLblPos val="nextTo"/>
        <c:spPr>
          <a:ln>
            <a:noFill/>
          </a:ln>
        </c:spPr>
        <c:txPr>
          <a:bodyPr/>
          <a:lstStyle/>
          <a:p>
            <a:pPr>
              <a:defRPr sz="1200"/>
            </a:pPr>
          </a:p>
        </c:txPr>
        <c:crossAx val="-2068027336"/>
        <c:crosses val="autoZero"/>
      </c:valAx>
    </c:plotArea>
    <c:legend>
      <c:legendPos val="t"/>
      <c:overlay val="0"/>
      <c:txPr>
        <a:bodyPr/>
        <a:lstStyle/>
        <a:p>
          <a:pPr>
            <a:defRPr sz="1300"/>
          </a:pPr>
        </a:p>
      </c:txPr>
    </c:legend>
    <c:dispBlanksAs val="gap"/>
  </c:chart>
  <c:txPr>
    <a:bodyPr/>
    <a:lstStyle/>
    <a:p>
      <a:pPr>
        <a:defRPr sz="1300">
          <a:solidFill>
            <a:srgbClr val="5B677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Roadside activity</c:v>
                </c:pt>
              </c:strCache>
            </c:strRef>
          </c:tx>
          <c:spPr>
            <a:solidFill>
              <a:srgbClr val="C4532D"/>
            </a:solidFill>
          </c:spPr>
          <c:cat>
            <c:strRef>
              <c:f>Sheet1!$A$2:$A$5</c:f>
              <c:strCache>
                <c:ptCount val="4"/>
                <c:pt idx="0">
                  <c:v>Malaba (A1)</c:v>
                </c:pt>
                <c:pt idx="1">
                  <c:v>Elegu (A6)</c:v>
                </c:pt>
                <c:pt idx="2">
                  <c:v>Katuna (A2)</c:v>
                </c:pt>
                <c:pt idx="3">
                  <c:v>Hoima (A9)</c:v>
                </c:pt>
              </c:strCache>
            </c:strRef>
          </c:cat>
          <c:val>
            <c:numRef>
              <c:f>Sheet1!$B$2:$B$5</c:f>
              <c:numCache>
                <c:formatCode>General</c:formatCode>
                <c:ptCount val="4"/>
                <c:pt idx="0">
                  <c:v>25.1</c:v>
                </c:pt>
                <c:pt idx="1">
                  <c:v>29.2</c:v>
                </c:pt>
                <c:pt idx="2">
                  <c:v>34.6</c:v>
                </c:pt>
                <c:pt idx="3">
                  <c:v>18.5</c:v>
                </c:pt>
              </c:numCache>
            </c:numRef>
          </c:val>
        </c:ser>
        <c:ser>
          <c:idx val="1"/>
          <c:order val="1"/>
          <c:tx>
            <c:strRef>
              <c:f>Sheet1!$C$1</c:f>
              <c:strCache>
                <c:ptCount val="1"/>
                <c:pt idx="0">
                  <c:v>Hills</c:v>
                </c:pt>
              </c:strCache>
            </c:strRef>
          </c:tx>
          <c:spPr>
            <a:solidFill>
              <a:srgbClr val="8A6B4E"/>
            </a:solidFill>
          </c:spPr>
          <c:cat>
            <c:strRef>
              <c:f>Sheet1!$A$2:$A$5</c:f>
              <c:strCache>
                <c:ptCount val="4"/>
                <c:pt idx="0">
                  <c:v>Malaba (A1)</c:v>
                </c:pt>
                <c:pt idx="1">
                  <c:v>Elegu (A6)</c:v>
                </c:pt>
                <c:pt idx="2">
                  <c:v>Katuna (A2)</c:v>
                </c:pt>
                <c:pt idx="3">
                  <c:v>Hoima (A9)</c:v>
                </c:pt>
              </c:strCache>
            </c:strRef>
          </c:cat>
          <c:val>
            <c:numRef>
              <c:f>Sheet1!$C$2:$C$5</c:f>
              <c:numCache>
                <c:formatCode>General</c:formatCode>
                <c:ptCount val="4"/>
                <c:pt idx="0">
                  <c:v>8.6</c:v>
                </c:pt>
                <c:pt idx="1">
                  <c:v>13.0</c:v>
                </c:pt>
                <c:pt idx="2">
                  <c:v>38.1</c:v>
                </c:pt>
                <c:pt idx="3">
                  <c:v>13.7</c:v>
                </c:pt>
              </c:numCache>
            </c:numRef>
          </c:val>
        </c:ser>
        <c:ser>
          <c:idx val="2"/>
          <c:order val="2"/>
          <c:tx>
            <c:strRef>
              <c:f>Sheet1!$D$1</c:f>
              <c:strCache>
                <c:ptCount val="1"/>
                <c:pt idx="0">
                  <c:v>Weighbridges</c:v>
                </c:pt>
              </c:strCache>
            </c:strRef>
          </c:tx>
          <c:spPr>
            <a:solidFill>
              <a:srgbClr val="17252A"/>
            </a:solidFill>
          </c:spPr>
          <c:cat>
            <c:strRef>
              <c:f>Sheet1!$A$2:$A$5</c:f>
              <c:strCache>
                <c:ptCount val="4"/>
                <c:pt idx="0">
                  <c:v>Malaba (A1)</c:v>
                </c:pt>
                <c:pt idx="1">
                  <c:v>Elegu (A6)</c:v>
                </c:pt>
                <c:pt idx="2">
                  <c:v>Katuna (A2)</c:v>
                </c:pt>
                <c:pt idx="3">
                  <c:v>Hoima (A9)</c:v>
                </c:pt>
              </c:strCache>
            </c:strRef>
          </c:cat>
          <c:val>
            <c:numRef>
              <c:f>Sheet1!$D$2:$D$5</c:f>
              <c:numCache>
                <c:formatCode>General</c:formatCode>
                <c:ptCount val="4"/>
                <c:pt idx="0">
                  <c:v>20.0</c:v>
                </c:pt>
                <c:pt idx="1">
                  <c:v>10.0</c:v>
                </c:pt>
                <c:pt idx="2">
                  <c:v>20.0</c:v>
                </c:pt>
                <c:pt idx="3">
                  <c:v>0.0</c:v>
                </c:pt>
              </c:numCache>
            </c:numRef>
          </c:val>
        </c:ser>
        <c:ser>
          <c:idx val="3"/>
          <c:order val="3"/>
          <c:tx>
            <c:strRef>
              <c:f>Sheet1!$E$1</c:f>
              <c:strCache>
                <c:ptCount val="1"/>
                <c:pt idx="0">
                  <c:v>Speed humps (assumed)</c:v>
                </c:pt>
              </c:strCache>
            </c:strRef>
          </c:tx>
          <c:spPr>
            <a:solidFill>
              <a:srgbClr val="D9A441"/>
            </a:solidFill>
          </c:spPr>
          <c:cat>
            <c:strRef>
              <c:f>Sheet1!$A$2:$A$5</c:f>
              <c:strCache>
                <c:ptCount val="4"/>
                <c:pt idx="0">
                  <c:v>Malaba (A1)</c:v>
                </c:pt>
                <c:pt idx="1">
                  <c:v>Elegu (A6)</c:v>
                </c:pt>
                <c:pt idx="2">
                  <c:v>Katuna (A2)</c:v>
                </c:pt>
                <c:pt idx="3">
                  <c:v>Hoima (A9)</c:v>
                </c:pt>
              </c:strCache>
            </c:strRef>
          </c:cat>
          <c:val>
            <c:numRef>
              <c:f>Sheet1!$E$2:$E$5</c:f>
              <c:numCache>
                <c:formatCode>General</c:formatCode>
                <c:ptCount val="4"/>
                <c:pt idx="0">
                  <c:v>19.0</c:v>
                </c:pt>
                <c:pt idx="1">
                  <c:v>13.0</c:v>
                </c:pt>
                <c:pt idx="2">
                  <c:v>19.2</c:v>
                </c:pt>
                <c:pt idx="3">
                  <c:v>6.2</c:v>
                </c:pt>
              </c:numCache>
            </c:numRef>
          </c:val>
        </c:ser>
        <c:ser>
          <c:idx val="4"/>
          <c:order val="4"/>
          <c:tx>
            <c:strRef>
              <c:f>Sheet1!$F$1</c:f>
              <c:strCache>
                <c:ptCount val="1"/>
                <c:pt idx="0">
                  <c:v>Police posts</c:v>
                </c:pt>
              </c:strCache>
            </c:strRef>
          </c:tx>
          <c:spPr>
            <a:solidFill>
              <a:srgbClr val="4E7C8A"/>
            </a:solidFill>
          </c:spPr>
          <c:cat>
            <c:strRef>
              <c:f>Sheet1!$A$2:$A$5</c:f>
              <c:strCache>
                <c:ptCount val="4"/>
                <c:pt idx="0">
                  <c:v>Malaba (A1)</c:v>
                </c:pt>
                <c:pt idx="1">
                  <c:v>Elegu (A6)</c:v>
                </c:pt>
                <c:pt idx="2">
                  <c:v>Katuna (A2)</c:v>
                </c:pt>
                <c:pt idx="3">
                  <c:v>Hoima (A9)</c:v>
                </c:pt>
              </c:strCache>
            </c:strRef>
          </c:cat>
          <c:val>
            <c:numRef>
              <c:f>Sheet1!$F$2:$F$5</c:f>
              <c:numCache>
                <c:formatCode>General</c:formatCode>
                <c:ptCount val="4"/>
                <c:pt idx="0">
                  <c:v>10.0</c:v>
                </c:pt>
                <c:pt idx="1">
                  <c:v>15.0</c:v>
                </c:pt>
                <c:pt idx="2">
                  <c:v>9.0</c:v>
                </c:pt>
                <c:pt idx="3">
                  <c:v>4.0</c:v>
                </c:pt>
              </c:numCache>
            </c:numRef>
          </c:val>
        </c:ser>
        <c:ser>
          <c:idx val="5"/>
          <c:order val="5"/>
          <c:tx>
            <c:strRef>
              <c:f>Sheet1!$G$1</c:f>
              <c:strCache>
                <c:ptCount val="1"/>
                <c:pt idx="0">
                  <c:v>Joining roads</c:v>
                </c:pt>
              </c:strCache>
            </c:strRef>
          </c:tx>
          <c:spPr>
            <a:solidFill>
              <a:srgbClr val="3A7D5C"/>
            </a:solidFill>
          </c:spPr>
          <c:cat>
            <c:strRef>
              <c:f>Sheet1!$A$2:$A$5</c:f>
              <c:strCache>
                <c:ptCount val="4"/>
                <c:pt idx="0">
                  <c:v>Malaba (A1)</c:v>
                </c:pt>
                <c:pt idx="1">
                  <c:v>Elegu (A6)</c:v>
                </c:pt>
                <c:pt idx="2">
                  <c:v>Katuna (A2)</c:v>
                </c:pt>
                <c:pt idx="3">
                  <c:v>Hoima (A9)</c:v>
                </c:pt>
              </c:strCache>
            </c:strRef>
          </c:cat>
          <c:val>
            <c:numRef>
              <c:f>Sheet1!$G$2:$G$5</c:f>
              <c:numCache>
                <c:formatCode>General</c:formatCode>
                <c:ptCount val="4"/>
                <c:pt idx="0">
                  <c:v>7.1</c:v>
                </c:pt>
                <c:pt idx="1">
                  <c:v>10.2</c:v>
                </c:pt>
                <c:pt idx="2">
                  <c:v>11.2</c:v>
                </c:pt>
                <c:pt idx="3">
                  <c:v>4.9</c:v>
                </c:pt>
              </c:numCache>
            </c:numRef>
          </c:val>
        </c:ser>
        <c:ser>
          <c:idx val="6"/>
          <c:order val="6"/>
          <c:tx>
            <c:strRef>
              <c:f>Sheet1!$H$1</c:f>
              <c:strCache>
                <c:ptCount val="1"/>
                <c:pt idx="0">
                  <c:v>Signals &amp; crossings</c:v>
                </c:pt>
              </c:strCache>
            </c:strRef>
          </c:tx>
          <c:spPr>
            <a:solidFill>
              <a:srgbClr val="B8C7C4"/>
            </a:solidFill>
          </c:spPr>
          <c:cat>
            <c:strRef>
              <c:f>Sheet1!$A$2:$A$5</c:f>
              <c:strCache>
                <c:ptCount val="4"/>
                <c:pt idx="0">
                  <c:v>Malaba (A1)</c:v>
                </c:pt>
                <c:pt idx="1">
                  <c:v>Elegu (A6)</c:v>
                </c:pt>
                <c:pt idx="2">
                  <c:v>Katuna (A2)</c:v>
                </c:pt>
                <c:pt idx="3">
                  <c:v>Hoima (A9)</c:v>
                </c:pt>
              </c:strCache>
            </c:strRef>
          </c:cat>
          <c:val>
            <c:numRef>
              <c:f>Sheet1!$H$2:$H$5</c:f>
              <c:numCache>
                <c:formatCode>General</c:formatCode>
                <c:ptCount val="4"/>
                <c:pt idx="0">
                  <c:v>10.5</c:v>
                </c:pt>
                <c:pt idx="1">
                  <c:v>3.6</c:v>
                </c:pt>
                <c:pt idx="2">
                  <c:v>2.9</c:v>
                </c:pt>
                <c:pt idx="3">
                  <c:v>0.5</c:v>
                </c:pt>
              </c:numCache>
            </c:numRef>
          </c:val>
        </c:ser>
        <c:gapWidth val="45"/>
        <c:overlap val="100"/>
        <c:axId val="-2068027336"/>
        <c:axId val="-2113994440"/>
      </c:barChart>
      <c:catAx>
        <c:axId val="-2068027336"/>
        <c:scaling>
          <c:orientation val="maxMin"/>
        </c:scaling>
        <c:delete val="0"/>
        <c:axPos val="l"/>
        <c:majorTickMark val="out"/>
        <c:minorTickMark val="none"/>
        <c:tickLblPos val="nextTo"/>
        <c:spPr>
          <a:ln>
            <a:solidFill>
              <a:srgbClr val="B8C7C4"/>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E3E7E6"/>
              </a:solidFill>
            </a:ln>
          </c:spPr>
        </c:majorGridlines>
        <c:title>
          <c:tx>
            <c:rich>
              <a:bodyPr/>
              <a:lstStyle/>
              <a:p>
                <a:r>
                  <a:rPr sz="1200"/>
                  <a:t>minutes added</a:t>
                </a:r>
              </a:p>
            </c:rich>
          </c:tx>
          <c:layout/>
          <c:overlay val="0"/>
        </c:title>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5B677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Roadside settlement</c:v>
                </c:pt>
              </c:strCache>
            </c:strRef>
          </c:tx>
          <c:spPr>
            <a:solidFill>
              <a:srgbClr val="D9A441"/>
            </a:solidFill>
          </c:spPr>
          <c:cat>
            <c:strRef>
              <c:f>Sheet1!$A$2:$A$5</c:f>
              <c:strCache>
                <c:ptCount val="4"/>
                <c:pt idx="0">
                  <c:v>Elegu (A6)</c:v>
                </c:pt>
                <c:pt idx="1">
                  <c:v>Hoima (A9)</c:v>
                </c:pt>
                <c:pt idx="2">
                  <c:v>Katuna (A2)</c:v>
                </c:pt>
                <c:pt idx="3">
                  <c:v>Malaba (A1)</c:v>
                </c:pt>
              </c:strCache>
            </c:strRef>
          </c:cat>
          <c:val>
            <c:numRef>
              <c:f>Sheet1!$B$2:$B$5</c:f>
              <c:numCache>
                <c:formatCode>General</c:formatCode>
                <c:ptCount val="4"/>
                <c:pt idx="0">
                  <c:v>103</c:v>
                </c:pt>
                <c:pt idx="1">
                  <c:v>92</c:v>
                </c:pt>
                <c:pt idx="2">
                  <c:v>68</c:v>
                </c:pt>
                <c:pt idx="3">
                  <c:v>45</c:v>
                </c:pt>
              </c:numCache>
            </c:numRef>
          </c:val>
        </c:ser>
        <c:ser>
          <c:idx val="1"/>
          <c:order val="1"/>
          <c:tx>
            <c:strRef>
              <c:f>Sheet1!$C$1</c:f>
              <c:strCache>
                <c:ptCount val="1"/>
                <c:pt idx="0">
                  <c:v>Town</c:v>
                </c:pt>
              </c:strCache>
            </c:strRef>
          </c:tx>
          <c:spPr>
            <a:solidFill>
              <a:srgbClr val="C4532D"/>
            </a:solidFill>
          </c:spPr>
          <c:cat>
            <c:strRef>
              <c:f>Sheet1!$A$2:$A$5</c:f>
              <c:strCache>
                <c:ptCount val="4"/>
                <c:pt idx="0">
                  <c:v>Elegu (A6)</c:v>
                </c:pt>
                <c:pt idx="1">
                  <c:v>Hoima (A9)</c:v>
                </c:pt>
                <c:pt idx="2">
                  <c:v>Katuna (A2)</c:v>
                </c:pt>
                <c:pt idx="3">
                  <c:v>Malaba (A1)</c:v>
                </c:pt>
              </c:strCache>
            </c:strRef>
          </c:cat>
          <c:val>
            <c:numRef>
              <c:f>Sheet1!$C$2:$C$5</c:f>
              <c:numCache>
                <c:formatCode>General</c:formatCode>
                <c:ptCount val="4"/>
                <c:pt idx="0">
                  <c:v>20</c:v>
                </c:pt>
                <c:pt idx="1">
                  <c:v>17</c:v>
                </c:pt>
                <c:pt idx="2">
                  <c:v>16</c:v>
                </c:pt>
                <c:pt idx="3">
                  <c:v>13</c:v>
                </c:pt>
              </c:numCache>
            </c:numRef>
          </c:val>
        </c:ser>
        <c:ser>
          <c:idx val="2"/>
          <c:order val="2"/>
          <c:tx>
            <c:strRef>
              <c:f>Sheet1!$D$1</c:f>
              <c:strCache>
                <c:ptCount val="1"/>
                <c:pt idx="0">
                  <c:v>Whole corridor</c:v>
                </c:pt>
              </c:strCache>
            </c:strRef>
          </c:tx>
          <c:spPr>
            <a:solidFill>
              <a:srgbClr val="17252A"/>
            </a:solidFill>
          </c:spPr>
          <c:cat>
            <c:strRef>
              <c:f>Sheet1!$A$2:$A$5</c:f>
              <c:strCache>
                <c:ptCount val="4"/>
                <c:pt idx="0">
                  <c:v>Elegu (A6)</c:v>
                </c:pt>
                <c:pt idx="1">
                  <c:v>Hoima (A9)</c:v>
                </c:pt>
                <c:pt idx="2">
                  <c:v>Katuna (A2)</c:v>
                </c:pt>
                <c:pt idx="3">
                  <c:v>Malaba (A1)</c:v>
                </c:pt>
              </c:strCache>
            </c:strRef>
          </c:cat>
          <c:val>
            <c:numRef>
              <c:f>Sheet1!$D$2:$D$5</c:f>
              <c:numCache>
                <c:formatCode>General</c:formatCode>
                <c:ptCount val="4"/>
                <c:pt idx="0">
                  <c:v>68</c:v>
                </c:pt>
                <c:pt idx="1">
                  <c:v>57</c:v>
                </c:pt>
                <c:pt idx="2">
                  <c:v>43</c:v>
                </c:pt>
                <c:pt idx="3">
                  <c:v>27</c:v>
                </c:pt>
              </c:numCache>
            </c:numRef>
          </c:val>
        </c:ser>
        <c:dLbls>
          <c:numFmt formatCode="&quot;+&quot;0&quot;%&quot;" sourceLinked="0"/>
          <c:txPr>
            <a:bodyPr/>
            <a:lstStyle/>
            <a:p>
              <a:pPr>
                <a:defRPr sz="1100">
                  <a:solidFill>
                    <a:srgbClr val="1E2528"/>
                  </a:solidFill>
                </a:defRPr>
              </a:pPr>
            </a:p>
          </c:txPr>
          <c:dLblPos val="outEnd"/>
          <c:showLegendKey val="0"/>
          <c:showVal val="1"/>
          <c:showCatName val="0"/>
          <c:showSerName val="0"/>
          <c:showPercent val="0"/>
          <c:showBubbleSize val="0"/>
          <c:showLeaderLines val="1"/>
        </c:dLbls>
        <c:gapWidth val="45"/>
        <c:overlap val="-5"/>
        <c:axId val="-2068027336"/>
        <c:axId val="-2113994440"/>
      </c:barChart>
      <c:catAx>
        <c:axId val="-2068027336"/>
        <c:scaling>
          <c:orientation val="minMax"/>
        </c:scaling>
        <c:delete val="0"/>
        <c:axPos val="b"/>
        <c:majorTickMark val="out"/>
        <c:minorTickMark val="none"/>
        <c:tickLblPos val="nextTo"/>
        <c:spPr>
          <a:ln>
            <a:solidFill>
              <a:srgbClr val="B8C7C4"/>
            </a:solidFill>
          </a:ln>
        </c:spPr>
        <c:txPr>
          <a:bodyPr/>
          <a:lstStyle/>
          <a:p>
            <a:pPr>
              <a:defRPr sz="1200"/>
            </a:pPr>
          </a:p>
        </c:txPr>
        <c:crossAx val="-2113994440"/>
        <c:crosses val="autoZero"/>
        <c:auto val="1"/>
        <c:lblAlgn val="ctr"/>
        <c:lblOffset val="100"/>
        <c:noMultiLvlLbl val="0"/>
      </c:catAx>
      <c:valAx>
        <c:axId val="-2113994440"/>
        <c:scaling/>
        <c:delete/>
        <c:axPos val="l"/>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5B677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Weigh-in-motion</c:v>
                </c:pt>
              </c:strCache>
            </c:strRef>
          </c:tx>
          <c:spPr>
            <a:solidFill>
              <a:srgbClr val="3A7D5C"/>
            </a:solidFill>
          </c:spPr>
          <c:cat>
            <c:strRef>
              <c:f>Sheet1!$A$2:$A$5</c:f>
              <c:strCache>
                <c:ptCount val="4"/>
                <c:pt idx="0">
                  <c:v>Malaba (A1)</c:v>
                </c:pt>
                <c:pt idx="1">
                  <c:v>Elegu (A6)</c:v>
                </c:pt>
                <c:pt idx="2">
                  <c:v>Katuna (A2)</c:v>
                </c:pt>
                <c:pt idx="3">
                  <c:v>Hoima (A9)</c:v>
                </c:pt>
              </c:strCache>
            </c:strRef>
          </c:cat>
          <c:val>
            <c:numRef>
              <c:f>Sheet1!$B$2:$B$5</c:f>
              <c:numCache>
                <c:formatCode>General</c:formatCode>
                <c:ptCount val="4"/>
                <c:pt idx="0">
                  <c:v>16.0</c:v>
                </c:pt>
                <c:pt idx="1">
                  <c:v>8.0</c:v>
                </c:pt>
                <c:pt idx="2">
                  <c:v>16.0</c:v>
                </c:pt>
                <c:pt idx="3">
                  <c:v>0.0</c:v>
                </c:pt>
              </c:numCache>
            </c:numRef>
          </c:val>
        </c:ser>
        <c:ser>
          <c:idx val="1"/>
          <c:order val="1"/>
          <c:tx>
            <c:strRef>
              <c:f>Sheet1!$C$1</c:f>
              <c:strCache>
                <c:ptCount val="1"/>
                <c:pt idx="0">
                  <c:v>No police stops</c:v>
                </c:pt>
              </c:strCache>
            </c:strRef>
          </c:tx>
          <c:spPr>
            <a:solidFill>
              <a:srgbClr val="4E7C8A"/>
            </a:solidFill>
          </c:spPr>
          <c:cat>
            <c:strRef>
              <c:f>Sheet1!$A$2:$A$5</c:f>
              <c:strCache>
                <c:ptCount val="4"/>
                <c:pt idx="0">
                  <c:v>Malaba (A1)</c:v>
                </c:pt>
                <c:pt idx="1">
                  <c:v>Elegu (A6)</c:v>
                </c:pt>
                <c:pt idx="2">
                  <c:v>Katuna (A2)</c:v>
                </c:pt>
                <c:pt idx="3">
                  <c:v>Hoima (A9)</c:v>
                </c:pt>
              </c:strCache>
            </c:strRef>
          </c:cat>
          <c:val>
            <c:numRef>
              <c:f>Sheet1!$C$2:$C$5</c:f>
              <c:numCache>
                <c:formatCode>General</c:formatCode>
                <c:ptCount val="4"/>
                <c:pt idx="0">
                  <c:v>10.0</c:v>
                </c:pt>
                <c:pt idx="1">
                  <c:v>15.0</c:v>
                </c:pt>
                <c:pt idx="2">
                  <c:v>9.0</c:v>
                </c:pt>
                <c:pt idx="3">
                  <c:v>4.0</c:v>
                </c:pt>
              </c:numCache>
            </c:numRef>
          </c:val>
        </c:ser>
        <c:ser>
          <c:idx val="2"/>
          <c:order val="2"/>
          <c:tx>
            <c:strRef>
              <c:f>Sheet1!$D$1</c:f>
              <c:strCache>
                <c:ptCount val="1"/>
                <c:pt idx="0">
                  <c:v>Bypass 2 worst towns</c:v>
                </c:pt>
              </c:strCache>
            </c:strRef>
          </c:tx>
          <c:spPr>
            <a:solidFill>
              <a:srgbClr val="D9A441"/>
            </a:solidFill>
          </c:spPr>
          <c:cat>
            <c:strRef>
              <c:f>Sheet1!$A$2:$A$5</c:f>
              <c:strCache>
                <c:ptCount val="4"/>
                <c:pt idx="0">
                  <c:v>Malaba (A1)</c:v>
                </c:pt>
                <c:pt idx="1">
                  <c:v>Elegu (A6)</c:v>
                </c:pt>
                <c:pt idx="2">
                  <c:v>Katuna (A2)</c:v>
                </c:pt>
                <c:pt idx="3">
                  <c:v>Hoima (A9)</c:v>
                </c:pt>
              </c:strCache>
            </c:strRef>
          </c:cat>
          <c:val>
            <c:numRef>
              <c:f>Sheet1!$D$2:$D$5</c:f>
              <c:numCache>
                <c:formatCode>General</c:formatCode>
                <c:ptCount val="4"/>
                <c:pt idx="0">
                  <c:v>3.8</c:v>
                </c:pt>
                <c:pt idx="1">
                  <c:v>2.0</c:v>
                </c:pt>
                <c:pt idx="2">
                  <c:v>4.7</c:v>
                </c:pt>
                <c:pt idx="3">
                  <c:v>0.0</c:v>
                </c:pt>
              </c:numCache>
            </c:numRef>
          </c:val>
        </c:ser>
        <c:ser>
          <c:idx val="3"/>
          <c:order val="3"/>
          <c:tx>
            <c:strRef>
              <c:f>Sheet1!$E$1</c:f>
              <c:strCache>
                <c:ptCount val="1"/>
                <c:pt idx="0">
                  <c:v>Service roads, all settlements</c:v>
                </c:pt>
              </c:strCache>
            </c:strRef>
          </c:tx>
          <c:spPr>
            <a:solidFill>
              <a:srgbClr val="C4532D"/>
            </a:solidFill>
          </c:spPr>
          <c:cat>
            <c:strRef>
              <c:f>Sheet1!$A$2:$A$5</c:f>
              <c:strCache>
                <c:ptCount val="4"/>
                <c:pt idx="0">
                  <c:v>Malaba (A1)</c:v>
                </c:pt>
                <c:pt idx="1">
                  <c:v>Elegu (A6)</c:v>
                </c:pt>
                <c:pt idx="2">
                  <c:v>Katuna (A2)</c:v>
                </c:pt>
                <c:pt idx="3">
                  <c:v>Hoima (A9)</c:v>
                </c:pt>
              </c:strCache>
            </c:strRef>
          </c:cat>
          <c:val>
            <c:numRef>
              <c:f>Sheet1!$E$2:$E$5</c:f>
              <c:numCache>
                <c:formatCode>General</c:formatCode>
                <c:ptCount val="4"/>
                <c:pt idx="0">
                  <c:v>10.5</c:v>
                </c:pt>
                <c:pt idx="1">
                  <c:v>15.5</c:v>
                </c:pt>
                <c:pt idx="2">
                  <c:v>16.9</c:v>
                </c:pt>
                <c:pt idx="3">
                  <c:v>9.8</c:v>
                </c:pt>
              </c:numCache>
            </c:numRef>
          </c:val>
        </c:ser>
        <c:dLbls>
          <c:numFmt formatCode="0" sourceLinked="0"/>
          <c:txPr>
            <a:bodyPr/>
            <a:lstStyle/>
            <a:p>
              <a:pPr>
                <a:defRPr sz="1100">
                  <a:solidFill>
                    <a:srgbClr val="1E2528"/>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B8C7C4"/>
            </a:solidFill>
          </a:ln>
        </c:spPr>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E3E7E6"/>
              </a:solidFill>
            </a:ln>
          </c:spPr>
        </c:majorGridlines>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5B677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Share of people</c:v>
                </c:pt>
              </c:strCache>
            </c:strRef>
          </c:tx>
          <c:spPr>
            <a:solidFill>
              <a:srgbClr val="D9A441"/>
            </a:solidFill>
          </c:spPr>
          <c:cat>
            <c:strRef>
              <c:f>Sheet1!$A$2:$A$5</c:f>
              <c:strCache>
                <c:ptCount val="4"/>
                <c:pt idx="0">
                  <c:v>Malaba (A1)</c:v>
                </c:pt>
                <c:pt idx="1">
                  <c:v>Elegu (A6)</c:v>
                </c:pt>
                <c:pt idx="2">
                  <c:v>Katuna (A2)</c:v>
                </c:pt>
                <c:pt idx="3">
                  <c:v>Hoima (A9)</c:v>
                </c:pt>
              </c:strCache>
            </c:strRef>
          </c:cat>
          <c:val>
            <c:numRef>
              <c:f>Sheet1!$B$2:$B$5</c:f>
              <c:numCache>
                <c:formatCode>General</c:formatCode>
                <c:ptCount val="4"/>
                <c:pt idx="0">
                  <c:v>0.49</c:v>
                </c:pt>
                <c:pt idx="1">
                  <c:v>0.57</c:v>
                </c:pt>
                <c:pt idx="2">
                  <c:v>0.51</c:v>
                </c:pt>
                <c:pt idx="3">
                  <c:v>0.66</c:v>
                </c:pt>
              </c:numCache>
            </c:numRef>
          </c:val>
        </c:ser>
        <c:ser>
          <c:idx val="1"/>
          <c:order val="1"/>
          <c:tx>
            <c:strRef>
              <c:f>Sheet1!$C$1</c:f>
              <c:strCache>
                <c:ptCount val="1"/>
                <c:pt idx="0">
                  <c:v>Share of exposure</c:v>
                </c:pt>
              </c:strCache>
            </c:strRef>
          </c:tx>
          <c:spPr>
            <a:solidFill>
              <a:srgbClr val="C4532D"/>
            </a:solidFill>
          </c:spPr>
          <c:cat>
            <c:strRef>
              <c:f>Sheet1!$A$2:$A$5</c:f>
              <c:strCache>
                <c:ptCount val="4"/>
                <c:pt idx="0">
                  <c:v>Malaba (A1)</c:v>
                </c:pt>
                <c:pt idx="1">
                  <c:v>Elegu (A6)</c:v>
                </c:pt>
                <c:pt idx="2">
                  <c:v>Katuna (A2)</c:v>
                </c:pt>
                <c:pt idx="3">
                  <c:v>Hoima (A9)</c:v>
                </c:pt>
              </c:strCache>
            </c:strRef>
          </c:cat>
          <c:val>
            <c:numRef>
              <c:f>Sheet1!$C$2:$C$5</c:f>
              <c:numCache>
                <c:formatCode>General</c:formatCode>
                <c:ptCount val="4"/>
                <c:pt idx="0">
                  <c:v>0.66</c:v>
                </c:pt>
                <c:pt idx="1">
                  <c:v>0.73</c:v>
                </c:pt>
                <c:pt idx="2">
                  <c:v>0.7</c:v>
                </c:pt>
                <c:pt idx="3">
                  <c:v>0.81</c:v>
                </c:pt>
              </c:numCache>
            </c:numRef>
          </c:val>
        </c:ser>
        <c:dLbls>
          <c:numFmt formatCode="0%" sourceLinked="0"/>
          <c:txPr>
            <a:bodyPr/>
            <a:lstStyle/>
            <a:p>
              <a:pPr>
                <a:defRPr sz="1200">
                  <a:solidFill>
                    <a:srgbClr val="1E2528"/>
                  </a:solidFill>
                </a:defRPr>
              </a:pPr>
            </a:p>
          </c:txPr>
          <c:dLblPos val="outEnd"/>
          <c:showLegendKey val="0"/>
          <c:showVal val="1"/>
          <c:showCatName val="0"/>
          <c:showSerName val="0"/>
          <c:showPercent val="0"/>
          <c:showBubbleSize val="0"/>
          <c:showLeaderLines val="1"/>
        </c:dLbls>
        <c:gapWidth val="55"/>
        <c:overlap val="-5"/>
        <c:axId val="-2068027336"/>
        <c:axId val="-2113994440"/>
      </c:barChart>
      <c:catAx>
        <c:axId val="-2068027336"/>
        <c:scaling>
          <c:orientation val="maxMin"/>
        </c:scaling>
        <c:delete val="0"/>
        <c:axPos val="l"/>
        <c:majorTickMark val="out"/>
        <c:minorTickMark val="none"/>
        <c:tickLblPos val="nextTo"/>
        <c:spPr>
          <a:ln>
            <a:solidFill>
              <a:srgbClr val="B8C7C4"/>
            </a:solidFill>
          </a:ln>
        </c:spPr>
        <c:txPr>
          <a:bodyPr/>
          <a:lstStyle/>
          <a:p>
            <a:pPr>
              <a:defRPr sz="1200"/>
            </a:pPr>
          </a:p>
        </c:txPr>
        <c:crossAx val="-2113994440"/>
        <c:crosses val="autoZero"/>
        <c:auto val="1"/>
        <c:lblAlgn val="ctr"/>
        <c:lblOffset val="100"/>
        <c:noMultiLvlLbl val="0"/>
      </c:catAx>
      <c:valAx>
        <c:axId val="-2113994440"/>
        <c:scaling>
          <c:max val="1.0"/>
        </c:scaling>
        <c:delete val="0"/>
        <c:axPos val="b"/>
        <c:majorGridlines>
          <c:spPr>
            <a:ln>
              <a:solidFill>
                <a:srgbClr val="E3E7E6"/>
              </a:solidFill>
            </a:ln>
          </c:spPr>
        </c:majorGridlines>
        <c:numFmt formatCode="0%" sourceLinked="0"/>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5B677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study looks at the four main roads out of Kampala. They were built to carry freight to the borders, but along much of their length they now also serve as the main street of villages and towns.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the four corridors cover about 1,270 km. Three reach a border; the Hoima road serves the oil region. Almost all of Uganda's imports and exports, and transit freight to South Sudan, Rwanda and DR Congo, use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Shares come from clustering 500 m pieces of road into three types. Most of each corridor is now roadside settlement; towns are 8–22% of length. Building counts are Google Open Buildings v3.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is deliberate: without usable traffic data, the study measures causes rather than observing speeds. This matches the approach of the companion accessibility study.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piece starts at an open-road speed, reduced by roadside activity, joining roads, a town limit, curves, and for trucks, hills. Fixed delays are added for signals, crossings, assumed humps in towns, police posts and weighbridges. All assumptions and their ranges are at the top of 10_travel_time.py. Congestion is not modelled: results describe light traffic.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Totals for a truck (model vs open-road-only): Malaba 304 vs 185 min, Elegu 476 vs 369, Katuna 527 vs 365, Hoima 226 vs 167. Monte Carlo ranges: roadside activity for trucks spans roughly 10–74 min; police posts 1–71 min; humps 1–45 min. Report rankings with their Monte Carlo shares, not as single numbers.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figures/a2_corridor_race.gif, from scripts/13_animations.py.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come from outputs/hotspots_mapped.csv. Close-ups of each hotspot are in figures/m03_hotspots.png and figures/hotspots/, and one atlas sheet per corridor in figures/m05_atlas_*.png.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Hectares within 300 m, 2000 to 2020: Elegu 855 to 1,437; Hoima 477 to 748; Katuna 1,188 to 1,704; Malaba 1,078 to 1,370. GHSL's projection gives only +5–9% for 2020–2026, far slower than the observed trend, so it probably understates recent building.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scripts/23_rail.py. Alignments minimise length x grade above 1.5% x built-up share inside 25 km of each road; screening only. Capital cost from the eastern SGR contract (EUR 2.7 bn for 273 km). 30% of each road's truck freight moved (15-50%). Kenya's Naivasha-Malaba SGR link is not built, which the through-traffic case needs.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implications from a light-traffic model, not project appraisals. The weighbridge saving assumes about ten minutes per stop, which is itself an assumption with a wide range.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gif"/><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52A"/>
        </a:solidFill>
        <a:effectLst/>
      </p:bgPr>
    </p:bg>
    <p:spTree>
      <p:nvGrpSpPr>
        <p:cNvPr id="1" name=""/>
        <p:cNvGrpSpPr/>
        <p:nvPr/>
      </p:nvGrpSpPr>
      <p:grpSpPr/>
      <p:pic>
        <p:nvPicPr>
          <p:cNvPr id="2" name="Picture 1" descr="m01_title.png"/>
          <p:cNvPicPr>
            <a:picLocks noChangeAspect="1"/>
          </p:cNvPicPr>
          <p:nvPr/>
        </p:nvPicPr>
        <p:blipFill>
          <a:blip r:embed="rId2"/>
          <a:stretch>
            <a:fillRect/>
          </a:stretch>
        </p:blipFill>
        <p:spPr>
          <a:xfrm>
            <a:off x="5897880" y="411480"/>
            <a:ext cx="6161827" cy="6035040"/>
          </a:xfrm>
          <a:prstGeom prst="rect">
            <a:avLst/>
          </a:prstGeom>
        </p:spPr>
      </p:pic>
      <p:sp>
        <p:nvSpPr>
          <p:cNvPr id="3" name="TextBox 2"/>
          <p:cNvSpPr txBox="1"/>
          <p:nvPr/>
        </p:nvSpPr>
        <p:spPr>
          <a:xfrm>
            <a:off x="640080" y="1554480"/>
            <a:ext cx="4937760" cy="365760"/>
          </a:xfrm>
          <a:prstGeom prst="rect">
            <a:avLst/>
          </a:prstGeom>
          <a:noFill/>
        </p:spPr>
        <p:txBody>
          <a:bodyPr wrap="square" lIns="0" rIns="0" tIns="0" bIns="0" anchor="t">
            <a:spAutoFit/>
          </a:bodyPr>
          <a:lstStyle/>
          <a:p>
            <a:pPr algn="l">
              <a:spcAft>
                <a:spcPts val="0"/>
              </a:spcAft>
            </a:pPr>
            <a:r>
              <a:rPr sz="1300" b="1" i="0">
                <a:solidFill>
                  <a:srgbClr val="D9A441"/>
                </a:solidFill>
                <a:latin typeface="Calibri"/>
              </a:rPr>
              <a:t>UGANDA TRADE CORRIDORS · OPEN-DATA STUDY</a:t>
            </a:r>
          </a:p>
        </p:txBody>
      </p:sp>
      <p:sp>
        <p:nvSpPr>
          <p:cNvPr id="4" name="TextBox 3"/>
          <p:cNvSpPr txBox="1"/>
          <p:nvPr/>
        </p:nvSpPr>
        <p:spPr>
          <a:xfrm>
            <a:off x="640080" y="2011680"/>
            <a:ext cx="4937760" cy="2194560"/>
          </a:xfrm>
          <a:prstGeom prst="rect">
            <a:avLst/>
          </a:prstGeom>
          <a:noFill/>
        </p:spPr>
        <p:txBody>
          <a:bodyPr wrap="square" lIns="0" rIns="0" tIns="0" bIns="0" anchor="t">
            <a:spAutoFit/>
          </a:bodyPr>
          <a:lstStyle/>
          <a:p>
            <a:pPr algn="l">
              <a:spcAft>
                <a:spcPts val="0"/>
              </a:spcAft>
            </a:pPr>
            <a:r>
              <a:rPr sz="4800" b="1" i="0">
                <a:solidFill>
                  <a:srgbClr val="FFFFFF"/>
                </a:solidFill>
                <a:latin typeface="Cambria"/>
              </a:rPr>
              <a:t>Highways that became high streets</a:t>
            </a:r>
          </a:p>
        </p:txBody>
      </p:sp>
      <p:sp>
        <p:nvSpPr>
          <p:cNvPr id="5" name="TextBox 4"/>
          <p:cNvSpPr txBox="1"/>
          <p:nvPr/>
        </p:nvSpPr>
        <p:spPr>
          <a:xfrm>
            <a:off x="640080" y="4297680"/>
            <a:ext cx="4937760" cy="1097280"/>
          </a:xfrm>
          <a:prstGeom prst="rect">
            <a:avLst/>
          </a:prstGeom>
          <a:noFill/>
        </p:spPr>
        <p:txBody>
          <a:bodyPr wrap="square" lIns="0" rIns="0" tIns="0" bIns="0" anchor="t">
            <a:spAutoFit/>
          </a:bodyPr>
          <a:lstStyle/>
          <a:p>
            <a:pPr algn="l">
              <a:spcAft>
                <a:spcPts val="0"/>
              </a:spcAft>
            </a:pPr>
            <a:r>
              <a:rPr sz="1800" b="0" i="0">
                <a:solidFill>
                  <a:srgbClr val="B8C7C4"/>
                </a:solidFill>
                <a:latin typeface="Calibri"/>
              </a:rPr>
              <a:t>What slows Uganda's main trade corridors, what each cause costs in travel time, and how fast the roadside is filling in</a:t>
            </a:r>
          </a:p>
        </p:txBody>
      </p:sp>
      <p:sp>
        <p:nvSpPr>
          <p:cNvPr id="6" name="TextBox 5"/>
          <p:cNvSpPr txBox="1"/>
          <p:nvPr/>
        </p:nvSpPr>
        <p:spPr>
          <a:xfrm>
            <a:off x="640080" y="5760720"/>
            <a:ext cx="6766560" cy="36576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Charles Gava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Four roads carry Uganda's trade</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A landlocked economy depends on a few paved routes to the sea and to its neighbours</a:t>
            </a:r>
          </a:p>
        </p:txBody>
      </p:sp>
      <p:sp>
        <p:nvSpPr>
          <p:cNvPr id="4" name="Rounded Rectangle 3"/>
          <p:cNvSpPr/>
          <p:nvPr/>
        </p:nvSpPr>
        <p:spPr>
          <a:xfrm>
            <a:off x="548640" y="1828800"/>
            <a:ext cx="6583680" cy="960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011680"/>
            <a:ext cx="594360" cy="59436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A1</a:t>
            </a:r>
          </a:p>
        </p:txBody>
      </p:sp>
      <p:sp>
        <p:nvSpPr>
          <p:cNvPr id="6" name="TextBox 5"/>
          <p:cNvSpPr txBox="1"/>
          <p:nvPr/>
        </p:nvSpPr>
        <p:spPr>
          <a:xfrm>
            <a:off x="1600200" y="1975104"/>
            <a:ext cx="4206240" cy="365760"/>
          </a:xfrm>
          <a:prstGeom prst="rect">
            <a:avLst/>
          </a:prstGeom>
          <a:noFill/>
        </p:spPr>
        <p:txBody>
          <a:bodyPr wrap="square" lIns="0" rIns="0" tIns="0" bIns="0" anchor="t">
            <a:spAutoFit/>
          </a:bodyPr>
          <a:lstStyle/>
          <a:p>
            <a:pPr algn="l">
              <a:spcAft>
                <a:spcPts val="0"/>
              </a:spcAft>
            </a:pPr>
            <a:r>
              <a:rPr sz="1700" b="1" i="0">
                <a:solidFill>
                  <a:srgbClr val="1E2528"/>
                </a:solidFill>
                <a:latin typeface="Calibri"/>
              </a:rPr>
              <a:t>Kampala → Jinja → Malaba</a:t>
            </a:r>
          </a:p>
        </p:txBody>
      </p:sp>
      <p:sp>
        <p:nvSpPr>
          <p:cNvPr id="7" name="TextBox 6"/>
          <p:cNvSpPr txBox="1"/>
          <p:nvPr/>
        </p:nvSpPr>
        <p:spPr>
          <a:xfrm>
            <a:off x="1600200" y="2331720"/>
            <a:ext cx="5394960" cy="36576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Kenya border; Northern Corridor to Mombasa</a:t>
            </a:r>
          </a:p>
        </p:txBody>
      </p:sp>
      <p:sp>
        <p:nvSpPr>
          <p:cNvPr id="8" name="TextBox 7"/>
          <p:cNvSpPr txBox="1"/>
          <p:nvPr/>
        </p:nvSpPr>
        <p:spPr>
          <a:xfrm>
            <a:off x="5760720" y="1975104"/>
            <a:ext cx="1188720" cy="365760"/>
          </a:xfrm>
          <a:prstGeom prst="rect">
            <a:avLst/>
          </a:prstGeom>
          <a:noFill/>
        </p:spPr>
        <p:txBody>
          <a:bodyPr wrap="square" lIns="0" rIns="0" tIns="0" bIns="0" anchor="t">
            <a:spAutoFit/>
          </a:bodyPr>
          <a:lstStyle/>
          <a:p>
            <a:pPr algn="r">
              <a:spcAft>
                <a:spcPts val="0"/>
              </a:spcAft>
            </a:pPr>
            <a:r>
              <a:rPr sz="1700" b="1" i="0">
                <a:solidFill>
                  <a:srgbClr val="1E2528"/>
                </a:solidFill>
                <a:latin typeface="Calibri"/>
              </a:rPr>
              <a:t>216 km</a:t>
            </a:r>
          </a:p>
        </p:txBody>
      </p:sp>
      <p:sp>
        <p:nvSpPr>
          <p:cNvPr id="9" name="Rounded Rectangle 8"/>
          <p:cNvSpPr/>
          <p:nvPr/>
        </p:nvSpPr>
        <p:spPr>
          <a:xfrm>
            <a:off x="548640" y="2926080"/>
            <a:ext cx="6583680" cy="960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3108960"/>
            <a:ext cx="594360" cy="594360"/>
          </a:xfrm>
          <a:prstGeom prst="ellipse">
            <a:avLst/>
          </a:prstGeom>
          <a:solidFill>
            <a:srgbClr val="E864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A6</a:t>
            </a:r>
          </a:p>
        </p:txBody>
      </p:sp>
      <p:sp>
        <p:nvSpPr>
          <p:cNvPr id="11" name="TextBox 10"/>
          <p:cNvSpPr txBox="1"/>
          <p:nvPr/>
        </p:nvSpPr>
        <p:spPr>
          <a:xfrm>
            <a:off x="1600200" y="3072384"/>
            <a:ext cx="4206240" cy="365760"/>
          </a:xfrm>
          <a:prstGeom prst="rect">
            <a:avLst/>
          </a:prstGeom>
          <a:noFill/>
        </p:spPr>
        <p:txBody>
          <a:bodyPr wrap="square" lIns="0" rIns="0" tIns="0" bIns="0" anchor="t">
            <a:spAutoFit/>
          </a:bodyPr>
          <a:lstStyle/>
          <a:p>
            <a:pPr algn="l">
              <a:spcAft>
                <a:spcPts val="0"/>
              </a:spcAft>
            </a:pPr>
            <a:r>
              <a:rPr sz="1700" b="1" i="0">
                <a:solidFill>
                  <a:srgbClr val="1E2528"/>
                </a:solidFill>
                <a:latin typeface="Calibri"/>
              </a:rPr>
              <a:t>Kampala → Gulu → Elegu</a:t>
            </a:r>
          </a:p>
        </p:txBody>
      </p:sp>
      <p:sp>
        <p:nvSpPr>
          <p:cNvPr id="12" name="TextBox 11"/>
          <p:cNvSpPr txBox="1"/>
          <p:nvPr/>
        </p:nvSpPr>
        <p:spPr>
          <a:xfrm>
            <a:off x="1600200" y="3429000"/>
            <a:ext cx="5394960" cy="36576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South Sudan border; Juba and the Gulu logistics hub</a:t>
            </a:r>
          </a:p>
        </p:txBody>
      </p:sp>
      <p:sp>
        <p:nvSpPr>
          <p:cNvPr id="13" name="TextBox 12"/>
          <p:cNvSpPr txBox="1"/>
          <p:nvPr/>
        </p:nvSpPr>
        <p:spPr>
          <a:xfrm>
            <a:off x="5760720" y="3072384"/>
            <a:ext cx="1188720" cy="365760"/>
          </a:xfrm>
          <a:prstGeom prst="rect">
            <a:avLst/>
          </a:prstGeom>
          <a:noFill/>
        </p:spPr>
        <p:txBody>
          <a:bodyPr wrap="square" lIns="0" rIns="0" tIns="0" bIns="0" anchor="t">
            <a:spAutoFit/>
          </a:bodyPr>
          <a:lstStyle/>
          <a:p>
            <a:pPr algn="r">
              <a:spcAft>
                <a:spcPts val="0"/>
              </a:spcAft>
            </a:pPr>
            <a:r>
              <a:rPr sz="1700" b="1" i="0">
                <a:solidFill>
                  <a:srgbClr val="1E2528"/>
                </a:solidFill>
                <a:latin typeface="Calibri"/>
              </a:rPr>
              <a:t>431 km</a:t>
            </a:r>
          </a:p>
        </p:txBody>
      </p:sp>
      <p:sp>
        <p:nvSpPr>
          <p:cNvPr id="14" name="Rounded Rectangle 13"/>
          <p:cNvSpPr/>
          <p:nvPr/>
        </p:nvSpPr>
        <p:spPr>
          <a:xfrm>
            <a:off x="548640" y="4023360"/>
            <a:ext cx="6583680" cy="960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4206240"/>
            <a:ext cx="594360" cy="594360"/>
          </a:xfrm>
          <a:prstGeom prst="ellipse">
            <a:avLst/>
          </a:prstGeom>
          <a:solidFill>
            <a:srgbClr val="1AA8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A2</a:t>
            </a:r>
          </a:p>
        </p:txBody>
      </p:sp>
      <p:sp>
        <p:nvSpPr>
          <p:cNvPr id="16" name="TextBox 15"/>
          <p:cNvSpPr txBox="1"/>
          <p:nvPr/>
        </p:nvSpPr>
        <p:spPr>
          <a:xfrm>
            <a:off x="1600200" y="4169664"/>
            <a:ext cx="4206240" cy="365760"/>
          </a:xfrm>
          <a:prstGeom prst="rect">
            <a:avLst/>
          </a:prstGeom>
          <a:noFill/>
        </p:spPr>
        <p:txBody>
          <a:bodyPr wrap="square" lIns="0" rIns="0" tIns="0" bIns="0" anchor="t">
            <a:spAutoFit/>
          </a:bodyPr>
          <a:lstStyle/>
          <a:p>
            <a:pPr algn="l">
              <a:spcAft>
                <a:spcPts val="0"/>
              </a:spcAft>
            </a:pPr>
            <a:r>
              <a:rPr sz="1700" b="1" i="0">
                <a:solidFill>
                  <a:srgbClr val="1E2528"/>
                </a:solidFill>
                <a:latin typeface="Calibri"/>
              </a:rPr>
              <a:t>Kampala → Masaka → Mbarara → Katuna</a:t>
            </a:r>
          </a:p>
        </p:txBody>
      </p:sp>
      <p:sp>
        <p:nvSpPr>
          <p:cNvPr id="17" name="TextBox 16"/>
          <p:cNvSpPr txBox="1"/>
          <p:nvPr/>
        </p:nvSpPr>
        <p:spPr>
          <a:xfrm>
            <a:off x="1600200" y="4526280"/>
            <a:ext cx="5394960" cy="36576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Rwanda border; Kigali and the Central Corridor</a:t>
            </a:r>
          </a:p>
        </p:txBody>
      </p:sp>
      <p:sp>
        <p:nvSpPr>
          <p:cNvPr id="18" name="TextBox 17"/>
          <p:cNvSpPr txBox="1"/>
          <p:nvPr/>
        </p:nvSpPr>
        <p:spPr>
          <a:xfrm>
            <a:off x="5760720" y="4169664"/>
            <a:ext cx="1188720" cy="365760"/>
          </a:xfrm>
          <a:prstGeom prst="rect">
            <a:avLst/>
          </a:prstGeom>
          <a:noFill/>
        </p:spPr>
        <p:txBody>
          <a:bodyPr wrap="square" lIns="0" rIns="0" tIns="0" bIns="0" anchor="t">
            <a:spAutoFit/>
          </a:bodyPr>
          <a:lstStyle/>
          <a:p>
            <a:pPr algn="r">
              <a:spcAft>
                <a:spcPts val="0"/>
              </a:spcAft>
            </a:pPr>
            <a:r>
              <a:rPr sz="1700" b="1" i="0">
                <a:solidFill>
                  <a:srgbClr val="1E2528"/>
                </a:solidFill>
                <a:latin typeface="Calibri"/>
              </a:rPr>
              <a:t>426 km</a:t>
            </a:r>
          </a:p>
        </p:txBody>
      </p:sp>
      <p:sp>
        <p:nvSpPr>
          <p:cNvPr id="19" name="Rounded Rectangle 18"/>
          <p:cNvSpPr/>
          <p:nvPr/>
        </p:nvSpPr>
        <p:spPr>
          <a:xfrm>
            <a:off x="548640" y="5120640"/>
            <a:ext cx="6583680" cy="960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77240" y="5303520"/>
            <a:ext cx="594360" cy="594360"/>
          </a:xfrm>
          <a:prstGeom prst="ellipse">
            <a:avLst/>
          </a:prstGeom>
          <a:solidFill>
            <a:srgbClr val="E89C1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A9</a:t>
            </a:r>
          </a:p>
        </p:txBody>
      </p:sp>
      <p:sp>
        <p:nvSpPr>
          <p:cNvPr id="21" name="TextBox 20"/>
          <p:cNvSpPr txBox="1"/>
          <p:nvPr/>
        </p:nvSpPr>
        <p:spPr>
          <a:xfrm>
            <a:off x="1600200" y="5266944"/>
            <a:ext cx="4206240" cy="365760"/>
          </a:xfrm>
          <a:prstGeom prst="rect">
            <a:avLst/>
          </a:prstGeom>
          <a:noFill/>
        </p:spPr>
        <p:txBody>
          <a:bodyPr wrap="square" lIns="0" rIns="0" tIns="0" bIns="0" anchor="t">
            <a:spAutoFit/>
          </a:bodyPr>
          <a:lstStyle/>
          <a:p>
            <a:pPr algn="l">
              <a:spcAft>
                <a:spcPts val="0"/>
              </a:spcAft>
            </a:pPr>
            <a:r>
              <a:rPr sz="1700" b="1" i="0">
                <a:solidFill>
                  <a:srgbClr val="1E2528"/>
                </a:solidFill>
                <a:latin typeface="Calibri"/>
              </a:rPr>
              <a:t>Kampala → Hoima</a:t>
            </a:r>
          </a:p>
        </p:txBody>
      </p:sp>
      <p:sp>
        <p:nvSpPr>
          <p:cNvPr id="22" name="TextBox 21"/>
          <p:cNvSpPr txBox="1"/>
          <p:nvPr/>
        </p:nvSpPr>
        <p:spPr>
          <a:xfrm>
            <a:off x="1600200" y="5623560"/>
            <a:ext cx="5394960" cy="36576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Albertine oil region</a:t>
            </a:r>
          </a:p>
        </p:txBody>
      </p:sp>
      <p:sp>
        <p:nvSpPr>
          <p:cNvPr id="23" name="TextBox 22"/>
          <p:cNvSpPr txBox="1"/>
          <p:nvPr/>
        </p:nvSpPr>
        <p:spPr>
          <a:xfrm>
            <a:off x="5760720" y="5266944"/>
            <a:ext cx="1188720" cy="365760"/>
          </a:xfrm>
          <a:prstGeom prst="rect">
            <a:avLst/>
          </a:prstGeom>
          <a:noFill/>
        </p:spPr>
        <p:txBody>
          <a:bodyPr wrap="square" lIns="0" rIns="0" tIns="0" bIns="0" anchor="t">
            <a:spAutoFit/>
          </a:bodyPr>
          <a:lstStyle/>
          <a:p>
            <a:pPr algn="r">
              <a:spcAft>
                <a:spcPts val="0"/>
              </a:spcAft>
            </a:pPr>
            <a:r>
              <a:rPr sz="1700" b="1" i="0">
                <a:solidFill>
                  <a:srgbClr val="1E2528"/>
                </a:solidFill>
                <a:latin typeface="Calibri"/>
              </a:rPr>
              <a:t>194 km</a:t>
            </a:r>
          </a:p>
        </p:txBody>
      </p:sp>
      <p:pic>
        <p:nvPicPr>
          <p:cNvPr id="24" name="Picture 23" descr="m01.png"/>
          <p:cNvPicPr>
            <a:picLocks noChangeAspect="1"/>
          </p:cNvPicPr>
          <p:nvPr/>
        </p:nvPicPr>
        <p:blipFill>
          <a:blip r:embed="rId2"/>
          <a:stretch>
            <a:fillRect/>
          </a:stretch>
        </p:blipFill>
        <p:spPr>
          <a:xfrm>
            <a:off x="7589520" y="1645920"/>
            <a:ext cx="4105855" cy="4663440"/>
          </a:xfrm>
          <a:prstGeom prst="rect">
            <a:avLst/>
          </a:prstGeom>
        </p:spPr>
      </p:pic>
      <p:sp>
        <p:nvSpPr>
          <p:cNvPr id="25" name="TextBox 24"/>
          <p:cNvSpPr txBox="1"/>
          <p:nvPr/>
        </p:nvSpPr>
        <p:spPr>
          <a:xfrm>
            <a:off x="548640" y="6400800"/>
            <a:ext cx="11064240" cy="274320"/>
          </a:xfrm>
          <a:prstGeom prst="rect">
            <a:avLst/>
          </a:prstGeom>
          <a:noFill/>
        </p:spPr>
        <p:txBody>
          <a:bodyPr wrap="square" lIns="0" rIns="0" tIns="0" bIns="0" anchor="t">
            <a:spAutoFit/>
          </a:bodyPr>
          <a:lstStyle/>
          <a:p>
            <a:pPr algn="l">
              <a:spcAft>
                <a:spcPts val="0"/>
              </a:spcAft>
            </a:pPr>
            <a:r>
              <a:rPr sz="1000" b="0" i="0">
                <a:solidFill>
                  <a:srgbClr val="5B6770"/>
                </a:solidFill>
                <a:latin typeface="Calibri"/>
              </a:rPr>
              <a:t>Map: corridor centrelines built from OpenStreetMap routes; squares are weighbridges, bars are border crossings.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The same roads are now village high streets</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Markets, shops, schools, taxi stops and junctions have gathered along the tarmac</a:t>
            </a:r>
          </a:p>
        </p:txBody>
      </p:sp>
      <p:sp>
        <p:nvSpPr>
          <p:cNvPr id="4" name="Rounded Rectangle 3"/>
          <p:cNvSpPr/>
          <p:nvPr/>
        </p:nvSpPr>
        <p:spPr>
          <a:xfrm>
            <a:off x="548640" y="1920240"/>
            <a:ext cx="3520440" cy="2103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48840"/>
            <a:ext cx="2926080" cy="914400"/>
          </a:xfrm>
          <a:prstGeom prst="rect">
            <a:avLst/>
          </a:prstGeom>
          <a:noFill/>
        </p:spPr>
        <p:txBody>
          <a:bodyPr wrap="square" lIns="0" rIns="0" tIns="0" bIns="0" anchor="t">
            <a:spAutoFit/>
          </a:bodyPr>
          <a:lstStyle/>
          <a:p>
            <a:pPr algn="l">
              <a:spcAft>
                <a:spcPts val="0"/>
              </a:spcAft>
            </a:pPr>
            <a:r>
              <a:rPr sz="5400" b="1" i="0">
                <a:solidFill>
                  <a:srgbClr val="D9A441"/>
                </a:solidFill>
                <a:latin typeface="Cambria"/>
              </a:rPr>
              <a:t>58–76%</a:t>
            </a:r>
          </a:p>
        </p:txBody>
      </p:sp>
      <p:sp>
        <p:nvSpPr>
          <p:cNvPr id="6" name="TextBox 5"/>
          <p:cNvSpPr txBox="1"/>
          <p:nvPr/>
        </p:nvSpPr>
        <p:spPr>
          <a:xfrm>
            <a:off x="868680" y="3154680"/>
            <a:ext cx="3017520" cy="731520"/>
          </a:xfrm>
          <a:prstGeom prst="rect">
            <a:avLst/>
          </a:prstGeom>
          <a:noFill/>
        </p:spPr>
        <p:txBody>
          <a:bodyPr wrap="square" lIns="0" rIns="0" tIns="0" bIns="0" anchor="t">
            <a:spAutoFit/>
          </a:bodyPr>
          <a:lstStyle/>
          <a:p>
            <a:pPr algn="l">
              <a:spcAft>
                <a:spcPts val="0"/>
              </a:spcAft>
            </a:pPr>
            <a:r>
              <a:rPr sz="1600" b="0" i="0">
                <a:solidFill>
                  <a:srgbClr val="1E2528"/>
                </a:solidFill>
                <a:latin typeface="Calibri"/>
              </a:rPr>
              <a:t>of each corridor's length is
roadside settlement</a:t>
            </a:r>
          </a:p>
        </p:txBody>
      </p:sp>
      <p:sp>
        <p:nvSpPr>
          <p:cNvPr id="7" name="Rounded Rectangle 6"/>
          <p:cNvSpPr/>
          <p:nvPr/>
        </p:nvSpPr>
        <p:spPr>
          <a:xfrm>
            <a:off x="4315968" y="1920240"/>
            <a:ext cx="3520440" cy="2103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36007" y="2148840"/>
            <a:ext cx="2926080" cy="914400"/>
          </a:xfrm>
          <a:prstGeom prst="rect">
            <a:avLst/>
          </a:prstGeom>
          <a:noFill/>
        </p:spPr>
        <p:txBody>
          <a:bodyPr wrap="square" lIns="0" rIns="0" tIns="0" bIns="0" anchor="t">
            <a:spAutoFit/>
          </a:bodyPr>
          <a:lstStyle/>
          <a:p>
            <a:pPr algn="l">
              <a:spcAft>
                <a:spcPts val="0"/>
              </a:spcAft>
            </a:pPr>
            <a:r>
              <a:rPr sz="5400" b="1" i="0">
                <a:solidFill>
                  <a:srgbClr val="3A7D5C"/>
                </a:solidFill>
                <a:latin typeface="Cambria"/>
              </a:rPr>
              <a:t>17–34%</a:t>
            </a:r>
          </a:p>
        </p:txBody>
      </p:sp>
      <p:sp>
        <p:nvSpPr>
          <p:cNvPr id="9" name="TextBox 8"/>
          <p:cNvSpPr txBox="1"/>
          <p:nvPr/>
        </p:nvSpPr>
        <p:spPr>
          <a:xfrm>
            <a:off x="4636007" y="3154680"/>
            <a:ext cx="3017520" cy="731520"/>
          </a:xfrm>
          <a:prstGeom prst="rect">
            <a:avLst/>
          </a:prstGeom>
          <a:noFill/>
        </p:spPr>
        <p:txBody>
          <a:bodyPr wrap="square" lIns="0" rIns="0" tIns="0" bIns="0" anchor="t">
            <a:spAutoFit/>
          </a:bodyPr>
          <a:lstStyle/>
          <a:p>
            <a:pPr algn="l">
              <a:spcAft>
                <a:spcPts val="0"/>
              </a:spcAft>
            </a:pPr>
            <a:r>
              <a:rPr sz="1600" b="0" i="0">
                <a:solidFill>
                  <a:srgbClr val="1E2528"/>
                </a:solidFill>
                <a:latin typeface="Calibri"/>
              </a:rPr>
              <a:t>is still open road</a:t>
            </a:r>
          </a:p>
        </p:txBody>
      </p:sp>
      <p:sp>
        <p:nvSpPr>
          <p:cNvPr id="10" name="Rounded Rectangle 9"/>
          <p:cNvSpPr/>
          <p:nvPr/>
        </p:nvSpPr>
        <p:spPr>
          <a:xfrm>
            <a:off x="8083296" y="1920240"/>
            <a:ext cx="3520440" cy="2103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03336" y="2148840"/>
            <a:ext cx="2926080" cy="914400"/>
          </a:xfrm>
          <a:prstGeom prst="rect">
            <a:avLst/>
          </a:prstGeom>
          <a:noFill/>
        </p:spPr>
        <p:txBody>
          <a:bodyPr wrap="square" lIns="0" rIns="0" tIns="0" bIns="0" anchor="t">
            <a:spAutoFit/>
          </a:bodyPr>
          <a:lstStyle/>
          <a:p>
            <a:pPr algn="l">
              <a:spcAft>
                <a:spcPts val="0"/>
              </a:spcAft>
            </a:pPr>
            <a:r>
              <a:rPr sz="5400" b="1" i="0">
                <a:solidFill>
                  <a:srgbClr val="C4532D"/>
                </a:solidFill>
                <a:latin typeface="Cambria"/>
              </a:rPr>
              <a:t>1.25 M</a:t>
            </a:r>
          </a:p>
        </p:txBody>
      </p:sp>
      <p:sp>
        <p:nvSpPr>
          <p:cNvPr id="12" name="TextBox 11"/>
          <p:cNvSpPr txBox="1"/>
          <p:nvPr/>
        </p:nvSpPr>
        <p:spPr>
          <a:xfrm>
            <a:off x="8403336" y="3154680"/>
            <a:ext cx="3017520" cy="731520"/>
          </a:xfrm>
          <a:prstGeom prst="rect">
            <a:avLst/>
          </a:prstGeom>
          <a:noFill/>
        </p:spPr>
        <p:txBody>
          <a:bodyPr wrap="square" lIns="0" rIns="0" tIns="0" bIns="0" anchor="t">
            <a:spAutoFit/>
          </a:bodyPr>
          <a:lstStyle/>
          <a:p>
            <a:pPr algn="l">
              <a:spcAft>
                <a:spcPts val="0"/>
              </a:spcAft>
            </a:pPr>
            <a:r>
              <a:rPr sz="1600" b="0" i="0">
                <a:solidFill>
                  <a:srgbClr val="1E2528"/>
                </a:solidFill>
                <a:latin typeface="Calibri"/>
              </a:rPr>
              <a:t>building footprints within
1 km of the four roads</a:t>
            </a:r>
          </a:p>
        </p:txBody>
      </p:sp>
      <p:sp>
        <p:nvSpPr>
          <p:cNvPr id="13" name="TextBox 12"/>
          <p:cNvSpPr txBox="1"/>
          <p:nvPr/>
        </p:nvSpPr>
        <p:spPr>
          <a:xfrm>
            <a:off x="548640" y="4434840"/>
            <a:ext cx="11064240" cy="1645920"/>
          </a:xfrm>
          <a:prstGeom prst="rect">
            <a:avLst/>
          </a:prstGeom>
          <a:noFill/>
        </p:spPr>
        <p:txBody>
          <a:bodyPr wrap="square" lIns="0" rIns="0" tIns="0" bIns="0" anchor="t">
            <a:spAutoFit/>
          </a:bodyPr>
          <a:lstStyle/>
          <a:p>
            <a:pPr algn="l">
              <a:spcAft>
                <a:spcPts val="1000"/>
              </a:spcAft>
            </a:pPr>
            <a:r>
              <a:rPr sz="1800" b="1" i="0">
                <a:solidFill>
                  <a:srgbClr val="1E2528"/>
                </a:solidFill>
                <a:latin typeface="Calibri"/>
              </a:rPr>
              <a:t>Every village trading centre on a trunk road does two jobs. </a:t>
            </a:r>
            <a:r>
              <a:rPr sz="1800" b="0" i="0">
                <a:solidFill>
                  <a:srgbClr val="1E2528"/>
                </a:solidFill>
                <a:latin typeface="Calibri"/>
              </a:rPr>
              <a:t>Long-distance trucks need speed and reliability; residents need to cross, stop, trade and turn. Where the two meet, traffic slows, crashes rise and freight costs grow.</a:t>
            </a:r>
          </a:p>
          <a:p>
            <a:pPr algn="l">
              <a:spcAft>
                <a:spcPts val="1000"/>
              </a:spcAft>
            </a:pPr>
            <a:r>
              <a:rPr sz="1800" b="1" i="0">
                <a:solidFill>
                  <a:srgbClr val="C4532D"/>
                </a:solidFill>
                <a:latin typeface="Calibri"/>
              </a:rPr>
              <a:t>Nobody has measured, corridor-wide, how much time this costs, or how quickly it is spreading.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52A"/>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FFFFFF"/>
                </a:solidFill>
                <a:latin typeface="Cambria"/>
              </a:rPr>
              <a:t>Research problem</a:t>
            </a:r>
          </a:p>
        </p:txBody>
      </p:sp>
      <p:sp>
        <p:nvSpPr>
          <p:cNvPr id="3" name="TextBox 2"/>
          <p:cNvSpPr txBox="1"/>
          <p:nvPr/>
        </p:nvSpPr>
        <p:spPr>
          <a:xfrm>
            <a:off x="548640" y="1325880"/>
            <a:ext cx="5486400" cy="3291840"/>
          </a:xfrm>
          <a:prstGeom prst="rect">
            <a:avLst/>
          </a:prstGeom>
          <a:noFill/>
        </p:spPr>
        <p:txBody>
          <a:bodyPr wrap="square" lIns="0" rIns="0" tIns="0" bIns="0" anchor="t">
            <a:spAutoFit/>
          </a:bodyPr>
          <a:lstStyle/>
          <a:p>
            <a:pPr algn="l">
              <a:spcAft>
                <a:spcPts val="1400"/>
              </a:spcAft>
            </a:pPr>
            <a:r>
              <a:rPr sz="2200" b="1" i="0">
                <a:solidFill>
                  <a:srgbClr val="FFFFFF"/>
                </a:solidFill>
                <a:latin typeface="Calibri"/>
              </a:rPr>
              <a:t>Delay on Uganda's corridors is widely felt but poorly measured.</a:t>
            </a:r>
          </a:p>
          <a:p>
            <a:pPr algn="l">
              <a:spcAft>
                <a:spcPts val="1400"/>
              </a:spcAft>
            </a:pPr>
            <a:r>
              <a:rPr sz="1700" b="0" i="0">
                <a:solidFill>
                  <a:srgbClr val="B8C7C4"/>
                </a:solidFill>
                <a:latin typeface="Calibri"/>
              </a:rPr>
              <a:t>Commercial traffic feeds need permissions and carry caveats. Public GPS traces on these roads are few and mostly from 2007–2013. There are no corridor-wide surveys of what slows traffic.</a:t>
            </a:r>
          </a:p>
          <a:p>
            <a:pPr algn="l">
              <a:spcAft>
                <a:spcPts val="1400"/>
              </a:spcAft>
            </a:pPr>
            <a:r>
              <a:rPr sz="1700" b="0" i="0">
                <a:solidFill>
                  <a:srgbClr val="B8C7C4"/>
                </a:solidFill>
                <a:latin typeface="Calibri"/>
              </a:rPr>
              <a:t>So planners cannot say which causes cost the most time, where they concentrate, or whether they are getting worse.</a:t>
            </a:r>
          </a:p>
        </p:txBody>
      </p:sp>
      <p:sp>
        <p:nvSpPr>
          <p:cNvPr id="4" name="Rounded Rectangle 3"/>
          <p:cNvSpPr/>
          <p:nvPr/>
        </p:nvSpPr>
        <p:spPr>
          <a:xfrm>
            <a:off x="6492240" y="1463040"/>
            <a:ext cx="5120640" cy="1234440"/>
          </a:xfrm>
          <a:prstGeom prst="roundRect">
            <a:avLst>
              <a:gd name="adj" fmla="val 6000"/>
            </a:avLst>
          </a:prstGeom>
          <a:solidFill>
            <a:srgbClr val="223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766560" y="1783080"/>
            <a:ext cx="594360" cy="594360"/>
          </a:xfrm>
          <a:prstGeom prst="ellipse">
            <a:avLst/>
          </a:prstGeom>
          <a:solidFill>
            <a:srgbClr val="C45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635240" y="1645920"/>
            <a:ext cx="3749039" cy="868680"/>
          </a:xfrm>
          <a:prstGeom prst="rect">
            <a:avLst/>
          </a:prstGeom>
          <a:noFill/>
        </p:spPr>
        <p:txBody>
          <a:bodyPr wrap="square" lIns="0" rIns="0" tIns="0" bIns="0" anchor="ctr">
            <a:spAutoFit/>
          </a:bodyPr>
          <a:lstStyle/>
          <a:p>
            <a:pPr algn="l">
              <a:spcAft>
                <a:spcPts val="0"/>
              </a:spcAft>
            </a:pPr>
            <a:r>
              <a:rPr sz="1800" b="0" i="0">
                <a:solidFill>
                  <a:srgbClr val="FFFFFF"/>
                </a:solidFill>
                <a:latin typeface="Calibri"/>
              </a:rPr>
              <a:t>Where on each road is travel slowed, and by which causes?</a:t>
            </a:r>
          </a:p>
        </p:txBody>
      </p:sp>
      <p:sp>
        <p:nvSpPr>
          <p:cNvPr id="7" name="Rounded Rectangle 6"/>
          <p:cNvSpPr/>
          <p:nvPr/>
        </p:nvSpPr>
        <p:spPr>
          <a:xfrm>
            <a:off x="6492240" y="2926080"/>
            <a:ext cx="5120640" cy="1234440"/>
          </a:xfrm>
          <a:prstGeom prst="roundRect">
            <a:avLst>
              <a:gd name="adj" fmla="val 6000"/>
            </a:avLst>
          </a:prstGeom>
          <a:solidFill>
            <a:srgbClr val="223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766560" y="3246120"/>
            <a:ext cx="594360" cy="594360"/>
          </a:xfrm>
          <a:prstGeom prst="ellipse">
            <a:avLst/>
          </a:prstGeom>
          <a:solidFill>
            <a:srgbClr val="C45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9" name="TextBox 8"/>
          <p:cNvSpPr txBox="1"/>
          <p:nvPr/>
        </p:nvSpPr>
        <p:spPr>
          <a:xfrm>
            <a:off x="7635240" y="3108960"/>
            <a:ext cx="3749039" cy="868680"/>
          </a:xfrm>
          <a:prstGeom prst="rect">
            <a:avLst/>
          </a:prstGeom>
          <a:noFill/>
        </p:spPr>
        <p:txBody>
          <a:bodyPr wrap="square" lIns="0" rIns="0" tIns="0" bIns="0" anchor="ctr">
            <a:spAutoFit/>
          </a:bodyPr>
          <a:lstStyle/>
          <a:p>
            <a:pPr algn="l">
              <a:spcAft>
                <a:spcPts val="0"/>
              </a:spcAft>
            </a:pPr>
            <a:r>
              <a:rPr sz="1800" b="0" i="0">
                <a:solidFill>
                  <a:srgbClr val="FFFFFF"/>
                </a:solidFill>
                <a:latin typeface="Calibri"/>
              </a:rPr>
              <a:t>How much has the roadside been built up since 2000?</a:t>
            </a:r>
          </a:p>
        </p:txBody>
      </p:sp>
      <p:sp>
        <p:nvSpPr>
          <p:cNvPr id="10" name="Rounded Rectangle 9"/>
          <p:cNvSpPr/>
          <p:nvPr/>
        </p:nvSpPr>
        <p:spPr>
          <a:xfrm>
            <a:off x="6492240" y="4389120"/>
            <a:ext cx="5120640" cy="1234440"/>
          </a:xfrm>
          <a:prstGeom prst="roundRect">
            <a:avLst>
              <a:gd name="adj" fmla="val 6000"/>
            </a:avLst>
          </a:prstGeom>
          <a:solidFill>
            <a:srgbClr val="223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766560" y="4709160"/>
            <a:ext cx="594360" cy="594360"/>
          </a:xfrm>
          <a:prstGeom prst="ellipse">
            <a:avLst/>
          </a:prstGeom>
          <a:solidFill>
            <a:srgbClr val="C45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2" name="TextBox 11"/>
          <p:cNvSpPr txBox="1"/>
          <p:nvPr/>
        </p:nvSpPr>
        <p:spPr>
          <a:xfrm>
            <a:off x="7635240" y="4572000"/>
            <a:ext cx="3749039" cy="868680"/>
          </a:xfrm>
          <a:prstGeom prst="rect">
            <a:avLst/>
          </a:prstGeom>
          <a:noFill/>
        </p:spPr>
        <p:txBody>
          <a:bodyPr wrap="square" lIns="0" rIns="0" tIns="0" bIns="0" anchor="ctr">
            <a:spAutoFit/>
          </a:bodyPr>
          <a:lstStyle/>
          <a:p>
            <a:pPr algn="l">
              <a:spcAft>
                <a:spcPts val="0"/>
              </a:spcAft>
            </a:pPr>
            <a:r>
              <a:rPr sz="1800" b="0" i="0">
                <a:solidFill>
                  <a:srgbClr val="FFFFFF"/>
                </a:solidFill>
                <a:latin typeface="Calibri"/>
              </a:rPr>
              <a:t>Which stretches, and which fixes, would save the most time?</a:t>
            </a:r>
          </a:p>
        </p:txBody>
      </p:sp>
      <p:sp>
        <p:nvSpPr>
          <p:cNvPr id="13" name="TextBox 12"/>
          <p:cNvSpPr txBox="1"/>
          <p:nvPr/>
        </p:nvSpPr>
        <p:spPr>
          <a:xfrm>
            <a:off x="548640" y="5120640"/>
            <a:ext cx="5486400" cy="914400"/>
          </a:xfrm>
          <a:prstGeom prst="rect">
            <a:avLst/>
          </a:prstGeom>
          <a:noFill/>
        </p:spPr>
        <p:txBody>
          <a:bodyPr wrap="square" lIns="0" rIns="0" tIns="0" bIns="0" anchor="t">
            <a:spAutoFit/>
          </a:bodyPr>
          <a:lstStyle/>
          <a:p>
            <a:pPr algn="l">
              <a:spcAft>
                <a:spcPts val="0"/>
              </a:spcAft>
            </a:pPr>
            <a:r>
              <a:rPr sz="1600" b="1" i="0">
                <a:solidFill>
                  <a:srgbClr val="D9A441"/>
                </a:solidFill>
                <a:latin typeface="Calibri"/>
              </a:rPr>
              <a:t>Approach: </a:t>
            </a:r>
            <a:r>
              <a:rPr sz="1600" b="0" i="0">
                <a:solidFill>
                  <a:srgbClr val="B8C7C4"/>
                </a:solidFill>
                <a:latin typeface="Calibri"/>
              </a:rPr>
              <a:t>don't watch the traffic; measure the causes of delay from open data, cost them in minutes, and check the result against published trip times.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Data: open sources only</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Every cause is measured from public data; nothing comes from traffic feeds, project records or surveys</a:t>
            </a:r>
          </a:p>
        </p:txBody>
      </p:sp>
      <p:sp>
        <p:nvSpPr>
          <p:cNvPr id="4" name="Rounded Rectangle 3"/>
          <p:cNvSpPr/>
          <p:nvPr/>
        </p:nvSpPr>
        <p:spPr>
          <a:xfrm>
            <a:off x="548640" y="1828800"/>
            <a:ext cx="3520440" cy="201168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2057400"/>
            <a:ext cx="3017520" cy="365760"/>
          </a:xfrm>
          <a:prstGeom prst="rect">
            <a:avLst/>
          </a:prstGeom>
          <a:noFill/>
        </p:spPr>
        <p:txBody>
          <a:bodyPr wrap="square" lIns="0" rIns="0" tIns="0" bIns="0" anchor="t">
            <a:spAutoFit/>
          </a:bodyPr>
          <a:lstStyle/>
          <a:p>
            <a:pPr algn="l">
              <a:spcAft>
                <a:spcPts val="0"/>
              </a:spcAft>
            </a:pPr>
            <a:r>
              <a:rPr sz="2000" b="1" i="0">
                <a:solidFill>
                  <a:srgbClr val="1E2528"/>
                </a:solidFill>
                <a:latin typeface="Cambria"/>
              </a:rPr>
              <a:t>Roads &amp; controls</a:t>
            </a:r>
          </a:p>
        </p:txBody>
      </p:sp>
      <p:sp>
        <p:nvSpPr>
          <p:cNvPr id="6" name="TextBox 5"/>
          <p:cNvSpPr txBox="1"/>
          <p:nvPr/>
        </p:nvSpPr>
        <p:spPr>
          <a:xfrm>
            <a:off x="822959" y="2487168"/>
            <a:ext cx="3017520" cy="320040"/>
          </a:xfrm>
          <a:prstGeom prst="rect">
            <a:avLst/>
          </a:prstGeom>
          <a:noFill/>
        </p:spPr>
        <p:txBody>
          <a:bodyPr wrap="square" lIns="0" rIns="0" tIns="0" bIns="0" anchor="t">
            <a:spAutoFit/>
          </a:bodyPr>
          <a:lstStyle/>
          <a:p>
            <a:pPr algn="l">
              <a:spcAft>
                <a:spcPts val="0"/>
              </a:spcAft>
            </a:pPr>
            <a:r>
              <a:rPr sz="1400" b="1" i="0">
                <a:solidFill>
                  <a:srgbClr val="C4532D"/>
                </a:solidFill>
                <a:latin typeface="Calibri"/>
              </a:rPr>
              <a:t>OpenStreetMap</a:t>
            </a:r>
          </a:p>
        </p:txBody>
      </p:sp>
      <p:sp>
        <p:nvSpPr>
          <p:cNvPr id="7" name="TextBox 6"/>
          <p:cNvSpPr txBox="1"/>
          <p:nvPr/>
        </p:nvSpPr>
        <p:spPr>
          <a:xfrm>
            <a:off x="822959" y="2834640"/>
            <a:ext cx="3017520" cy="91440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Routes, joining roads, signals, crossings, humps, police posts, weighbridges, water</a:t>
            </a:r>
          </a:p>
        </p:txBody>
      </p:sp>
      <p:sp>
        <p:nvSpPr>
          <p:cNvPr id="8" name="Rounded Rectangle 7"/>
          <p:cNvSpPr/>
          <p:nvPr/>
        </p:nvSpPr>
        <p:spPr>
          <a:xfrm>
            <a:off x="4297679" y="1828800"/>
            <a:ext cx="3520440" cy="201168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1999" y="2057400"/>
            <a:ext cx="3017520" cy="365760"/>
          </a:xfrm>
          <a:prstGeom prst="rect">
            <a:avLst/>
          </a:prstGeom>
          <a:noFill/>
        </p:spPr>
        <p:txBody>
          <a:bodyPr wrap="square" lIns="0" rIns="0" tIns="0" bIns="0" anchor="t">
            <a:spAutoFit/>
          </a:bodyPr>
          <a:lstStyle/>
          <a:p>
            <a:pPr algn="l">
              <a:spcAft>
                <a:spcPts val="0"/>
              </a:spcAft>
            </a:pPr>
            <a:r>
              <a:rPr sz="2000" b="1" i="0">
                <a:solidFill>
                  <a:srgbClr val="1E2528"/>
                </a:solidFill>
                <a:latin typeface="Cambria"/>
              </a:rPr>
              <a:t>Buildings</a:t>
            </a:r>
          </a:p>
        </p:txBody>
      </p:sp>
      <p:sp>
        <p:nvSpPr>
          <p:cNvPr id="10" name="TextBox 9"/>
          <p:cNvSpPr txBox="1"/>
          <p:nvPr/>
        </p:nvSpPr>
        <p:spPr>
          <a:xfrm>
            <a:off x="4571999" y="2487168"/>
            <a:ext cx="3017520" cy="320040"/>
          </a:xfrm>
          <a:prstGeom prst="rect">
            <a:avLst/>
          </a:prstGeom>
          <a:noFill/>
        </p:spPr>
        <p:txBody>
          <a:bodyPr wrap="square" lIns="0" rIns="0" tIns="0" bIns="0" anchor="t">
            <a:spAutoFit/>
          </a:bodyPr>
          <a:lstStyle/>
          <a:p>
            <a:pPr algn="l">
              <a:spcAft>
                <a:spcPts val="0"/>
              </a:spcAft>
            </a:pPr>
            <a:r>
              <a:rPr sz="1400" b="1" i="0">
                <a:solidFill>
                  <a:srgbClr val="C4532D"/>
                </a:solidFill>
                <a:latin typeface="Calibri"/>
              </a:rPr>
              <a:t>Google Open Buildings v3</a:t>
            </a:r>
          </a:p>
        </p:txBody>
      </p:sp>
      <p:sp>
        <p:nvSpPr>
          <p:cNvPr id="11" name="TextBox 10"/>
          <p:cNvSpPr txBox="1"/>
          <p:nvPr/>
        </p:nvSpPr>
        <p:spPr>
          <a:xfrm>
            <a:off x="4571999" y="2834640"/>
            <a:ext cx="3017520" cy="91440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1.25 M footprints within 1 km; roadside activity within 100 m and 300 m</a:t>
            </a:r>
          </a:p>
        </p:txBody>
      </p:sp>
      <p:sp>
        <p:nvSpPr>
          <p:cNvPr id="12" name="Rounded Rectangle 11"/>
          <p:cNvSpPr/>
          <p:nvPr/>
        </p:nvSpPr>
        <p:spPr>
          <a:xfrm>
            <a:off x="8046719" y="1828800"/>
            <a:ext cx="3520440" cy="201168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2057400"/>
            <a:ext cx="3017520" cy="365760"/>
          </a:xfrm>
          <a:prstGeom prst="rect">
            <a:avLst/>
          </a:prstGeom>
          <a:noFill/>
        </p:spPr>
        <p:txBody>
          <a:bodyPr wrap="square" lIns="0" rIns="0" tIns="0" bIns="0" anchor="t">
            <a:spAutoFit/>
          </a:bodyPr>
          <a:lstStyle/>
          <a:p>
            <a:pPr algn="l">
              <a:spcAft>
                <a:spcPts val="0"/>
              </a:spcAft>
            </a:pPr>
            <a:r>
              <a:rPr sz="2000" b="1" i="0">
                <a:solidFill>
                  <a:srgbClr val="1E2528"/>
                </a:solidFill>
                <a:latin typeface="Cambria"/>
              </a:rPr>
              <a:t>Growth</a:t>
            </a:r>
          </a:p>
        </p:txBody>
      </p:sp>
      <p:sp>
        <p:nvSpPr>
          <p:cNvPr id="14" name="TextBox 13"/>
          <p:cNvSpPr txBox="1"/>
          <p:nvPr/>
        </p:nvSpPr>
        <p:spPr>
          <a:xfrm>
            <a:off x="8321040" y="2487168"/>
            <a:ext cx="3017520" cy="320040"/>
          </a:xfrm>
          <a:prstGeom prst="rect">
            <a:avLst/>
          </a:prstGeom>
          <a:noFill/>
        </p:spPr>
        <p:txBody>
          <a:bodyPr wrap="square" lIns="0" rIns="0" tIns="0" bIns="0" anchor="t">
            <a:spAutoFit/>
          </a:bodyPr>
          <a:lstStyle/>
          <a:p>
            <a:pPr algn="l">
              <a:spcAft>
                <a:spcPts val="0"/>
              </a:spcAft>
            </a:pPr>
            <a:r>
              <a:rPr sz="1400" b="1" i="0">
                <a:solidFill>
                  <a:srgbClr val="C4532D"/>
                </a:solidFill>
                <a:latin typeface="Calibri"/>
              </a:rPr>
              <a:t>GHSL built-up surface</a:t>
            </a:r>
          </a:p>
        </p:txBody>
      </p:sp>
      <p:sp>
        <p:nvSpPr>
          <p:cNvPr id="15" name="TextBox 14"/>
          <p:cNvSpPr txBox="1"/>
          <p:nvPr/>
        </p:nvSpPr>
        <p:spPr>
          <a:xfrm>
            <a:off x="8321040" y="2834640"/>
            <a:ext cx="3017520" cy="91440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2000–2020 observed, 2025–2030 projected, within 300 m of the road</a:t>
            </a:r>
          </a:p>
        </p:txBody>
      </p:sp>
      <p:sp>
        <p:nvSpPr>
          <p:cNvPr id="16" name="Rounded Rectangle 15"/>
          <p:cNvSpPr/>
          <p:nvPr/>
        </p:nvSpPr>
        <p:spPr>
          <a:xfrm>
            <a:off x="548640" y="4069080"/>
            <a:ext cx="3520440" cy="201168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4297680"/>
            <a:ext cx="3017520" cy="365760"/>
          </a:xfrm>
          <a:prstGeom prst="rect">
            <a:avLst/>
          </a:prstGeom>
          <a:noFill/>
        </p:spPr>
        <p:txBody>
          <a:bodyPr wrap="square" lIns="0" rIns="0" tIns="0" bIns="0" anchor="t">
            <a:spAutoFit/>
          </a:bodyPr>
          <a:lstStyle/>
          <a:p>
            <a:pPr algn="l">
              <a:spcAft>
                <a:spcPts val="0"/>
              </a:spcAft>
            </a:pPr>
            <a:r>
              <a:rPr sz="2000" b="1" i="0">
                <a:solidFill>
                  <a:srgbClr val="1E2528"/>
                </a:solidFill>
                <a:latin typeface="Cambria"/>
              </a:rPr>
              <a:t>Terrain</a:t>
            </a:r>
          </a:p>
        </p:txBody>
      </p:sp>
      <p:sp>
        <p:nvSpPr>
          <p:cNvPr id="18" name="TextBox 17"/>
          <p:cNvSpPr txBox="1"/>
          <p:nvPr/>
        </p:nvSpPr>
        <p:spPr>
          <a:xfrm>
            <a:off x="822959" y="4727448"/>
            <a:ext cx="3017520" cy="320040"/>
          </a:xfrm>
          <a:prstGeom prst="rect">
            <a:avLst/>
          </a:prstGeom>
          <a:noFill/>
        </p:spPr>
        <p:txBody>
          <a:bodyPr wrap="square" lIns="0" rIns="0" tIns="0" bIns="0" anchor="t">
            <a:spAutoFit/>
          </a:bodyPr>
          <a:lstStyle/>
          <a:p>
            <a:pPr algn="l">
              <a:spcAft>
                <a:spcPts val="0"/>
              </a:spcAft>
            </a:pPr>
            <a:r>
              <a:rPr sz="1400" b="1" i="0">
                <a:solidFill>
                  <a:srgbClr val="C4532D"/>
                </a:solidFill>
                <a:latin typeface="Calibri"/>
              </a:rPr>
              <a:t>Copernicus GLO-30 DEM</a:t>
            </a:r>
          </a:p>
        </p:txBody>
      </p:sp>
      <p:sp>
        <p:nvSpPr>
          <p:cNvPr id="19" name="TextBox 18"/>
          <p:cNvSpPr txBox="1"/>
          <p:nvPr/>
        </p:nvSpPr>
        <p:spPr>
          <a:xfrm>
            <a:off x="822959" y="5074920"/>
            <a:ext cx="3017520" cy="91440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Climb in each direction and average grade, per 500 m</a:t>
            </a:r>
          </a:p>
        </p:txBody>
      </p:sp>
      <p:sp>
        <p:nvSpPr>
          <p:cNvPr id="20" name="Rounded Rectangle 19"/>
          <p:cNvSpPr/>
          <p:nvPr/>
        </p:nvSpPr>
        <p:spPr>
          <a:xfrm>
            <a:off x="4297679" y="4069080"/>
            <a:ext cx="3520440" cy="201168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1999" y="4297680"/>
            <a:ext cx="3017520" cy="365760"/>
          </a:xfrm>
          <a:prstGeom prst="rect">
            <a:avLst/>
          </a:prstGeom>
          <a:noFill/>
        </p:spPr>
        <p:txBody>
          <a:bodyPr wrap="square" lIns="0" rIns="0" tIns="0" bIns="0" anchor="t">
            <a:spAutoFit/>
          </a:bodyPr>
          <a:lstStyle/>
          <a:p>
            <a:pPr algn="l">
              <a:spcAft>
                <a:spcPts val="0"/>
              </a:spcAft>
            </a:pPr>
            <a:r>
              <a:rPr sz="2000" b="1" i="0">
                <a:solidFill>
                  <a:srgbClr val="1E2528"/>
                </a:solidFill>
                <a:latin typeface="Cambria"/>
              </a:rPr>
              <a:t>Rain</a:t>
            </a:r>
          </a:p>
        </p:txBody>
      </p:sp>
      <p:sp>
        <p:nvSpPr>
          <p:cNvPr id="22" name="TextBox 21"/>
          <p:cNvSpPr txBox="1"/>
          <p:nvPr/>
        </p:nvSpPr>
        <p:spPr>
          <a:xfrm>
            <a:off x="4571999" y="4727448"/>
            <a:ext cx="3017520" cy="320040"/>
          </a:xfrm>
          <a:prstGeom prst="rect">
            <a:avLst/>
          </a:prstGeom>
          <a:noFill/>
        </p:spPr>
        <p:txBody>
          <a:bodyPr wrap="square" lIns="0" rIns="0" tIns="0" bIns="0" anchor="t">
            <a:spAutoFit/>
          </a:bodyPr>
          <a:lstStyle/>
          <a:p>
            <a:pPr algn="l">
              <a:spcAft>
                <a:spcPts val="0"/>
              </a:spcAft>
            </a:pPr>
            <a:r>
              <a:rPr sz="1400" b="1" i="0">
                <a:solidFill>
                  <a:srgbClr val="C4532D"/>
                </a:solidFill>
                <a:latin typeface="Calibri"/>
              </a:rPr>
              <a:t>CHIRPS 2006–2025</a:t>
            </a:r>
          </a:p>
        </p:txBody>
      </p:sp>
      <p:sp>
        <p:nvSpPr>
          <p:cNvPr id="23" name="TextBox 22"/>
          <p:cNvSpPr txBox="1"/>
          <p:nvPr/>
        </p:nvSpPr>
        <p:spPr>
          <a:xfrm>
            <a:off x="4571999" y="5074920"/>
            <a:ext cx="3017520" cy="91440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Days a year with ≥ 10 mm of rain</a:t>
            </a:r>
          </a:p>
        </p:txBody>
      </p:sp>
      <p:sp>
        <p:nvSpPr>
          <p:cNvPr id="24" name="Rounded Rectangle 23"/>
          <p:cNvSpPr/>
          <p:nvPr/>
        </p:nvSpPr>
        <p:spPr>
          <a:xfrm>
            <a:off x="8046719" y="4069080"/>
            <a:ext cx="3520440" cy="201168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4297680"/>
            <a:ext cx="3017520" cy="365760"/>
          </a:xfrm>
          <a:prstGeom prst="rect">
            <a:avLst/>
          </a:prstGeom>
          <a:noFill/>
        </p:spPr>
        <p:txBody>
          <a:bodyPr wrap="square" lIns="0" rIns="0" tIns="0" bIns="0" anchor="t">
            <a:spAutoFit/>
          </a:bodyPr>
          <a:lstStyle/>
          <a:p>
            <a:pPr algn="l">
              <a:spcAft>
                <a:spcPts val="0"/>
              </a:spcAft>
            </a:pPr>
            <a:r>
              <a:rPr sz="2000" b="1" i="0">
                <a:solidFill>
                  <a:srgbClr val="1E2528"/>
                </a:solidFill>
                <a:latin typeface="Cambria"/>
              </a:rPr>
              <a:t>Validation</a:t>
            </a:r>
          </a:p>
        </p:txBody>
      </p:sp>
      <p:sp>
        <p:nvSpPr>
          <p:cNvPr id="26" name="TextBox 25"/>
          <p:cNvSpPr txBox="1"/>
          <p:nvPr/>
        </p:nvSpPr>
        <p:spPr>
          <a:xfrm>
            <a:off x="8321040" y="4727448"/>
            <a:ext cx="3017520" cy="320040"/>
          </a:xfrm>
          <a:prstGeom prst="rect">
            <a:avLst/>
          </a:prstGeom>
          <a:noFill/>
        </p:spPr>
        <p:txBody>
          <a:bodyPr wrap="square" lIns="0" rIns="0" tIns="0" bIns="0" anchor="t">
            <a:spAutoFit/>
          </a:bodyPr>
          <a:lstStyle/>
          <a:p>
            <a:pPr algn="l">
              <a:spcAft>
                <a:spcPts val="0"/>
              </a:spcAft>
            </a:pPr>
            <a:r>
              <a:rPr sz="1400" b="1" i="0">
                <a:solidFill>
                  <a:srgbClr val="C4532D"/>
                </a:solidFill>
                <a:latin typeface="Calibri"/>
              </a:rPr>
              <a:t>Routing estimates, bus timetables</a:t>
            </a:r>
          </a:p>
        </p:txBody>
      </p:sp>
      <p:sp>
        <p:nvSpPr>
          <p:cNvPr id="27" name="TextBox 26"/>
          <p:cNvSpPr txBox="1"/>
          <p:nvPr/>
        </p:nvSpPr>
        <p:spPr>
          <a:xfrm>
            <a:off x="8321040" y="5074920"/>
            <a:ext cx="3017520" cy="91440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Independent trip times to check the model against</a:t>
            </a:r>
          </a:p>
        </p:txBody>
      </p:sp>
      <p:sp>
        <p:nvSpPr>
          <p:cNvPr id="28" name="TextBox 27"/>
          <p:cNvSpPr txBox="1"/>
          <p:nvPr/>
        </p:nvSpPr>
        <p:spPr>
          <a:xfrm>
            <a:off x="548640" y="6400800"/>
            <a:ext cx="11064240" cy="274320"/>
          </a:xfrm>
          <a:prstGeom prst="rect">
            <a:avLst/>
          </a:prstGeom>
          <a:noFill/>
        </p:spPr>
        <p:txBody>
          <a:bodyPr wrap="square" lIns="0" rIns="0" tIns="0" bIns="0" anchor="t">
            <a:spAutoFit/>
          </a:bodyPr>
          <a:lstStyle/>
          <a:p>
            <a:pPr algn="l">
              <a:spcAft>
                <a:spcPts val="0"/>
              </a:spcAft>
            </a:pPr>
            <a:r>
              <a:rPr sz="1000" b="0" i="0">
                <a:solidFill>
                  <a:srgbClr val="5B6770"/>
                </a:solidFill>
                <a:latin typeface="Calibri"/>
              </a:rPr>
              <a:t>Also: Sentinel-2 imagery for an experimental moving-truck index (not used in the model); NCTTCA Transport Observatory 2022 roughness data as context.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Methodology</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From road geometry to minutes lost, with uncertainty carried through every step</a:t>
            </a:r>
          </a:p>
        </p:txBody>
      </p:sp>
      <p:sp>
        <p:nvSpPr>
          <p:cNvPr id="4" name="Rounded Rectangle 3"/>
          <p:cNvSpPr/>
          <p:nvPr/>
        </p:nvSpPr>
        <p:spPr>
          <a:xfrm>
            <a:off x="548640" y="1965960"/>
            <a:ext cx="1737360" cy="292608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94560"/>
            <a:ext cx="548640" cy="548640"/>
          </a:xfrm>
          <a:prstGeom prst="ellipse">
            <a:avLst/>
          </a:prstGeom>
          <a:solidFill>
            <a:srgbClr val="1725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TextBox 5"/>
          <p:cNvSpPr txBox="1"/>
          <p:nvPr/>
        </p:nvSpPr>
        <p:spPr>
          <a:xfrm>
            <a:off x="777240" y="2926080"/>
            <a:ext cx="1325880" cy="411480"/>
          </a:xfrm>
          <a:prstGeom prst="rect">
            <a:avLst/>
          </a:prstGeom>
          <a:noFill/>
        </p:spPr>
        <p:txBody>
          <a:bodyPr wrap="square" lIns="0" rIns="0" tIns="0" bIns="0" anchor="t">
            <a:spAutoFit/>
          </a:bodyPr>
          <a:lstStyle/>
          <a:p>
            <a:pPr algn="l">
              <a:spcAft>
                <a:spcPts val="0"/>
              </a:spcAft>
            </a:pPr>
            <a:r>
              <a:rPr sz="1800" b="1" i="0">
                <a:solidFill>
                  <a:srgbClr val="1E2528"/>
                </a:solidFill>
                <a:latin typeface="Cambria"/>
              </a:rPr>
              <a:t>Cut</a:t>
            </a:r>
          </a:p>
        </p:txBody>
      </p:sp>
      <p:sp>
        <p:nvSpPr>
          <p:cNvPr id="7" name="TextBox 6"/>
          <p:cNvSpPr txBox="1"/>
          <p:nvPr/>
        </p:nvSpPr>
        <p:spPr>
          <a:xfrm>
            <a:off x="777240" y="3383280"/>
            <a:ext cx="1325880" cy="146304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Each corridor into 500 m pieces, every measurable cause attached</a:t>
            </a:r>
          </a:p>
        </p:txBody>
      </p:sp>
      <p:sp>
        <p:nvSpPr>
          <p:cNvPr id="8" name="Rounded Rectangle 7"/>
          <p:cNvSpPr/>
          <p:nvPr/>
        </p:nvSpPr>
        <p:spPr>
          <a:xfrm>
            <a:off x="2414016" y="1965960"/>
            <a:ext cx="1737360" cy="292608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642616" y="2194560"/>
            <a:ext cx="548640" cy="548640"/>
          </a:xfrm>
          <a:prstGeom prst="ellipse">
            <a:avLst/>
          </a:prstGeom>
          <a:solidFill>
            <a:srgbClr val="1725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0" name="TextBox 9"/>
          <p:cNvSpPr txBox="1"/>
          <p:nvPr/>
        </p:nvSpPr>
        <p:spPr>
          <a:xfrm>
            <a:off x="2642616" y="2926080"/>
            <a:ext cx="1325880" cy="411480"/>
          </a:xfrm>
          <a:prstGeom prst="rect">
            <a:avLst/>
          </a:prstGeom>
          <a:noFill/>
        </p:spPr>
        <p:txBody>
          <a:bodyPr wrap="square" lIns="0" rIns="0" tIns="0" bIns="0" anchor="t">
            <a:spAutoFit/>
          </a:bodyPr>
          <a:lstStyle/>
          <a:p>
            <a:pPr algn="l">
              <a:spcAft>
                <a:spcPts val="0"/>
              </a:spcAft>
            </a:pPr>
            <a:r>
              <a:rPr sz="1800" b="1" i="0">
                <a:solidFill>
                  <a:srgbClr val="1E2528"/>
                </a:solidFill>
                <a:latin typeface="Cambria"/>
              </a:rPr>
              <a:t>Classify</a:t>
            </a:r>
          </a:p>
        </p:txBody>
      </p:sp>
      <p:sp>
        <p:nvSpPr>
          <p:cNvPr id="11" name="TextBox 10"/>
          <p:cNvSpPr txBox="1"/>
          <p:nvPr/>
        </p:nvSpPr>
        <p:spPr>
          <a:xfrm>
            <a:off x="2642616" y="3383280"/>
            <a:ext cx="1325880" cy="146304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K-means on roadside measures: open road, roadside settlement, town</a:t>
            </a:r>
          </a:p>
        </p:txBody>
      </p:sp>
      <p:sp>
        <p:nvSpPr>
          <p:cNvPr id="12" name="Rounded Rectangle 11"/>
          <p:cNvSpPr/>
          <p:nvPr/>
        </p:nvSpPr>
        <p:spPr>
          <a:xfrm>
            <a:off x="4279392" y="1965960"/>
            <a:ext cx="1737360" cy="292608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07992" y="2194560"/>
            <a:ext cx="548640" cy="548640"/>
          </a:xfrm>
          <a:prstGeom prst="ellipse">
            <a:avLst/>
          </a:prstGeom>
          <a:solidFill>
            <a:srgbClr val="C45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4" name="TextBox 13"/>
          <p:cNvSpPr txBox="1"/>
          <p:nvPr/>
        </p:nvSpPr>
        <p:spPr>
          <a:xfrm>
            <a:off x="4507992" y="2926080"/>
            <a:ext cx="1325880" cy="411480"/>
          </a:xfrm>
          <a:prstGeom prst="rect">
            <a:avLst/>
          </a:prstGeom>
          <a:noFill/>
        </p:spPr>
        <p:txBody>
          <a:bodyPr wrap="square" lIns="0" rIns="0" tIns="0" bIns="0" anchor="t">
            <a:spAutoFit/>
          </a:bodyPr>
          <a:lstStyle/>
          <a:p>
            <a:pPr algn="l">
              <a:spcAft>
                <a:spcPts val="0"/>
              </a:spcAft>
            </a:pPr>
            <a:r>
              <a:rPr sz="1800" b="1" i="0">
                <a:solidFill>
                  <a:srgbClr val="1E2528"/>
                </a:solidFill>
                <a:latin typeface="Cambria"/>
              </a:rPr>
              <a:t>Model</a:t>
            </a:r>
          </a:p>
        </p:txBody>
      </p:sp>
      <p:sp>
        <p:nvSpPr>
          <p:cNvPr id="15" name="TextBox 14"/>
          <p:cNvSpPr txBox="1"/>
          <p:nvPr/>
        </p:nvSpPr>
        <p:spPr>
          <a:xfrm>
            <a:off x="4507992" y="3383280"/>
            <a:ext cx="1325880" cy="146304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Car and loaded-truck speed per piece, reduced by each cause; fixed stops added</a:t>
            </a:r>
          </a:p>
        </p:txBody>
      </p:sp>
      <p:sp>
        <p:nvSpPr>
          <p:cNvPr id="16" name="Rounded Rectangle 15"/>
          <p:cNvSpPr/>
          <p:nvPr/>
        </p:nvSpPr>
        <p:spPr>
          <a:xfrm>
            <a:off x="6144768" y="1965960"/>
            <a:ext cx="1737360" cy="292608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3368" y="2194560"/>
            <a:ext cx="548640" cy="548640"/>
          </a:xfrm>
          <a:prstGeom prst="ellipse">
            <a:avLst/>
          </a:prstGeom>
          <a:solidFill>
            <a:srgbClr val="C45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18" name="TextBox 17"/>
          <p:cNvSpPr txBox="1"/>
          <p:nvPr/>
        </p:nvSpPr>
        <p:spPr>
          <a:xfrm>
            <a:off x="6373368" y="2926080"/>
            <a:ext cx="1325880" cy="411480"/>
          </a:xfrm>
          <a:prstGeom prst="rect">
            <a:avLst/>
          </a:prstGeom>
          <a:noFill/>
        </p:spPr>
        <p:txBody>
          <a:bodyPr wrap="square" lIns="0" rIns="0" tIns="0" bIns="0" anchor="t">
            <a:spAutoFit/>
          </a:bodyPr>
          <a:lstStyle/>
          <a:p>
            <a:pPr algn="l">
              <a:spcAft>
                <a:spcPts val="0"/>
              </a:spcAft>
            </a:pPr>
            <a:r>
              <a:rPr sz="1800" b="1" i="0">
                <a:solidFill>
                  <a:srgbClr val="1E2528"/>
                </a:solidFill>
                <a:latin typeface="Cambria"/>
              </a:rPr>
              <a:t>Attribute</a:t>
            </a:r>
          </a:p>
        </p:txBody>
      </p:sp>
      <p:sp>
        <p:nvSpPr>
          <p:cNvPr id="19" name="TextBox 18"/>
          <p:cNvSpPr txBox="1"/>
          <p:nvPr/>
        </p:nvSpPr>
        <p:spPr>
          <a:xfrm>
            <a:off x="6373368" y="3383280"/>
            <a:ext cx="1325880" cy="146304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Switch one cause off at a time to get the minutes it adds</a:t>
            </a:r>
          </a:p>
        </p:txBody>
      </p:sp>
      <p:sp>
        <p:nvSpPr>
          <p:cNvPr id="20" name="Rounded Rectangle 19"/>
          <p:cNvSpPr/>
          <p:nvPr/>
        </p:nvSpPr>
        <p:spPr>
          <a:xfrm>
            <a:off x="8010144" y="1965960"/>
            <a:ext cx="1737360" cy="292608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38744" y="2194560"/>
            <a:ext cx="548640" cy="548640"/>
          </a:xfrm>
          <a:prstGeom prst="ellipse">
            <a:avLst/>
          </a:prstGeom>
          <a:solidFill>
            <a:srgbClr val="1725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22" name="TextBox 21"/>
          <p:cNvSpPr txBox="1"/>
          <p:nvPr/>
        </p:nvSpPr>
        <p:spPr>
          <a:xfrm>
            <a:off x="8238744" y="2926080"/>
            <a:ext cx="1325880" cy="411480"/>
          </a:xfrm>
          <a:prstGeom prst="rect">
            <a:avLst/>
          </a:prstGeom>
          <a:noFill/>
        </p:spPr>
        <p:txBody>
          <a:bodyPr wrap="square" lIns="0" rIns="0" tIns="0" bIns="0" anchor="t">
            <a:spAutoFit/>
          </a:bodyPr>
          <a:lstStyle/>
          <a:p>
            <a:pPr algn="l">
              <a:spcAft>
                <a:spcPts val="0"/>
              </a:spcAft>
            </a:pPr>
            <a:r>
              <a:rPr sz="1800" b="1" i="0">
                <a:solidFill>
                  <a:srgbClr val="1E2528"/>
                </a:solidFill>
                <a:latin typeface="Cambria"/>
              </a:rPr>
              <a:t>Simulate</a:t>
            </a:r>
          </a:p>
        </p:txBody>
      </p:sp>
      <p:sp>
        <p:nvSpPr>
          <p:cNvPr id="23" name="TextBox 22"/>
          <p:cNvSpPr txBox="1"/>
          <p:nvPr/>
        </p:nvSpPr>
        <p:spPr>
          <a:xfrm>
            <a:off x="8238744" y="3383280"/>
            <a:ext cx="1325880" cy="146304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1,000 Monte Carlo draws over every assumption for 5–95% ranges</a:t>
            </a:r>
          </a:p>
        </p:txBody>
      </p:sp>
      <p:sp>
        <p:nvSpPr>
          <p:cNvPr id="24" name="Rounded Rectangle 23"/>
          <p:cNvSpPr/>
          <p:nvPr/>
        </p:nvSpPr>
        <p:spPr>
          <a:xfrm>
            <a:off x="9875519" y="1965960"/>
            <a:ext cx="1737360" cy="292608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04119" y="2194560"/>
            <a:ext cx="548640" cy="548640"/>
          </a:xfrm>
          <a:prstGeom prst="ellipse">
            <a:avLst/>
          </a:prstGeom>
          <a:solidFill>
            <a:srgbClr val="1725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6</a:t>
            </a:r>
          </a:p>
        </p:txBody>
      </p:sp>
      <p:sp>
        <p:nvSpPr>
          <p:cNvPr id="26" name="TextBox 25"/>
          <p:cNvSpPr txBox="1"/>
          <p:nvPr/>
        </p:nvSpPr>
        <p:spPr>
          <a:xfrm>
            <a:off x="10104119" y="2926080"/>
            <a:ext cx="1325880" cy="411480"/>
          </a:xfrm>
          <a:prstGeom prst="rect">
            <a:avLst/>
          </a:prstGeom>
          <a:noFill/>
        </p:spPr>
        <p:txBody>
          <a:bodyPr wrap="square" lIns="0" rIns="0" tIns="0" bIns="0" anchor="t">
            <a:spAutoFit/>
          </a:bodyPr>
          <a:lstStyle/>
          <a:p>
            <a:pPr algn="l">
              <a:spcAft>
                <a:spcPts val="0"/>
              </a:spcAft>
            </a:pPr>
            <a:r>
              <a:rPr sz="1800" b="1" i="0">
                <a:solidFill>
                  <a:srgbClr val="1E2528"/>
                </a:solidFill>
                <a:latin typeface="Cambria"/>
              </a:rPr>
              <a:t>Validate</a:t>
            </a:r>
          </a:p>
        </p:txBody>
      </p:sp>
      <p:sp>
        <p:nvSpPr>
          <p:cNvPr id="27" name="TextBox 26"/>
          <p:cNvSpPr txBox="1"/>
          <p:nvPr/>
        </p:nvSpPr>
        <p:spPr>
          <a:xfrm>
            <a:off x="10104119" y="3383280"/>
            <a:ext cx="1325880" cy="146304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Check against trip times; map the 10 worst 2 km on each road</a:t>
            </a:r>
          </a:p>
        </p:txBody>
      </p:sp>
      <p:sp>
        <p:nvSpPr>
          <p:cNvPr id="28" name="Rounded Rectangle 27"/>
          <p:cNvSpPr/>
          <p:nvPr/>
        </p:nvSpPr>
        <p:spPr>
          <a:xfrm>
            <a:off x="548640" y="5212080"/>
            <a:ext cx="11064240" cy="960120"/>
          </a:xfrm>
          <a:prstGeom prst="roundRect">
            <a:avLst>
              <a:gd name="adj" fmla="val 6000"/>
            </a:avLst>
          </a:prstGeom>
          <a:solidFill>
            <a:srgbClr val="172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349240"/>
            <a:ext cx="10424160" cy="731520"/>
          </a:xfrm>
          <a:prstGeom prst="rect">
            <a:avLst/>
          </a:prstGeom>
          <a:noFill/>
        </p:spPr>
        <p:txBody>
          <a:bodyPr wrap="square" lIns="0" rIns="0" tIns="0" bIns="0" anchor="ctr">
            <a:spAutoFit/>
          </a:bodyPr>
          <a:lstStyle/>
          <a:p>
            <a:pPr algn="l">
              <a:spcAft>
                <a:spcPts val="0"/>
              </a:spcAft>
            </a:pPr>
            <a:r>
              <a:rPr sz="1500" b="1" i="0">
                <a:solidFill>
                  <a:srgbClr val="D9A441"/>
                </a:solidFill>
                <a:latin typeface="Calibri"/>
              </a:rPr>
              <a:t>Causes in the model: </a:t>
            </a:r>
            <a:r>
              <a:rPr sz="1500" b="0" i="0">
                <a:solidFill>
                  <a:srgbClr val="FFFFFF"/>
                </a:solidFill>
                <a:latin typeface="Calibri"/>
              </a:rPr>
              <a:t>roadside activity · joining roads · town speed limits · curves · hills (trucks) · signals and crossings · speed humps · police posts · weighbridges · rain (wet-day scenario)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The model reproduces independent trip times</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Car travel time in light traffic, minutes: model vs Rome2rio routing estimate</a:t>
            </a:r>
          </a:p>
        </p:txBody>
      </p:sp>
      <p:graphicFrame>
        <p:nvGraphicFramePr>
          <p:cNvPr id="4" name="Chart 3"/>
          <p:cNvGraphicFramePr>
            <a:graphicFrameLocks noGrp="1"/>
          </p:cNvGraphicFramePr>
          <p:nvPr/>
        </p:nvGraphicFramePr>
        <p:xfrm>
          <a:off x="457200" y="1737360"/>
          <a:ext cx="6949440" cy="4572000"/>
        </p:xfrm>
        <a:graphic>
          <a:graphicData uri="http://schemas.openxmlformats.org/drawingml/2006/chart">
            <c:chart xmlns:c="http://schemas.openxmlformats.org/drawingml/2006/chart" r:id="rId2"/>
          </a:graphicData>
        </a:graphic>
      </p:graphicFrame>
      <p:sp>
        <p:nvSpPr>
          <p:cNvPr id="5" name="Rounded Rectangle 4"/>
          <p:cNvSpPr/>
          <p:nvPr/>
        </p:nvSpPr>
        <p:spPr>
          <a:xfrm>
            <a:off x="7863840" y="1828800"/>
            <a:ext cx="3749039" cy="2103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2011680"/>
            <a:ext cx="3291840" cy="1828800"/>
          </a:xfrm>
          <a:prstGeom prst="rect">
            <a:avLst/>
          </a:prstGeom>
          <a:noFill/>
        </p:spPr>
        <p:txBody>
          <a:bodyPr wrap="square" lIns="0" rIns="0" tIns="0" bIns="0" anchor="t">
            <a:spAutoFit/>
          </a:bodyPr>
          <a:lstStyle/>
          <a:p>
            <a:pPr algn="l">
              <a:spcAft>
                <a:spcPts val="600"/>
              </a:spcAft>
            </a:pPr>
            <a:r>
              <a:rPr sz="2600" b="1" i="0">
                <a:solidFill>
                  <a:srgbClr val="3A7D5C"/>
                </a:solidFill>
                <a:latin typeface="Cambria"/>
              </a:rPr>
              <a:t>Within 1–7%</a:t>
            </a:r>
          </a:p>
          <a:p>
            <a:pPr algn="l">
              <a:spcAft>
                <a:spcPts val="600"/>
              </a:spcAft>
            </a:pPr>
            <a:r>
              <a:rPr sz="1400" b="0" i="0">
                <a:solidFill>
                  <a:srgbClr val="1E2528"/>
                </a:solidFill>
                <a:latin typeface="Calibri"/>
              </a:rPr>
              <a:t>on the Gulu, Kabale and Hoima roads. The model runs below scheduled buses, as expected without stops.</a:t>
            </a:r>
          </a:p>
        </p:txBody>
      </p:sp>
      <p:sp>
        <p:nvSpPr>
          <p:cNvPr id="7" name="Rounded Rectangle 6"/>
          <p:cNvSpPr/>
          <p:nvPr/>
        </p:nvSpPr>
        <p:spPr>
          <a:xfrm>
            <a:off x="7863840" y="4114800"/>
            <a:ext cx="3749039" cy="2103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0" y="4297680"/>
            <a:ext cx="3291840" cy="1828800"/>
          </a:xfrm>
          <a:prstGeom prst="rect">
            <a:avLst/>
          </a:prstGeom>
          <a:noFill/>
        </p:spPr>
        <p:txBody>
          <a:bodyPr wrap="square" lIns="0" rIns="0" tIns="0" bIns="0" anchor="t">
            <a:spAutoFit/>
          </a:bodyPr>
          <a:lstStyle/>
          <a:p>
            <a:pPr algn="l">
              <a:spcAft>
                <a:spcPts val="600"/>
              </a:spcAft>
            </a:pPr>
            <a:r>
              <a:rPr sz="2600" b="1" i="0">
                <a:solidFill>
                  <a:srgbClr val="C4532D"/>
                </a:solidFill>
                <a:latin typeface="Cambria"/>
              </a:rPr>
              <a:t>2–3 h vs ~1.5 h</a:t>
            </a:r>
          </a:p>
          <a:p>
            <a:pPr algn="l">
              <a:spcAft>
                <a:spcPts val="600"/>
              </a:spcAft>
            </a:pPr>
            <a:r>
              <a:rPr sz="1400" b="0" i="0">
                <a:solidFill>
                  <a:srgbClr val="1E2528"/>
                </a:solidFill>
                <a:latin typeface="Calibri"/>
              </a:rPr>
              <a:t>Observed Kampala–Jinja trips far exceed the model. That gap is congestion at the Kampala end.</a:t>
            </a:r>
          </a:p>
        </p:txBody>
      </p:sp>
      <p:sp>
        <p:nvSpPr>
          <p:cNvPr id="9" name="TextBox 8"/>
          <p:cNvSpPr txBox="1"/>
          <p:nvPr/>
        </p:nvSpPr>
        <p:spPr>
          <a:xfrm>
            <a:off x="548640" y="6400800"/>
            <a:ext cx="11064240" cy="274320"/>
          </a:xfrm>
          <a:prstGeom prst="rect">
            <a:avLst/>
          </a:prstGeom>
          <a:noFill/>
        </p:spPr>
        <p:txBody>
          <a:bodyPr wrap="square" lIns="0" rIns="0" tIns="0" bIns="0" anchor="t">
            <a:spAutoFit/>
          </a:bodyPr>
          <a:lstStyle/>
          <a:p>
            <a:pPr algn="l">
              <a:spcAft>
                <a:spcPts val="0"/>
              </a:spcAft>
            </a:pPr>
            <a:r>
              <a:rPr sz="1000" b="0" i="0">
                <a:solidFill>
                  <a:srgbClr val="5B6770"/>
                </a:solidFill>
                <a:latin typeface="Calibri"/>
              </a:rPr>
              <a:t>Source: outputs/validation.csv. The Njeru estimate covers a shorter segment than the model's 73.5 km, so it is the least like-for-like.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Result 1 · Most of each corridor is settlement</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Share of corridor length by road type (500 m pieces, k-means)</a:t>
            </a:r>
          </a:p>
        </p:txBody>
      </p:sp>
      <p:graphicFrame>
        <p:nvGraphicFramePr>
          <p:cNvPr id="4" name="Chart 3"/>
          <p:cNvGraphicFramePr>
            <a:graphicFrameLocks noGrp="1"/>
          </p:cNvGraphicFramePr>
          <p:nvPr/>
        </p:nvGraphicFramePr>
        <p:xfrm>
          <a:off x="457200" y="1737360"/>
          <a:ext cx="7498079" cy="4572000"/>
        </p:xfrm>
        <a:graphic>
          <a:graphicData uri="http://schemas.openxmlformats.org/drawingml/2006/chart">
            <c:chart xmlns:c="http://schemas.openxmlformats.org/drawingml/2006/chart" r:id="rId2"/>
          </a:graphicData>
        </a:graphic>
      </p:graphicFrame>
      <p:sp>
        <p:nvSpPr>
          <p:cNvPr id="5" name="TextBox 4"/>
          <p:cNvSpPr txBox="1"/>
          <p:nvPr/>
        </p:nvSpPr>
        <p:spPr>
          <a:xfrm>
            <a:off x="8321040" y="1920240"/>
            <a:ext cx="3291840" cy="4206240"/>
          </a:xfrm>
          <a:prstGeom prst="rect">
            <a:avLst/>
          </a:prstGeom>
          <a:noFill/>
        </p:spPr>
        <p:txBody>
          <a:bodyPr wrap="square" lIns="0" rIns="0" tIns="0" bIns="0" anchor="t">
            <a:spAutoFit/>
          </a:bodyPr>
          <a:lstStyle/>
          <a:p>
            <a:pPr algn="l">
              <a:spcAft>
                <a:spcPts val="1200"/>
              </a:spcAft>
            </a:pPr>
            <a:r>
              <a:rPr sz="1900" b="1" i="0">
                <a:solidFill>
                  <a:srgbClr val="1E2528"/>
                </a:solidFill>
                <a:latin typeface="Cambria"/>
              </a:rPr>
              <a:t>What the types look like</a:t>
            </a:r>
          </a:p>
          <a:p>
            <a:pPr algn="l">
              <a:spcAft>
                <a:spcPts val="1200"/>
              </a:spcAft>
            </a:pPr>
            <a:r>
              <a:rPr sz="1500" b="1" i="0">
                <a:solidFill>
                  <a:srgbClr val="3A7D5C"/>
                </a:solidFill>
                <a:latin typeface="Calibri"/>
              </a:rPr>
              <a:t>Open road: </a:t>
            </a:r>
            <a:r>
              <a:rPr sz="1500" b="0" i="0">
                <a:solidFill>
                  <a:srgbClr val="1E2528"/>
                </a:solidFill>
                <a:latin typeface="Calibri"/>
              </a:rPr>
              <a:t>~4–9 buildings within 100 m per piece</a:t>
            </a:r>
          </a:p>
          <a:p>
            <a:pPr algn="l">
              <a:spcAft>
                <a:spcPts val="1200"/>
              </a:spcAft>
            </a:pPr>
            <a:r>
              <a:rPr sz="1500" b="1" i="0">
                <a:solidFill>
                  <a:srgbClr val="A87410"/>
                </a:solidFill>
                <a:latin typeface="Calibri"/>
              </a:rPr>
              <a:t>Settlement: </a:t>
            </a:r>
            <a:r>
              <a:rPr sz="1500" b="0" i="0">
                <a:solidFill>
                  <a:srgbClr val="1E2528"/>
                </a:solidFill>
                <a:latin typeface="Calibri"/>
              </a:rPr>
              <a:t>~87–154 buildings, ~1.8 joining roads</a:t>
            </a:r>
          </a:p>
          <a:p>
            <a:pPr algn="l">
              <a:spcAft>
                <a:spcPts val="1200"/>
              </a:spcAft>
            </a:pPr>
            <a:r>
              <a:rPr sz="1500" b="1" i="0">
                <a:solidFill>
                  <a:srgbClr val="C4532D"/>
                </a:solidFill>
                <a:latin typeface="Calibri"/>
              </a:rPr>
              <a:t>Town: </a:t>
            </a:r>
            <a:r>
              <a:rPr sz="1500" b="0" i="0">
                <a:solidFill>
                  <a:srgbClr val="1E2528"/>
                </a:solidFill>
                <a:latin typeface="Calibri"/>
              </a:rPr>
              <a:t>~340–416 buildings, 6–7 joining roads</a:t>
            </a:r>
          </a:p>
          <a:p>
            <a:pPr algn="l">
              <a:spcAft>
                <a:spcPts val="1200"/>
              </a:spcAft>
            </a:pPr>
            <a:r>
              <a:rPr sz="1500" b="0" i="1">
                <a:solidFill>
                  <a:srgbClr val="5B6770"/>
                </a:solidFill>
                <a:latin typeface="Calibri"/>
              </a:rPr>
              <a:t>Even the "open" A9 to Hoima has only 32 km of truly open road.</a:t>
            </a:r>
          </a:p>
        </p:txBody>
      </p:sp>
      <p:sp>
        <p:nvSpPr>
          <p:cNvPr id="6" name="TextBox 5"/>
          <p:cNvSpPr txBox="1"/>
          <p:nvPr/>
        </p:nvSpPr>
        <p:spPr>
          <a:xfrm>
            <a:off x="548640" y="6400800"/>
            <a:ext cx="11064240" cy="274320"/>
          </a:xfrm>
          <a:prstGeom prst="rect">
            <a:avLst/>
          </a:prstGeom>
          <a:noFill/>
        </p:spPr>
        <p:txBody>
          <a:bodyPr wrap="square" lIns="0" rIns="0" tIns="0" bIns="0" anchor="t">
            <a:spAutoFit/>
          </a:bodyPr>
          <a:lstStyle/>
          <a:p>
            <a:pPr algn="l">
              <a:spcAft>
                <a:spcPts val="0"/>
              </a:spcAft>
            </a:pPr>
            <a:r>
              <a:rPr sz="1000" b="0" i="0">
                <a:solidFill>
                  <a:srgbClr val="5B6770"/>
                </a:solidFill>
                <a:latin typeface="Calibri"/>
              </a:rPr>
              <a:t>Source: outputs/typology_summary.csv. Three types chosen by silhouette score.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Result 2 · Roadside activity is the biggest steady drag</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Minutes a loaded truck loses leaving Kampala, by cause (central estimate, dry day, light traffic)</a:t>
            </a:r>
          </a:p>
        </p:txBody>
      </p:sp>
      <p:graphicFrame>
        <p:nvGraphicFramePr>
          <p:cNvPr id="4" name="Chart 3"/>
          <p:cNvGraphicFramePr>
            <a:graphicFrameLocks noGrp="1"/>
          </p:cNvGraphicFramePr>
          <p:nvPr/>
        </p:nvGraphicFramePr>
        <p:xfrm>
          <a:off x="457200" y="1737360"/>
          <a:ext cx="7680960" cy="4572000"/>
        </p:xfrm>
        <a:graphic>
          <a:graphicData uri="http://schemas.openxmlformats.org/drawingml/2006/chart">
            <c:chart xmlns:c="http://schemas.openxmlformats.org/drawingml/2006/chart" r:id="rId2"/>
          </a:graphicData>
        </a:graphic>
      </p:graphicFrame>
      <p:sp>
        <p:nvSpPr>
          <p:cNvPr id="5" name="TextBox 4"/>
          <p:cNvSpPr txBox="1"/>
          <p:nvPr/>
        </p:nvSpPr>
        <p:spPr>
          <a:xfrm>
            <a:off x="8503920" y="1828800"/>
            <a:ext cx="3108960" cy="4389120"/>
          </a:xfrm>
          <a:prstGeom prst="rect">
            <a:avLst/>
          </a:prstGeom>
          <a:noFill/>
        </p:spPr>
        <p:txBody>
          <a:bodyPr wrap="square" lIns="0" rIns="0" tIns="0" bIns="0" anchor="t">
            <a:spAutoFit/>
          </a:bodyPr>
          <a:lstStyle/>
          <a:p>
            <a:pPr algn="l">
              <a:spcAft>
                <a:spcPts val="1200"/>
              </a:spcAft>
            </a:pPr>
            <a:r>
              <a:rPr sz="1500" b="1" i="0">
                <a:solidFill>
                  <a:srgbClr val="C4532D"/>
                </a:solidFill>
                <a:latin typeface="Calibri"/>
              </a:rPr>
              <a:t>Cars: </a:t>
            </a:r>
            <a:r>
              <a:rPr sz="1500" b="0" i="0">
                <a:solidFill>
                  <a:srgbClr val="1E2528"/>
                </a:solidFill>
                <a:latin typeface="Calibri"/>
              </a:rPr>
              <a:t>roadside activity is the largest cause on the Gulu, Katuna and Hoima roads (17–28 min).</a:t>
            </a:r>
          </a:p>
          <a:p>
            <a:pPr algn="l">
              <a:spcAft>
                <a:spcPts val="1200"/>
              </a:spcAft>
            </a:pPr>
            <a:r>
              <a:rPr sz="1500" b="1" i="0">
                <a:solidFill>
                  <a:srgbClr val="C4532D"/>
                </a:solidFill>
                <a:latin typeface="Calibri"/>
              </a:rPr>
              <a:t>Trucks: </a:t>
            </a:r>
            <a:r>
              <a:rPr sz="1500" b="0" i="0">
                <a:solidFill>
                  <a:srgbClr val="1E2528"/>
                </a:solidFill>
                <a:latin typeface="Calibri"/>
              </a:rPr>
              <a:t>the five weighbridges are the largest single delays, ~10 min each if every truck stops.</a:t>
            </a:r>
          </a:p>
          <a:p>
            <a:pPr algn="l">
              <a:spcAft>
                <a:spcPts val="1200"/>
              </a:spcAft>
            </a:pPr>
            <a:r>
              <a:rPr sz="1500" b="1" i="0">
                <a:solidFill>
                  <a:srgbClr val="C4532D"/>
                </a:solidFill>
                <a:latin typeface="Calibri"/>
              </a:rPr>
              <a:t>Jinja road: </a:t>
            </a:r>
            <a:r>
              <a:rPr sz="1500" b="0" i="0">
                <a:solidFill>
                  <a:srgbClr val="1E2528"/>
                </a:solidFill>
                <a:latin typeface="Calibri"/>
              </a:rPr>
              <a:t>signals, crossings and humps compete with roadside activity; the ranking depends on assumptions.</a:t>
            </a:r>
          </a:p>
          <a:p>
            <a:pPr algn="l">
              <a:spcAft>
                <a:spcPts val="1200"/>
              </a:spcAft>
            </a:pPr>
            <a:r>
              <a:rPr sz="1500" b="0" i="1">
                <a:solidFill>
                  <a:srgbClr val="5B6770"/>
                </a:solidFill>
                <a:latin typeface="Calibri"/>
              </a:rPr>
              <a:t>A wet day adds a further 24–53 truck minutes.</a:t>
            </a:r>
          </a:p>
        </p:txBody>
      </p:sp>
      <p:sp>
        <p:nvSpPr>
          <p:cNvPr id="6" name="TextBox 5"/>
          <p:cNvSpPr txBox="1"/>
          <p:nvPr/>
        </p:nvSpPr>
        <p:spPr>
          <a:xfrm>
            <a:off x="548640" y="6400800"/>
            <a:ext cx="11064240" cy="274320"/>
          </a:xfrm>
          <a:prstGeom prst="rect">
            <a:avLst/>
          </a:prstGeom>
          <a:noFill/>
        </p:spPr>
        <p:txBody>
          <a:bodyPr wrap="square" lIns="0" rIns="0" tIns="0" bIns="0" anchor="t">
            <a:spAutoFit/>
          </a:bodyPr>
          <a:lstStyle/>
          <a:p>
            <a:pPr algn="l">
              <a:spcAft>
                <a:spcPts val="0"/>
              </a:spcAft>
            </a:pPr>
            <a:r>
              <a:rPr sz="1000" b="0" i="0">
                <a:solidFill>
                  <a:srgbClr val="5B6770"/>
                </a:solidFill>
                <a:latin typeface="Calibri"/>
              </a:rPr>
              <a:t>Source: outputs/travel_time_causes.csv. Town speed limits and curves (&lt; 3 min) omitted. 5–95% ranges are wide: see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52A"/>
        </a:solidFill>
        <a:effectLst/>
      </p:bgPr>
    </p:bg>
    <p:spTree>
      <p:nvGrpSpPr>
        <p:cNvPr id="1" name=""/>
        <p:cNvGrpSpPr/>
        <p:nvPr/>
      </p:nvGrpSpPr>
      <p:grpSpPr/>
      <p:sp>
        <p:nvSpPr>
          <p:cNvPr id="2" name="TextBox 1"/>
          <p:cNvSpPr txBox="1"/>
          <p:nvPr/>
        </p:nvSpPr>
        <p:spPr>
          <a:xfrm>
            <a:off x="548640" y="457200"/>
            <a:ext cx="4754880" cy="1280160"/>
          </a:xfrm>
          <a:prstGeom prst="rect">
            <a:avLst/>
          </a:prstGeom>
          <a:noFill/>
        </p:spPr>
        <p:txBody>
          <a:bodyPr wrap="square" lIns="0" rIns="0" tIns="0" bIns="0" anchor="t">
            <a:spAutoFit/>
          </a:bodyPr>
          <a:lstStyle/>
          <a:p>
            <a:pPr algn="l">
              <a:spcAft>
                <a:spcPts val="0"/>
              </a:spcAft>
            </a:pPr>
            <a:r>
              <a:rPr sz="3200" b="1" i="0">
                <a:solidFill>
                  <a:srgbClr val="FFFFFF"/>
                </a:solidFill>
                <a:latin typeface="Cambria"/>
              </a:rPr>
              <a:t>The same truck, five roads</a:t>
            </a:r>
          </a:p>
        </p:txBody>
      </p:sp>
      <p:sp>
        <p:nvSpPr>
          <p:cNvPr id="3" name="TextBox 2"/>
          <p:cNvSpPr txBox="1"/>
          <p:nvPr/>
        </p:nvSpPr>
        <p:spPr>
          <a:xfrm>
            <a:off x="548640" y="1828800"/>
            <a:ext cx="4572000" cy="2926080"/>
          </a:xfrm>
          <a:prstGeom prst="rect">
            <a:avLst/>
          </a:prstGeom>
          <a:noFill/>
        </p:spPr>
        <p:txBody>
          <a:bodyPr wrap="square" lIns="0" rIns="0" tIns="0" bIns="0" anchor="t">
            <a:spAutoFit/>
          </a:bodyPr>
          <a:lstStyle/>
          <a:p>
            <a:pPr algn="l">
              <a:spcAft>
                <a:spcPts val="1200"/>
              </a:spcAft>
            </a:pPr>
            <a:r>
              <a:rPr sz="1600" b="0" i="0">
                <a:solidFill>
                  <a:srgbClr val="B8C7C4"/>
                </a:solidFill>
                <a:latin typeface="Calibri"/>
              </a:rPr>
              <a:t>A loaded truck leaves Kampala on each corridor at the same moment, next to a truck on open road.</a:t>
            </a:r>
          </a:p>
          <a:p>
            <a:pPr algn="l">
              <a:spcAft>
                <a:spcPts val="1200"/>
              </a:spcAft>
            </a:pPr>
            <a:r>
              <a:rPr sz="1600" b="0" i="0">
                <a:solidFill>
                  <a:srgbClr val="B8C7C4"/>
                </a:solidFill>
                <a:latin typeface="Calibri"/>
              </a:rPr>
              <a:t>Each road colours in with the delay it causes: towns, weighbridges, humps and hills.</a:t>
            </a:r>
          </a:p>
          <a:p>
            <a:pPr algn="l">
              <a:spcAft>
                <a:spcPts val="1200"/>
              </a:spcAft>
            </a:pPr>
            <a:r>
              <a:rPr sz="1600" b="0" i="1">
                <a:solidFill>
                  <a:srgbClr val="D9A441"/>
                </a:solidFill>
                <a:latin typeface="Calibri"/>
              </a:rPr>
              <a:t>The animation plays in slide-show mode.</a:t>
            </a:r>
          </a:p>
        </p:txBody>
      </p:sp>
      <p:pic>
        <p:nvPicPr>
          <p:cNvPr id="4" name="Picture 3" descr="a2_corridor_race.gif"/>
          <p:cNvPicPr>
            <a:picLocks noChangeAspect="1"/>
          </p:cNvPicPr>
          <p:nvPr/>
        </p:nvPicPr>
        <p:blipFill>
          <a:blip r:embed="rId2"/>
          <a:stretch>
            <a:fillRect/>
          </a:stretch>
        </p:blipFill>
        <p:spPr>
          <a:xfrm>
            <a:off x="5760720" y="320040"/>
            <a:ext cx="5829300" cy="6217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m02.png"/>
          <p:cNvPicPr>
            <a:picLocks noChangeAspect="1"/>
          </p:cNvPicPr>
          <p:nvPr/>
        </p:nvPicPr>
        <p:blipFill>
          <a:blip r:embed="rId2"/>
          <a:stretch>
            <a:fillRect/>
          </a:stretch>
        </p:blipFill>
        <p:spPr>
          <a:xfrm>
            <a:off x="365760" y="320040"/>
            <a:ext cx="6417070" cy="6217920"/>
          </a:xfrm>
          <a:prstGeom prst="rect">
            <a:avLst/>
          </a:prstGeom>
        </p:spPr>
      </p:pic>
      <p:sp>
        <p:nvSpPr>
          <p:cNvPr id="3" name="TextBox 2"/>
          <p:cNvSpPr txBox="1"/>
          <p:nvPr/>
        </p:nvSpPr>
        <p:spPr>
          <a:xfrm>
            <a:off x="7086600" y="411480"/>
            <a:ext cx="4663440" cy="1280160"/>
          </a:xfrm>
          <a:prstGeom prst="rect">
            <a:avLst/>
          </a:prstGeom>
          <a:noFill/>
        </p:spPr>
        <p:txBody>
          <a:bodyPr wrap="square" lIns="0" rIns="0" tIns="0" bIns="0" anchor="t">
            <a:spAutoFit/>
          </a:bodyPr>
          <a:lstStyle/>
          <a:p>
            <a:pPr algn="l">
              <a:spcAft>
                <a:spcPts val="0"/>
              </a:spcAft>
            </a:pPr>
            <a:r>
              <a:rPr sz="2800" b="1" i="0">
                <a:solidFill>
                  <a:srgbClr val="1E2528"/>
                </a:solidFill>
                <a:latin typeface="Cambria"/>
              </a:rPr>
              <a:t>Result 3 · Delay concentrates at a few points</a:t>
            </a:r>
          </a:p>
        </p:txBody>
      </p:sp>
      <p:sp>
        <p:nvSpPr>
          <p:cNvPr id="4" name="TextBox 3"/>
          <p:cNvSpPr txBox="1"/>
          <p:nvPr/>
        </p:nvSpPr>
        <p:spPr>
          <a:xfrm>
            <a:off x="7086600" y="1783080"/>
            <a:ext cx="4663440" cy="54864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Truck minutes lost per km vs open road; numbered: the worst 2 km stretches</a:t>
            </a:r>
          </a:p>
        </p:txBody>
      </p:sp>
      <p:sp>
        <p:nvSpPr>
          <p:cNvPr id="5" name="Oval 4"/>
          <p:cNvSpPr/>
          <p:nvPr/>
        </p:nvSpPr>
        <p:spPr>
          <a:xfrm>
            <a:off x="7086600" y="2560320"/>
            <a:ext cx="457200" cy="457200"/>
          </a:xfrm>
          <a:prstGeom prst="ellipse">
            <a:avLst/>
          </a:prstGeom>
          <a:solidFill>
            <a:srgbClr val="1725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7726679" y="2514600"/>
            <a:ext cx="4023360" cy="320040"/>
          </a:xfrm>
          <a:prstGeom prst="rect">
            <a:avLst/>
          </a:prstGeom>
          <a:noFill/>
        </p:spPr>
        <p:txBody>
          <a:bodyPr wrap="square" lIns="0" rIns="0" tIns="0" bIns="0" anchor="t">
            <a:spAutoFit/>
          </a:bodyPr>
          <a:lstStyle/>
          <a:p>
            <a:pPr algn="l">
              <a:spcAft>
                <a:spcPts val="0"/>
              </a:spcAft>
            </a:pPr>
            <a:r>
              <a:rPr sz="1600" b="1" i="0">
                <a:solidFill>
                  <a:srgbClr val="1E2528"/>
                </a:solidFill>
                <a:latin typeface="Calibri"/>
              </a:rPr>
              <a:t>Nakawa, Kampala end of A1</a:t>
            </a:r>
          </a:p>
        </p:txBody>
      </p:sp>
      <p:sp>
        <p:nvSpPr>
          <p:cNvPr id="7" name="TextBox 6"/>
          <p:cNvSpPr txBox="1"/>
          <p:nvPr/>
        </p:nvSpPr>
        <p:spPr>
          <a:xfrm>
            <a:off x="7726679" y="2843784"/>
            <a:ext cx="4023360" cy="365760"/>
          </a:xfrm>
          <a:prstGeom prst="rect">
            <a:avLst/>
          </a:prstGeom>
          <a:noFill/>
        </p:spPr>
        <p:txBody>
          <a:bodyPr wrap="square" lIns="0" rIns="0" tIns="0" bIns="0" anchor="t">
            <a:spAutoFit/>
          </a:bodyPr>
          <a:lstStyle/>
          <a:p>
            <a:pPr algn="l">
              <a:spcAft>
                <a:spcPts val="0"/>
              </a:spcAft>
            </a:pPr>
            <a:r>
              <a:rPr sz="1300" b="0" i="0">
                <a:solidFill>
                  <a:srgbClr val="5B6770"/>
                </a:solidFill>
                <a:latin typeface="Calibri"/>
              </a:rPr>
              <a:t>+8.5 truck / +7.6 car min · signals and crossings</a:t>
            </a:r>
          </a:p>
        </p:txBody>
      </p:sp>
      <p:sp>
        <p:nvSpPr>
          <p:cNvPr id="8" name="Oval 7"/>
          <p:cNvSpPr/>
          <p:nvPr/>
        </p:nvSpPr>
        <p:spPr>
          <a:xfrm>
            <a:off x="7086600" y="3383279"/>
            <a:ext cx="457200" cy="457200"/>
          </a:xfrm>
          <a:prstGeom prst="ellipse">
            <a:avLst/>
          </a:prstGeom>
          <a:solidFill>
            <a:srgbClr val="1725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9" name="TextBox 8"/>
          <p:cNvSpPr txBox="1"/>
          <p:nvPr/>
        </p:nvSpPr>
        <p:spPr>
          <a:xfrm>
            <a:off x="7726679" y="3337560"/>
            <a:ext cx="4023360" cy="320040"/>
          </a:xfrm>
          <a:prstGeom prst="rect">
            <a:avLst/>
          </a:prstGeom>
          <a:noFill/>
        </p:spPr>
        <p:txBody>
          <a:bodyPr wrap="square" lIns="0" rIns="0" tIns="0" bIns="0" anchor="t">
            <a:spAutoFit/>
          </a:bodyPr>
          <a:lstStyle/>
          <a:p>
            <a:pPr algn="l">
              <a:spcAft>
                <a:spcPts val="0"/>
              </a:spcAft>
            </a:pPr>
            <a:r>
              <a:rPr sz="1600" b="1" i="0">
                <a:solidFill>
                  <a:srgbClr val="1E2528"/>
                </a:solidFill>
                <a:latin typeface="Calibri"/>
              </a:rPr>
              <a:t>Lukaya, A2</a:t>
            </a:r>
          </a:p>
        </p:txBody>
      </p:sp>
      <p:sp>
        <p:nvSpPr>
          <p:cNvPr id="10" name="TextBox 9"/>
          <p:cNvSpPr txBox="1"/>
          <p:nvPr/>
        </p:nvSpPr>
        <p:spPr>
          <a:xfrm>
            <a:off x="7726679" y="3666744"/>
            <a:ext cx="4023360" cy="365760"/>
          </a:xfrm>
          <a:prstGeom prst="rect">
            <a:avLst/>
          </a:prstGeom>
          <a:noFill/>
        </p:spPr>
        <p:txBody>
          <a:bodyPr wrap="square" lIns="0" rIns="0" tIns="0" bIns="0" anchor="t">
            <a:spAutoFit/>
          </a:bodyPr>
          <a:lstStyle/>
          <a:p>
            <a:pPr algn="l">
              <a:spcAft>
                <a:spcPts val="0"/>
              </a:spcAft>
            </a:pPr>
            <a:r>
              <a:rPr sz="1300" b="0" i="0">
                <a:solidFill>
                  <a:srgbClr val="5B6770"/>
                </a:solidFill>
                <a:latin typeface="Calibri"/>
              </a:rPr>
              <a:t>+11.9 truck min · weighbridge</a:t>
            </a:r>
          </a:p>
        </p:txBody>
      </p:sp>
      <p:sp>
        <p:nvSpPr>
          <p:cNvPr id="11" name="Oval 10"/>
          <p:cNvSpPr/>
          <p:nvPr/>
        </p:nvSpPr>
        <p:spPr>
          <a:xfrm>
            <a:off x="7086600" y="4206240"/>
            <a:ext cx="457200" cy="457200"/>
          </a:xfrm>
          <a:prstGeom prst="ellipse">
            <a:avLst/>
          </a:prstGeom>
          <a:solidFill>
            <a:srgbClr val="1725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7726679" y="4160520"/>
            <a:ext cx="4023360" cy="320040"/>
          </a:xfrm>
          <a:prstGeom prst="rect">
            <a:avLst/>
          </a:prstGeom>
          <a:noFill/>
        </p:spPr>
        <p:txBody>
          <a:bodyPr wrap="square" lIns="0" rIns="0" tIns="0" bIns="0" anchor="t">
            <a:spAutoFit/>
          </a:bodyPr>
          <a:lstStyle/>
          <a:p>
            <a:pPr algn="l">
              <a:spcAft>
                <a:spcPts val="0"/>
              </a:spcAft>
            </a:pPr>
            <a:r>
              <a:rPr sz="1600" b="1" i="0">
                <a:solidFill>
                  <a:srgbClr val="1E2528"/>
                </a:solidFill>
                <a:latin typeface="Calibri"/>
              </a:rPr>
              <a:t>Magamaga, A1</a:t>
            </a:r>
          </a:p>
        </p:txBody>
      </p:sp>
      <p:sp>
        <p:nvSpPr>
          <p:cNvPr id="13" name="TextBox 12"/>
          <p:cNvSpPr txBox="1"/>
          <p:nvPr/>
        </p:nvSpPr>
        <p:spPr>
          <a:xfrm>
            <a:off x="7726679" y="4489704"/>
            <a:ext cx="4023360" cy="365760"/>
          </a:xfrm>
          <a:prstGeom prst="rect">
            <a:avLst/>
          </a:prstGeom>
          <a:noFill/>
        </p:spPr>
        <p:txBody>
          <a:bodyPr wrap="square" lIns="0" rIns="0" tIns="0" bIns="0" anchor="t">
            <a:spAutoFit/>
          </a:bodyPr>
          <a:lstStyle/>
          <a:p>
            <a:pPr algn="l">
              <a:spcAft>
                <a:spcPts val="0"/>
              </a:spcAft>
            </a:pPr>
            <a:r>
              <a:rPr sz="1300" b="0" i="0">
                <a:solidFill>
                  <a:srgbClr val="5B6770"/>
                </a:solidFill>
                <a:latin typeface="Calibri"/>
              </a:rPr>
              <a:t>+12.3 truck min · weighbridge, police post</a:t>
            </a:r>
          </a:p>
        </p:txBody>
      </p:sp>
      <p:sp>
        <p:nvSpPr>
          <p:cNvPr id="14" name="Oval 13"/>
          <p:cNvSpPr/>
          <p:nvPr/>
        </p:nvSpPr>
        <p:spPr>
          <a:xfrm>
            <a:off x="7086600" y="5029200"/>
            <a:ext cx="457200" cy="457200"/>
          </a:xfrm>
          <a:prstGeom prst="ellipse">
            <a:avLst/>
          </a:prstGeom>
          <a:solidFill>
            <a:srgbClr val="1725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15" name="TextBox 14"/>
          <p:cNvSpPr txBox="1"/>
          <p:nvPr/>
        </p:nvSpPr>
        <p:spPr>
          <a:xfrm>
            <a:off x="7726679" y="4983480"/>
            <a:ext cx="4023360" cy="320040"/>
          </a:xfrm>
          <a:prstGeom prst="rect">
            <a:avLst/>
          </a:prstGeom>
          <a:noFill/>
        </p:spPr>
        <p:txBody>
          <a:bodyPr wrap="square" lIns="0" rIns="0" tIns="0" bIns="0" anchor="t">
            <a:spAutoFit/>
          </a:bodyPr>
          <a:lstStyle/>
          <a:p>
            <a:pPr algn="l">
              <a:spcAft>
                <a:spcPts val="0"/>
              </a:spcAft>
            </a:pPr>
            <a:r>
              <a:rPr sz="1600" b="1" i="0">
                <a:solidFill>
                  <a:srgbClr val="1E2528"/>
                </a:solidFill>
                <a:latin typeface="Calibri"/>
              </a:rPr>
              <a:t>Elegu border</a:t>
            </a:r>
          </a:p>
        </p:txBody>
      </p:sp>
      <p:sp>
        <p:nvSpPr>
          <p:cNvPr id="16" name="TextBox 15"/>
          <p:cNvSpPr txBox="1"/>
          <p:nvPr/>
        </p:nvSpPr>
        <p:spPr>
          <a:xfrm>
            <a:off x="7726679" y="5312664"/>
            <a:ext cx="4023360" cy="365760"/>
          </a:xfrm>
          <a:prstGeom prst="rect">
            <a:avLst/>
          </a:prstGeom>
          <a:noFill/>
        </p:spPr>
        <p:txBody>
          <a:bodyPr wrap="square" lIns="0" rIns="0" tIns="0" bIns="0" anchor="t">
            <a:spAutoFit/>
          </a:bodyPr>
          <a:lstStyle/>
          <a:p>
            <a:pPr algn="l">
              <a:spcAft>
                <a:spcPts val="0"/>
              </a:spcAft>
            </a:pPr>
            <a:r>
              <a:rPr sz="1300" b="0" i="0">
                <a:solidFill>
                  <a:srgbClr val="5B6770"/>
                </a:solidFill>
                <a:latin typeface="Calibri"/>
              </a:rPr>
              <a:t>+4.0 truck min · police posts</a:t>
            </a:r>
          </a:p>
        </p:txBody>
      </p:sp>
      <p:sp>
        <p:nvSpPr>
          <p:cNvPr id="17" name="TextBox 16"/>
          <p:cNvSpPr txBox="1"/>
          <p:nvPr/>
        </p:nvSpPr>
        <p:spPr>
          <a:xfrm>
            <a:off x="7086600" y="5852160"/>
            <a:ext cx="4663440" cy="640080"/>
          </a:xfrm>
          <a:prstGeom prst="rect">
            <a:avLst/>
          </a:prstGeom>
          <a:noFill/>
        </p:spPr>
        <p:txBody>
          <a:bodyPr wrap="square" lIns="0" rIns="0" tIns="0" bIns="0" anchor="t">
            <a:spAutoFit/>
          </a:bodyPr>
          <a:lstStyle/>
          <a:p>
            <a:pPr algn="l">
              <a:spcAft>
                <a:spcPts val="0"/>
              </a:spcAft>
            </a:pPr>
            <a:r>
              <a:rPr sz="1400" b="0" i="1">
                <a:solidFill>
                  <a:srgbClr val="C4532D"/>
                </a:solidFill>
                <a:latin typeface="Calibri"/>
              </a:rPr>
              <a:t>Eight of the ten worst stretches are led by weighbridges, police posts or signals; the other two are in Hoima town.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Result 4 · The roadside filled in fast, between towns</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Built-up land within 300 m of the road, 2000–2020 (GHSL)</a:t>
            </a:r>
          </a:p>
        </p:txBody>
      </p:sp>
      <p:graphicFrame>
        <p:nvGraphicFramePr>
          <p:cNvPr id="4" name="Chart 3"/>
          <p:cNvGraphicFramePr>
            <a:graphicFrameLocks noGrp="1"/>
          </p:cNvGraphicFramePr>
          <p:nvPr/>
        </p:nvGraphicFramePr>
        <p:xfrm>
          <a:off x="457200" y="1691640"/>
          <a:ext cx="4114800" cy="4572000"/>
        </p:xfrm>
        <a:graphic>
          <a:graphicData uri="http://schemas.openxmlformats.org/drawingml/2006/chart">
            <c:chart xmlns:c="http://schemas.openxmlformats.org/drawingml/2006/chart" r:id="rId2"/>
          </a:graphicData>
        </a:graphic>
      </p:graphicFrame>
      <p:pic>
        <p:nvPicPr>
          <p:cNvPr id="5" name="Picture 4" descr="m04_grid.png"/>
          <p:cNvPicPr>
            <a:picLocks noChangeAspect="1"/>
          </p:cNvPicPr>
          <p:nvPr/>
        </p:nvPicPr>
        <p:blipFill>
          <a:blip r:embed="rId3"/>
          <a:stretch>
            <a:fillRect/>
          </a:stretch>
        </p:blipFill>
        <p:spPr>
          <a:xfrm>
            <a:off x="4800600" y="1691640"/>
            <a:ext cx="4118846" cy="4572000"/>
          </a:xfrm>
          <a:prstGeom prst="rect">
            <a:avLst/>
          </a:prstGeom>
        </p:spPr>
      </p:pic>
      <p:sp>
        <p:nvSpPr>
          <p:cNvPr id="6" name="TextBox 5"/>
          <p:cNvSpPr txBox="1"/>
          <p:nvPr/>
        </p:nvSpPr>
        <p:spPr>
          <a:xfrm>
            <a:off x="9098280" y="1783080"/>
            <a:ext cx="2560320" cy="4480560"/>
          </a:xfrm>
          <a:prstGeom prst="rect">
            <a:avLst/>
          </a:prstGeom>
          <a:noFill/>
        </p:spPr>
        <p:txBody>
          <a:bodyPr wrap="square" lIns="0" rIns="0" tIns="0" bIns="0" anchor="t">
            <a:spAutoFit/>
          </a:bodyPr>
          <a:lstStyle/>
          <a:p>
            <a:pPr algn="l">
              <a:spcAft>
                <a:spcPts val="1000"/>
              </a:spcAft>
            </a:pPr>
            <a:r>
              <a:rPr sz="3000" b="1" i="0">
                <a:solidFill>
                  <a:srgbClr val="C4532D"/>
                </a:solidFill>
                <a:latin typeface="Cambria"/>
              </a:rPr>
              <a:t>+27% to +68%</a:t>
            </a:r>
          </a:p>
          <a:p>
            <a:pPr algn="l">
              <a:spcAft>
                <a:spcPts val="1000"/>
              </a:spcAft>
            </a:pPr>
            <a:r>
              <a:rPr sz="1500" b="0" i="0">
                <a:solidFill>
                  <a:srgbClr val="1E2528"/>
                </a:solidFill>
                <a:latin typeface="Calibri"/>
              </a:rPr>
              <a:t>roadside built-up land in 20 years, fastest on the Elegu and Hoima roads.</a:t>
            </a:r>
          </a:p>
          <a:p>
            <a:pPr algn="l">
              <a:spcAft>
                <a:spcPts val="1000"/>
              </a:spcAft>
            </a:pPr>
            <a:r>
              <a:rPr sz="1500" b="0" i="0">
                <a:solidFill>
                  <a:srgbClr val="5B6770"/>
                </a:solidFill>
                <a:latin typeface="Calibri"/>
              </a:rPr>
              <a:t>Settlements between towns roughly doubled on the A6 and A9; towns grew only 13–20%.</a:t>
            </a:r>
          </a:p>
          <a:p>
            <a:pPr algn="l">
              <a:spcAft>
                <a:spcPts val="1000"/>
              </a:spcAft>
            </a:pPr>
            <a:r>
              <a:rPr sz="1500" b="0" i="0">
                <a:solidFill>
                  <a:srgbClr val="5B6770"/>
                </a:solidFill>
                <a:latin typeface="Calibri"/>
              </a:rPr>
              <a:t>New friction is appearing on what used to be open road.</a:t>
            </a:r>
          </a:p>
        </p:txBody>
      </p:sp>
      <p:sp>
        <p:nvSpPr>
          <p:cNvPr id="7" name="TextBox 6"/>
          <p:cNvSpPr txBox="1"/>
          <p:nvPr/>
        </p:nvSpPr>
        <p:spPr>
          <a:xfrm>
            <a:off x="548640" y="6400800"/>
            <a:ext cx="11064240" cy="274320"/>
          </a:xfrm>
          <a:prstGeom prst="rect">
            <a:avLst/>
          </a:prstGeom>
          <a:noFill/>
        </p:spPr>
        <p:txBody>
          <a:bodyPr wrap="square" lIns="0" rIns="0" tIns="0" bIns="0" anchor="t">
            <a:spAutoFit/>
          </a:bodyPr>
          <a:lstStyle/>
          <a:p>
            <a:pPr algn="l">
              <a:spcAft>
                <a:spcPts val="0"/>
              </a:spcAft>
            </a:pPr>
            <a:r>
              <a:rPr sz="1000" b="0" i="0">
                <a:solidFill>
                  <a:srgbClr val="5B6770"/>
                </a:solidFill>
                <a:latin typeface="Calibri"/>
              </a:rPr>
              <a:t>Maps: each corridor's fastest-growing 5 km; grey built by 2000, orange built 2000–2020. Open-road growth (150–225%) is from a very small base and not charted.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Twenty years of roadside building</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Each corridor's fastest-growing stretch, 2000–2020 (GHSL, observed)</a:t>
            </a:r>
          </a:p>
        </p:txBody>
      </p:sp>
      <p:pic>
        <p:nvPicPr>
          <p:cNvPr id="4" name="Picture 3" descr="a1_roadside_growth.gif"/>
          <p:cNvPicPr>
            <a:picLocks noChangeAspect="1"/>
          </p:cNvPicPr>
          <p:nvPr/>
        </p:nvPicPr>
        <p:blipFill>
          <a:blip r:embed="rId2"/>
          <a:stretch>
            <a:fillRect/>
          </a:stretch>
        </p:blipFill>
        <p:spPr>
          <a:xfrm>
            <a:off x="548640" y="1783080"/>
            <a:ext cx="11064240" cy="3872484"/>
          </a:xfrm>
          <a:prstGeom prst="rect">
            <a:avLst/>
          </a:prstGeom>
        </p:spPr>
      </p:pic>
      <p:sp>
        <p:nvSpPr>
          <p:cNvPr id="5" name="TextBox 4"/>
          <p:cNvSpPr txBox="1"/>
          <p:nvPr/>
        </p:nvSpPr>
        <p:spPr>
          <a:xfrm>
            <a:off x="548640" y="6400800"/>
            <a:ext cx="11064240" cy="274320"/>
          </a:xfrm>
          <a:prstGeom prst="rect">
            <a:avLst/>
          </a:prstGeom>
          <a:noFill/>
        </p:spPr>
        <p:txBody>
          <a:bodyPr wrap="square" lIns="0" rIns="0" tIns="0" bIns="0" anchor="t">
            <a:spAutoFit/>
          </a:bodyPr>
          <a:lstStyle/>
          <a:p>
            <a:pPr algn="l">
              <a:spcAft>
                <a:spcPts val="0"/>
              </a:spcAft>
            </a:pPr>
            <a:r>
              <a:rPr sz="1000" b="0" i="0">
                <a:solidFill>
                  <a:srgbClr val="5B6770"/>
                </a:solidFill>
                <a:latin typeface="Calibri"/>
              </a:rPr>
              <a:t>figures/a1_roadside_growth.gif. Plays in slide-show mode. A version continued to 2026 on GHSL's projection is in figures/.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When distance becomes time</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The corridors redrawn so that length is loaded-truck travel time; dots mark each hour</a:t>
            </a:r>
          </a:p>
        </p:txBody>
      </p:sp>
      <p:pic>
        <p:nvPicPr>
          <p:cNvPr id="4" name="Picture 3" descr="g04.png"/>
          <p:cNvPicPr>
            <a:picLocks noChangeAspect="1"/>
          </p:cNvPicPr>
          <p:nvPr/>
        </p:nvPicPr>
        <p:blipFill>
          <a:blip r:embed="rId2"/>
          <a:stretch>
            <a:fillRect/>
          </a:stretch>
        </p:blipFill>
        <p:spPr>
          <a:xfrm>
            <a:off x="822960" y="1691640"/>
            <a:ext cx="8849532" cy="4572000"/>
          </a:xfrm>
          <a:prstGeom prst="rect">
            <a:avLst/>
          </a:prstGeom>
        </p:spPr>
      </p:pic>
      <p:sp>
        <p:nvSpPr>
          <p:cNvPr id="5" name="TextBox 4"/>
          <p:cNvSpPr txBox="1"/>
          <p:nvPr/>
        </p:nvSpPr>
        <p:spPr>
          <a:xfrm>
            <a:off x="548640" y="6400800"/>
            <a:ext cx="11064240" cy="274320"/>
          </a:xfrm>
          <a:prstGeom prst="rect">
            <a:avLst/>
          </a:prstGeom>
          <a:noFill/>
        </p:spPr>
        <p:txBody>
          <a:bodyPr wrap="square" lIns="0" rIns="0" tIns="0" bIns="0" anchor="t">
            <a:spAutoFit/>
          </a:bodyPr>
          <a:lstStyle/>
          <a:p>
            <a:pPr algn="l">
              <a:spcAft>
                <a:spcPts val="0"/>
              </a:spcAft>
            </a:pPr>
            <a:r>
              <a:rPr sz="1000" b="0" i="0">
                <a:solidFill>
                  <a:srgbClr val="5B6770"/>
                </a:solidFill>
                <a:latin typeface="Calibri"/>
              </a:rPr>
              <a:t>figures/g04_time_map.png. Grey: the roads as mapped. Towns, controls and hills stretch the lines.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Result 5 · Controls are the quickest wins</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Truck minutes saved per trip leaving Kampala, by fix (central estimate)</a:t>
            </a:r>
          </a:p>
        </p:txBody>
      </p:sp>
      <p:graphicFrame>
        <p:nvGraphicFramePr>
          <p:cNvPr id="4" name="Chart 3"/>
          <p:cNvGraphicFramePr>
            <a:graphicFrameLocks noGrp="1"/>
          </p:cNvGraphicFramePr>
          <p:nvPr/>
        </p:nvGraphicFramePr>
        <p:xfrm>
          <a:off x="457200" y="1737360"/>
          <a:ext cx="7498079" cy="4572000"/>
        </p:xfrm>
        <a:graphic>
          <a:graphicData uri="http://schemas.openxmlformats.org/drawingml/2006/chart">
            <c:chart xmlns:c="http://schemas.openxmlformats.org/drawingml/2006/chart" r:id="rId2"/>
          </a:graphicData>
        </a:graphic>
      </p:graphicFrame>
      <p:sp>
        <p:nvSpPr>
          <p:cNvPr id="5" name="TextBox 4"/>
          <p:cNvSpPr txBox="1"/>
          <p:nvPr/>
        </p:nvSpPr>
        <p:spPr>
          <a:xfrm>
            <a:off x="8321040" y="1874519"/>
            <a:ext cx="3291840" cy="4389120"/>
          </a:xfrm>
          <a:prstGeom prst="rect">
            <a:avLst/>
          </a:prstGeom>
          <a:noFill/>
        </p:spPr>
        <p:txBody>
          <a:bodyPr wrap="square" lIns="0" rIns="0" tIns="0" bIns="0" anchor="t">
            <a:spAutoFit/>
          </a:bodyPr>
          <a:lstStyle/>
          <a:p>
            <a:pPr algn="l">
              <a:spcAft>
                <a:spcPts val="1000"/>
              </a:spcAft>
            </a:pPr>
            <a:r>
              <a:rPr sz="2800" b="1" i="0">
                <a:solidFill>
                  <a:srgbClr val="C4532D"/>
                </a:solidFill>
                <a:latin typeface="Cambria"/>
              </a:rPr>
              <a:t>US$42 M a year</a:t>
            </a:r>
          </a:p>
          <a:p>
            <a:pPr algn="l">
              <a:spcAft>
                <a:spcPts val="1000"/>
              </a:spcAft>
            </a:pPr>
            <a:r>
              <a:rPr sz="1400" b="0" i="0">
                <a:solidFill>
                  <a:srgbClr val="1E2528"/>
                </a:solidFill>
                <a:latin typeface="Calibri"/>
              </a:rPr>
              <a:t>is what delay costs heavy trucks on the four roads at central values (range several times wider: truck counts are assumed off the A1).</a:t>
            </a:r>
          </a:p>
          <a:p>
            <a:pPr algn="l">
              <a:spcAft>
                <a:spcPts val="1000"/>
              </a:spcAft>
            </a:pPr>
            <a:r>
              <a:rPr sz="1400" b="0" i="0">
                <a:solidFill>
                  <a:srgbClr val="5B6770"/>
                </a:solidFill>
                <a:latin typeface="Calibri"/>
              </a:rPr>
              <a:t>Weigh-in-motion and ending police stops save more per trip than bypasses in light traffic. Service roads help everywhere but need 125–270 km each.</a:t>
            </a:r>
          </a:p>
        </p:txBody>
      </p:sp>
      <p:sp>
        <p:nvSpPr>
          <p:cNvPr id="6" name="TextBox 5"/>
          <p:cNvSpPr txBox="1"/>
          <p:nvPr/>
        </p:nvSpPr>
        <p:spPr>
          <a:xfrm>
            <a:off x="548640" y="6400800"/>
            <a:ext cx="11064240" cy="274320"/>
          </a:xfrm>
          <a:prstGeom prst="rect">
            <a:avLst/>
          </a:prstGeom>
          <a:noFill/>
        </p:spPr>
        <p:txBody>
          <a:bodyPr wrap="square" lIns="0" rIns="0" tIns="0" bIns="0" anchor="t">
            <a:spAutoFit/>
          </a:bodyPr>
          <a:lstStyle/>
          <a:p>
            <a:pPr algn="l">
              <a:spcAft>
                <a:spcPts val="0"/>
              </a:spcAft>
            </a:pPr>
            <a:r>
              <a:rPr sz="1000" b="0" i="0">
                <a:solidFill>
                  <a:srgbClr val="5B6770"/>
                </a:solidFill>
                <a:latin typeface="Calibri"/>
              </a:rPr>
              <a:t>outputs/scenarios.csv, outputs/costs.csv (scripts 16, 17). Congestion relief from bypasses is not captured by the light-traffic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Result 6 · Settlements carry most of the risk</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Roadside settlements: share of people within 300 m vs share of exposure (people × trucks × speed⁴)</a:t>
            </a:r>
          </a:p>
        </p:txBody>
      </p:sp>
      <p:graphicFrame>
        <p:nvGraphicFramePr>
          <p:cNvPr id="4" name="Chart 3"/>
          <p:cNvGraphicFramePr>
            <a:graphicFrameLocks noGrp="1"/>
          </p:cNvGraphicFramePr>
          <p:nvPr/>
        </p:nvGraphicFramePr>
        <p:xfrm>
          <a:off x="457200" y="1737360"/>
          <a:ext cx="6949440" cy="4572000"/>
        </p:xfrm>
        <a:graphic>
          <a:graphicData uri="http://schemas.openxmlformats.org/drawingml/2006/chart">
            <c:chart xmlns:c="http://schemas.openxmlformats.org/drawingml/2006/chart" r:id="rId2"/>
          </a:graphicData>
        </a:graphic>
      </p:graphicFrame>
      <p:sp>
        <p:nvSpPr>
          <p:cNvPr id="5" name="Rounded Rectangle 4"/>
          <p:cNvSpPr/>
          <p:nvPr/>
        </p:nvSpPr>
        <p:spPr>
          <a:xfrm>
            <a:off x="7772400" y="1828800"/>
            <a:ext cx="3840480" cy="2103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2011680"/>
            <a:ext cx="3383280" cy="1828800"/>
          </a:xfrm>
          <a:prstGeom prst="rect">
            <a:avLst/>
          </a:prstGeom>
          <a:noFill/>
        </p:spPr>
        <p:txBody>
          <a:bodyPr wrap="square" lIns="0" rIns="0" tIns="0" bIns="0" anchor="t">
            <a:spAutoFit/>
          </a:bodyPr>
          <a:lstStyle/>
          <a:p>
            <a:pPr algn="l">
              <a:spcAft>
                <a:spcPts val="600"/>
              </a:spcAft>
            </a:pPr>
            <a:r>
              <a:rPr sz="2200" b="1" i="0">
                <a:solidFill>
                  <a:srgbClr val="C4532D"/>
                </a:solidFill>
                <a:latin typeface="Cambria"/>
              </a:rPr>
              <a:t>Trucks run at 55–60 km/h</a:t>
            </a:r>
          </a:p>
          <a:p>
            <a:pPr algn="l">
              <a:spcAft>
                <a:spcPts val="600"/>
              </a:spcAft>
            </a:pPr>
            <a:r>
              <a:rPr sz="1300" b="0" i="0">
                <a:solidFill>
                  <a:srgbClr val="1E2528"/>
                </a:solidFill>
                <a:latin typeface="Calibri"/>
              </a:rPr>
              <a:t>through settlements that are not classed as towns, so risk concentrates where people live between towns.</a:t>
            </a:r>
          </a:p>
        </p:txBody>
      </p:sp>
      <p:sp>
        <p:nvSpPr>
          <p:cNvPr id="7" name="Rounded Rectangle 6"/>
          <p:cNvSpPr/>
          <p:nvPr/>
        </p:nvSpPr>
        <p:spPr>
          <a:xfrm>
            <a:off x="7772400" y="4114800"/>
            <a:ext cx="3840480" cy="2103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4297680"/>
            <a:ext cx="3383280" cy="1828800"/>
          </a:xfrm>
          <a:prstGeom prst="rect">
            <a:avLst/>
          </a:prstGeom>
          <a:noFill/>
        </p:spPr>
        <p:txBody>
          <a:bodyPr wrap="square" lIns="0" rIns="0" tIns="0" bIns="0" anchor="t">
            <a:spAutoFit/>
          </a:bodyPr>
          <a:lstStyle/>
          <a:p>
            <a:pPr algn="l">
              <a:spcAft>
                <a:spcPts val="600"/>
              </a:spcAft>
            </a:pPr>
            <a:r>
              <a:rPr sz="2200" b="1" i="0">
                <a:solidFill>
                  <a:srgbClr val="17252A"/>
                </a:solidFill>
                <a:latin typeface="Cambria"/>
              </a:rPr>
              <a:t>5%–8% slower</a:t>
            </a:r>
          </a:p>
          <a:p>
            <a:pPr algn="l">
              <a:spcAft>
                <a:spcPts val="600"/>
              </a:spcAft>
            </a:pPr>
            <a:r>
              <a:rPr sz="1300" b="0" i="0">
                <a:solidFill>
                  <a:srgbClr val="1E2528"/>
                </a:solidFill>
                <a:latin typeface="Calibri"/>
              </a:rPr>
              <a:t>on a bad-rain day (95th percentile, 2006–2025) than on a typical day. The Malaba road is slowed on about 87 days a year.</a:t>
            </a:r>
          </a:p>
        </p:txBody>
      </p:sp>
      <p:sp>
        <p:nvSpPr>
          <p:cNvPr id="9" name="TextBox 8"/>
          <p:cNvSpPr txBox="1"/>
          <p:nvPr/>
        </p:nvSpPr>
        <p:spPr>
          <a:xfrm>
            <a:off x="548640" y="6400800"/>
            <a:ext cx="11064240" cy="274320"/>
          </a:xfrm>
          <a:prstGeom prst="rect">
            <a:avLst/>
          </a:prstGeom>
          <a:noFill/>
        </p:spPr>
        <p:txBody>
          <a:bodyPr wrap="square" lIns="0" rIns="0" tIns="0" bIns="0" anchor="t">
            <a:spAutoFit/>
          </a:bodyPr>
          <a:lstStyle/>
          <a:p>
            <a:pPr algn="l">
              <a:spcAft>
                <a:spcPts val="0"/>
              </a:spcAft>
            </a:pPr>
            <a:r>
              <a:rPr sz="1000" b="0" i="0">
                <a:solidFill>
                  <a:srgbClr val="5B6770"/>
                </a:solidFill>
                <a:latin typeface="Calibri"/>
              </a:rPr>
              <a:t>outputs/safety_by_type.csv, outputs/reliability.csv (scripts 18, 19). Exposure is not a crash rate; floods that close roads are not modelled.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12.png"/>
          <p:cNvPicPr>
            <a:picLocks noChangeAspect="1"/>
          </p:cNvPicPr>
          <p:nvPr/>
        </p:nvPicPr>
        <p:blipFill>
          <a:blip r:embed="rId2"/>
          <a:stretch>
            <a:fillRect/>
          </a:stretch>
        </p:blipFill>
        <p:spPr>
          <a:xfrm>
            <a:off x="365760" y="320040"/>
            <a:ext cx="5896644" cy="6217920"/>
          </a:xfrm>
          <a:prstGeom prst="rect">
            <a:avLst/>
          </a:prstGeom>
        </p:spPr>
      </p:pic>
      <p:sp>
        <p:nvSpPr>
          <p:cNvPr id="3" name="TextBox 2"/>
          <p:cNvSpPr txBox="1"/>
          <p:nvPr/>
        </p:nvSpPr>
        <p:spPr>
          <a:xfrm>
            <a:off x="6400800" y="411480"/>
            <a:ext cx="5303520" cy="1188720"/>
          </a:xfrm>
          <a:prstGeom prst="rect">
            <a:avLst/>
          </a:prstGeom>
          <a:noFill/>
        </p:spPr>
        <p:txBody>
          <a:bodyPr wrap="square" lIns="0" rIns="0" tIns="0" bIns="0" anchor="t">
            <a:spAutoFit/>
          </a:bodyPr>
          <a:lstStyle/>
          <a:p>
            <a:pPr algn="l">
              <a:spcAft>
                <a:spcPts val="0"/>
              </a:spcAft>
            </a:pPr>
            <a:r>
              <a:rPr sz="3000" b="1" i="0">
                <a:solidFill>
                  <a:srgbClr val="1E2528"/>
                </a:solidFill>
                <a:latin typeface="Cambria"/>
              </a:rPr>
              <a:t>Rail along the bottlenecks</a:t>
            </a:r>
          </a:p>
        </p:txBody>
      </p:sp>
      <p:sp>
        <p:nvSpPr>
          <p:cNvPr id="4" name="TextBox 3"/>
          <p:cNvSpPr txBox="1"/>
          <p:nvPr/>
        </p:nvSpPr>
        <p:spPr>
          <a:xfrm>
            <a:off x="6400800" y="1234440"/>
            <a:ext cx="5303520" cy="54864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Least-cost screening alignments and the existing metre-gauge railway</a:t>
            </a:r>
          </a:p>
        </p:txBody>
      </p:sp>
      <p:sp>
        <p:nvSpPr>
          <p:cNvPr id="5" name="TextBox 4"/>
          <p:cNvSpPr txBox="1"/>
          <p:nvPr/>
        </p:nvSpPr>
        <p:spPr>
          <a:xfrm>
            <a:off x="6400800" y="2011680"/>
            <a:ext cx="1463040" cy="640080"/>
          </a:xfrm>
          <a:prstGeom prst="rect">
            <a:avLst/>
          </a:prstGeom>
          <a:noFill/>
        </p:spPr>
        <p:txBody>
          <a:bodyPr wrap="square" lIns="0" rIns="0" tIns="0" bIns="0" anchor="t">
            <a:spAutoFit/>
          </a:bodyPr>
          <a:lstStyle/>
          <a:p>
            <a:pPr algn="l">
              <a:spcAft>
                <a:spcPts val="0"/>
              </a:spcAft>
            </a:pPr>
            <a:r>
              <a:rPr sz="2600" b="1" i="0">
                <a:solidFill>
                  <a:srgbClr val="C4532D"/>
                </a:solidFill>
                <a:latin typeface="Cambria"/>
              </a:rPr>
              <a:t>81%</a:t>
            </a:r>
          </a:p>
        </p:txBody>
      </p:sp>
      <p:sp>
        <p:nvSpPr>
          <p:cNvPr id="6" name="TextBox 5"/>
          <p:cNvSpPr txBox="1"/>
          <p:nvPr/>
        </p:nvSpPr>
        <p:spPr>
          <a:xfrm>
            <a:off x="8001000" y="2057400"/>
            <a:ext cx="3703320" cy="1188720"/>
          </a:xfrm>
          <a:prstGeom prst="rect">
            <a:avLst/>
          </a:prstGeom>
          <a:noFill/>
        </p:spPr>
        <p:txBody>
          <a:bodyPr wrap="square" lIns="0" rIns="0" tIns="0" bIns="0" anchor="t">
            <a:spAutoFit/>
          </a:bodyPr>
          <a:lstStyle/>
          <a:p>
            <a:pPr algn="l">
              <a:spcAft>
                <a:spcPts val="0"/>
              </a:spcAft>
            </a:pPr>
            <a:r>
              <a:rPr sz="1300" b="0" i="0">
                <a:solidFill>
                  <a:srgbClr val="1E2528"/>
                </a:solidFill>
                <a:latin typeface="Calibri"/>
              </a:rPr>
              <a:t>of the Malaba road's truck delay lies within 10 km of the railway the SGR follows; on the other roads, 16% or less.</a:t>
            </a:r>
          </a:p>
        </p:txBody>
      </p:sp>
      <p:sp>
        <p:nvSpPr>
          <p:cNvPr id="7" name="TextBox 6"/>
          <p:cNvSpPr txBox="1"/>
          <p:nvPr/>
        </p:nvSpPr>
        <p:spPr>
          <a:xfrm>
            <a:off x="6400800" y="3337560"/>
            <a:ext cx="1463040" cy="640080"/>
          </a:xfrm>
          <a:prstGeom prst="rect">
            <a:avLst/>
          </a:prstGeom>
          <a:noFill/>
        </p:spPr>
        <p:txBody>
          <a:bodyPr wrap="square" lIns="0" rIns="0" tIns="0" bIns="0" anchor="t">
            <a:spAutoFit/>
          </a:bodyPr>
          <a:lstStyle/>
          <a:p>
            <a:pPr algn="l">
              <a:spcAft>
                <a:spcPts val="0"/>
              </a:spcAft>
            </a:pPr>
            <a:r>
              <a:rPr sz="2600" b="1" i="0">
                <a:solidFill>
                  <a:srgbClr val="C4532D"/>
                </a:solidFill>
                <a:latin typeface="Cambria"/>
              </a:rPr>
              <a:t>17 h</a:t>
            </a:r>
          </a:p>
        </p:txBody>
      </p:sp>
      <p:sp>
        <p:nvSpPr>
          <p:cNvPr id="8" name="TextBox 7"/>
          <p:cNvSpPr txBox="1"/>
          <p:nvPr/>
        </p:nvSpPr>
        <p:spPr>
          <a:xfrm>
            <a:off x="8001000" y="3383280"/>
            <a:ext cx="3703320" cy="1188720"/>
          </a:xfrm>
          <a:prstGeom prst="rect">
            <a:avLst/>
          </a:prstGeom>
          <a:noFill/>
        </p:spPr>
        <p:txBody>
          <a:bodyPr wrap="square" lIns="0" rIns="0" tIns="0" bIns="0" anchor="t">
            <a:spAutoFit/>
          </a:bodyPr>
          <a:lstStyle/>
          <a:p>
            <a:pPr algn="l">
              <a:spcAft>
                <a:spcPts val="0"/>
              </a:spcAft>
            </a:pPr>
            <a:r>
              <a:rPr sz="1300" b="0" i="0">
                <a:solidFill>
                  <a:srgbClr val="1E2528"/>
                </a:solidFill>
                <a:latin typeface="Calibri"/>
              </a:rPr>
              <a:t>door to door by rail for domestic freight on the eastern line, against about 5 h by truck: terminals, not line-haul, set the time.</a:t>
            </a:r>
          </a:p>
        </p:txBody>
      </p:sp>
      <p:sp>
        <p:nvSpPr>
          <p:cNvPr id="9" name="TextBox 8"/>
          <p:cNvSpPr txBox="1"/>
          <p:nvPr/>
        </p:nvSpPr>
        <p:spPr>
          <a:xfrm>
            <a:off x="6400800" y="4663440"/>
            <a:ext cx="1463040" cy="640080"/>
          </a:xfrm>
          <a:prstGeom prst="rect">
            <a:avLst/>
          </a:prstGeom>
          <a:noFill/>
        </p:spPr>
        <p:txBody>
          <a:bodyPr wrap="square" lIns="0" rIns="0" tIns="0" bIns="0" anchor="t">
            <a:spAutoFit/>
          </a:bodyPr>
          <a:lstStyle/>
          <a:p>
            <a:pPr algn="l">
              <a:spcAft>
                <a:spcPts val="0"/>
              </a:spcAft>
            </a:pPr>
            <a:r>
              <a:rPr sz="2600" b="1" i="0">
                <a:solidFill>
                  <a:srgbClr val="C4532D"/>
                </a:solidFill>
                <a:latin typeface="Cambria"/>
              </a:rPr>
              <a:t>0.03</a:t>
            </a:r>
          </a:p>
        </p:txBody>
      </p:sp>
      <p:sp>
        <p:nvSpPr>
          <p:cNvPr id="10" name="TextBox 9"/>
          <p:cNvSpPr txBox="1"/>
          <p:nvPr/>
        </p:nvSpPr>
        <p:spPr>
          <a:xfrm>
            <a:off x="8001000" y="4709160"/>
            <a:ext cx="3703320" cy="1188720"/>
          </a:xfrm>
          <a:prstGeom prst="rect">
            <a:avLst/>
          </a:prstGeom>
          <a:noFill/>
        </p:spPr>
        <p:txBody>
          <a:bodyPr wrap="square" lIns="0" rIns="0" tIns="0" bIns="0" anchor="t">
            <a:spAutoFit/>
          </a:bodyPr>
          <a:lstStyle/>
          <a:p>
            <a:pPr algn="l">
              <a:spcAft>
                <a:spcPts val="0"/>
              </a:spcAft>
            </a:pPr>
            <a:r>
              <a:rPr sz="1300" b="0" i="0">
                <a:solidFill>
                  <a:srgbClr val="1E2528"/>
                </a:solidFill>
                <a:latin typeface="Calibri"/>
              </a:rPr>
              <a:t>benefit/cost for the eastern SGR even with through traffic from Mombasa (up to 0.15); about 93 Mt a year needed to break even.</a:t>
            </a:r>
          </a:p>
        </p:txBody>
      </p:sp>
      <p:sp>
        <p:nvSpPr>
          <p:cNvPr id="11" name="TextBox 10"/>
          <p:cNvSpPr txBox="1"/>
          <p:nvPr/>
        </p:nvSpPr>
        <p:spPr>
          <a:xfrm>
            <a:off x="6400800" y="5897880"/>
            <a:ext cx="5303520" cy="548640"/>
          </a:xfrm>
          <a:prstGeom prst="rect">
            <a:avLst/>
          </a:prstGeom>
          <a:noFill/>
        </p:spPr>
        <p:txBody>
          <a:bodyPr wrap="square" lIns="0" rIns="0" tIns="0" bIns="0" anchor="t">
            <a:spAutoFit/>
          </a:bodyPr>
          <a:lstStyle/>
          <a:p>
            <a:pPr algn="l">
              <a:spcAft>
                <a:spcPts val="0"/>
              </a:spcAft>
            </a:pPr>
            <a:r>
              <a:rPr sz="1200" b="0" i="1">
                <a:solidFill>
                  <a:srgbClr val="5B6770"/>
                </a:solidFill>
                <a:latin typeface="Calibri"/>
              </a:rPr>
              <a:t>Counting only freight costs and CO2 from today's Ugandan traffic: transit growth, passengers and congestion relief carry the case.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Discussion</a:t>
            </a:r>
          </a:p>
        </p:txBody>
      </p:sp>
      <p:sp>
        <p:nvSpPr>
          <p:cNvPr id="3" name="TextBox 2"/>
          <p:cNvSpPr txBox="1"/>
          <p:nvPr/>
        </p:nvSpPr>
        <p:spPr>
          <a:xfrm>
            <a:off x="548640" y="1115568"/>
            <a:ext cx="11064240" cy="457200"/>
          </a:xfrm>
          <a:prstGeom prst="rect">
            <a:avLst/>
          </a:prstGeom>
          <a:noFill/>
        </p:spPr>
        <p:txBody>
          <a:bodyPr wrap="square" lIns="0" rIns="0" tIns="0" bIns="0" anchor="t">
            <a:spAutoFit/>
          </a:bodyPr>
          <a:lstStyle/>
          <a:p>
            <a:pPr algn="l">
              <a:spcAft>
                <a:spcPts val="0"/>
              </a:spcAft>
            </a:pPr>
            <a:r>
              <a:rPr sz="1600" b="0" i="0">
                <a:solidFill>
                  <a:srgbClr val="5B6770"/>
                </a:solidFill>
                <a:latin typeface="Calibri"/>
              </a:rPr>
              <a:t>What the results suggest for corridor policy</a:t>
            </a:r>
          </a:p>
        </p:txBody>
      </p:sp>
      <p:sp>
        <p:nvSpPr>
          <p:cNvPr id="4" name="Rounded Rectangle 3"/>
          <p:cNvSpPr/>
          <p:nvPr/>
        </p:nvSpPr>
        <p:spPr>
          <a:xfrm>
            <a:off x="548640" y="1783080"/>
            <a:ext cx="5440680" cy="2103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057400"/>
            <a:ext cx="457200" cy="457200"/>
          </a:xfrm>
          <a:prstGeom prst="ellipse">
            <a:avLst/>
          </a:prstGeom>
          <a:solidFill>
            <a:srgbClr val="C45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1463040" y="2084831"/>
            <a:ext cx="4297680" cy="411480"/>
          </a:xfrm>
          <a:prstGeom prst="rect">
            <a:avLst/>
          </a:prstGeom>
          <a:noFill/>
        </p:spPr>
        <p:txBody>
          <a:bodyPr wrap="square" lIns="0" rIns="0" tIns="0" bIns="0" anchor="t">
            <a:spAutoFit/>
          </a:bodyPr>
          <a:lstStyle/>
          <a:p>
            <a:pPr algn="l">
              <a:spcAft>
                <a:spcPts val="0"/>
              </a:spcAft>
            </a:pPr>
            <a:r>
              <a:rPr sz="1900" b="1" i="0">
                <a:solidFill>
                  <a:srgbClr val="1E2528"/>
                </a:solidFill>
                <a:latin typeface="Cambria"/>
              </a:rPr>
              <a:t>Settlement is the chronic problem</a:t>
            </a:r>
          </a:p>
        </p:txBody>
      </p:sp>
      <p:sp>
        <p:nvSpPr>
          <p:cNvPr id="7" name="TextBox 6"/>
          <p:cNvSpPr txBox="1"/>
          <p:nvPr/>
        </p:nvSpPr>
        <p:spPr>
          <a:xfrm>
            <a:off x="1463040" y="2560320"/>
            <a:ext cx="4297680" cy="128016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Roadside activity costs the most time on three of four roads and is growing fastest where it is newest. Access management, service roads and planned trading centres off the carriageway address the cause, not the symptom.</a:t>
            </a:r>
          </a:p>
        </p:txBody>
      </p:sp>
      <p:sp>
        <p:nvSpPr>
          <p:cNvPr id="8" name="Rounded Rectangle 7"/>
          <p:cNvSpPr/>
          <p:nvPr/>
        </p:nvSpPr>
        <p:spPr>
          <a:xfrm>
            <a:off x="6172200" y="1783080"/>
            <a:ext cx="5440680" cy="2103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2057400"/>
            <a:ext cx="457200" cy="457200"/>
          </a:xfrm>
          <a:prstGeom prst="ellipse">
            <a:avLst/>
          </a:prstGeom>
          <a:solidFill>
            <a:srgbClr val="1725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0" name="TextBox 9"/>
          <p:cNvSpPr txBox="1"/>
          <p:nvPr/>
        </p:nvSpPr>
        <p:spPr>
          <a:xfrm>
            <a:off x="7086600" y="2084831"/>
            <a:ext cx="4297680" cy="411480"/>
          </a:xfrm>
          <a:prstGeom prst="rect">
            <a:avLst/>
          </a:prstGeom>
          <a:noFill/>
        </p:spPr>
        <p:txBody>
          <a:bodyPr wrap="square" lIns="0" rIns="0" tIns="0" bIns="0" anchor="t">
            <a:spAutoFit/>
          </a:bodyPr>
          <a:lstStyle/>
          <a:p>
            <a:pPr algn="l">
              <a:spcAft>
                <a:spcPts val="0"/>
              </a:spcAft>
            </a:pPr>
            <a:r>
              <a:rPr sz="1900" b="1" i="0">
                <a:solidFill>
                  <a:srgbClr val="1E2528"/>
                </a:solidFill>
                <a:latin typeface="Cambria"/>
              </a:rPr>
              <a:t>Controls are the cheap wins</a:t>
            </a:r>
          </a:p>
        </p:txBody>
      </p:sp>
      <p:sp>
        <p:nvSpPr>
          <p:cNvPr id="11" name="TextBox 10"/>
          <p:cNvSpPr txBox="1"/>
          <p:nvPr/>
        </p:nvSpPr>
        <p:spPr>
          <a:xfrm>
            <a:off x="7086600" y="2560320"/>
            <a:ext cx="4297680" cy="128016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Weighbridges and police posts produce the worst single stretches. Weigh-in-motion screening saves 8–16 truck minutes per trip and ending police stops 4–15; bypasses save 2–5 in light traffic.</a:t>
            </a:r>
          </a:p>
        </p:txBody>
      </p:sp>
      <p:sp>
        <p:nvSpPr>
          <p:cNvPr id="12" name="Rounded Rectangle 11"/>
          <p:cNvSpPr/>
          <p:nvPr/>
        </p:nvSpPr>
        <p:spPr>
          <a:xfrm>
            <a:off x="548640" y="4069080"/>
            <a:ext cx="5440680" cy="2103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4343400"/>
            <a:ext cx="457200" cy="457200"/>
          </a:xfrm>
          <a:prstGeom prst="ellipse">
            <a:avLst/>
          </a:prstGeom>
          <a:solidFill>
            <a:srgbClr val="3A7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4" name="TextBox 13"/>
          <p:cNvSpPr txBox="1"/>
          <p:nvPr/>
        </p:nvSpPr>
        <p:spPr>
          <a:xfrm>
            <a:off x="1463040" y="4370832"/>
            <a:ext cx="4297680" cy="411480"/>
          </a:xfrm>
          <a:prstGeom prst="rect">
            <a:avLst/>
          </a:prstGeom>
          <a:noFill/>
        </p:spPr>
        <p:txBody>
          <a:bodyPr wrap="square" lIns="0" rIns="0" tIns="0" bIns="0" anchor="t">
            <a:spAutoFit/>
          </a:bodyPr>
          <a:lstStyle/>
          <a:p>
            <a:pPr algn="l">
              <a:spcAft>
                <a:spcPts val="0"/>
              </a:spcAft>
            </a:pPr>
            <a:r>
              <a:rPr sz="1900" b="1" i="0">
                <a:solidFill>
                  <a:srgbClr val="1E2528"/>
                </a:solidFill>
                <a:latin typeface="Cambria"/>
              </a:rPr>
              <a:t>Kampala's problem is congestion</a:t>
            </a:r>
          </a:p>
        </p:txBody>
      </p:sp>
      <p:sp>
        <p:nvSpPr>
          <p:cNvPr id="15" name="TextBox 14"/>
          <p:cNvSpPr txBox="1"/>
          <p:nvPr/>
        </p:nvSpPr>
        <p:spPr>
          <a:xfrm>
            <a:off x="1463040" y="4846320"/>
            <a:ext cx="4297680" cy="128016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The gap between modelled and observed Kampala–Jinja trips is congestion. The expressway and urban traffic management matter there more than roadside fixes.</a:t>
            </a:r>
          </a:p>
        </p:txBody>
      </p:sp>
      <p:sp>
        <p:nvSpPr>
          <p:cNvPr id="16" name="Rounded Rectangle 15"/>
          <p:cNvSpPr/>
          <p:nvPr/>
        </p:nvSpPr>
        <p:spPr>
          <a:xfrm>
            <a:off x="6172200" y="4069080"/>
            <a:ext cx="5440680" cy="210312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4343400"/>
            <a:ext cx="457200" cy="457200"/>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8" name="TextBox 17"/>
          <p:cNvSpPr txBox="1"/>
          <p:nvPr/>
        </p:nvSpPr>
        <p:spPr>
          <a:xfrm>
            <a:off x="7086600" y="4370832"/>
            <a:ext cx="4297680" cy="411480"/>
          </a:xfrm>
          <a:prstGeom prst="rect">
            <a:avLst/>
          </a:prstGeom>
          <a:noFill/>
        </p:spPr>
        <p:txBody>
          <a:bodyPr wrap="square" lIns="0" rIns="0" tIns="0" bIns="0" anchor="t">
            <a:spAutoFit/>
          </a:bodyPr>
          <a:lstStyle/>
          <a:p>
            <a:pPr algn="l">
              <a:spcAft>
                <a:spcPts val="0"/>
              </a:spcAft>
            </a:pPr>
            <a:r>
              <a:rPr sz="1900" b="1" i="0">
                <a:solidFill>
                  <a:srgbClr val="1E2528"/>
                </a:solidFill>
                <a:latin typeface="Cambria"/>
              </a:rPr>
              <a:t>Growth outpaces the road</a:t>
            </a:r>
          </a:p>
        </p:txBody>
      </p:sp>
      <p:sp>
        <p:nvSpPr>
          <p:cNvPr id="19" name="TextBox 18"/>
          <p:cNvSpPr txBox="1"/>
          <p:nvPr/>
        </p:nvSpPr>
        <p:spPr>
          <a:xfrm>
            <a:off x="7086600" y="4846320"/>
            <a:ext cx="4297680" cy="128016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At 27–68% in 20 years, today's open road is tomorrow's settlement. Land-use control along the corridors is time-critical.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spcAft>
                <a:spcPts val="0"/>
              </a:spcAft>
            </a:pPr>
            <a:r>
              <a:rPr sz="3400" b="1" i="0">
                <a:solidFill>
                  <a:srgbClr val="1E2528"/>
                </a:solidFill>
                <a:latin typeface="Cambria"/>
              </a:rPr>
              <a:t>Limitations and next steps</a:t>
            </a:r>
          </a:p>
        </p:txBody>
      </p:sp>
      <p:sp>
        <p:nvSpPr>
          <p:cNvPr id="3" name="Rounded Rectangle 2"/>
          <p:cNvSpPr/>
          <p:nvPr/>
        </p:nvSpPr>
        <p:spPr>
          <a:xfrm>
            <a:off x="548640" y="1417320"/>
            <a:ext cx="6675120" cy="105156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6217920" cy="365760"/>
          </a:xfrm>
          <a:prstGeom prst="rect">
            <a:avLst/>
          </a:prstGeom>
          <a:noFill/>
        </p:spPr>
        <p:txBody>
          <a:bodyPr wrap="square" lIns="0" rIns="0" tIns="0" bIns="0" anchor="t">
            <a:spAutoFit/>
          </a:bodyPr>
          <a:lstStyle/>
          <a:p>
            <a:pPr algn="l">
              <a:spcAft>
                <a:spcPts val="0"/>
              </a:spcAft>
            </a:pPr>
            <a:r>
              <a:rPr sz="1700" b="1" i="0">
                <a:solidFill>
                  <a:srgbClr val="1E2528"/>
                </a:solidFill>
                <a:latin typeface="Calibri"/>
              </a:rPr>
              <a:t>Congestion is not modelled</a:t>
            </a:r>
          </a:p>
        </p:txBody>
      </p:sp>
      <p:sp>
        <p:nvSpPr>
          <p:cNvPr id="5" name="TextBox 4"/>
          <p:cNvSpPr txBox="1"/>
          <p:nvPr/>
        </p:nvSpPr>
        <p:spPr>
          <a:xfrm>
            <a:off x="822960" y="1920240"/>
            <a:ext cx="6217920" cy="50292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Results describe light traffic; peak-hour delay near Kampala is larger.</a:t>
            </a:r>
          </a:p>
        </p:txBody>
      </p:sp>
      <p:sp>
        <p:nvSpPr>
          <p:cNvPr id="6" name="Rounded Rectangle 5"/>
          <p:cNvSpPr/>
          <p:nvPr/>
        </p:nvSpPr>
        <p:spPr>
          <a:xfrm>
            <a:off x="548640" y="2606040"/>
            <a:ext cx="6675120" cy="105156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6217920" cy="365760"/>
          </a:xfrm>
          <a:prstGeom prst="rect">
            <a:avLst/>
          </a:prstGeom>
          <a:noFill/>
        </p:spPr>
        <p:txBody>
          <a:bodyPr wrap="square" lIns="0" rIns="0" tIns="0" bIns="0" anchor="t">
            <a:spAutoFit/>
          </a:bodyPr>
          <a:lstStyle/>
          <a:p>
            <a:pPr algn="l">
              <a:spcAft>
                <a:spcPts val="0"/>
              </a:spcAft>
            </a:pPr>
            <a:r>
              <a:rPr sz="1700" b="1" i="0">
                <a:solidFill>
                  <a:srgbClr val="1E2528"/>
                </a:solidFill>
                <a:latin typeface="Calibri"/>
              </a:rPr>
              <a:t>Speed humps are under-mapped</a:t>
            </a:r>
          </a:p>
        </p:txBody>
      </p:sp>
      <p:sp>
        <p:nvSpPr>
          <p:cNvPr id="8" name="TextBox 7"/>
          <p:cNvSpPr txBox="1"/>
          <p:nvPr/>
        </p:nvSpPr>
        <p:spPr>
          <a:xfrm>
            <a:off x="822960" y="3108960"/>
            <a:ext cx="6217920" cy="50292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OSM holds &lt; 60 on all four roads; one per town piece is assumed (range 0–2).</a:t>
            </a:r>
          </a:p>
        </p:txBody>
      </p:sp>
      <p:sp>
        <p:nvSpPr>
          <p:cNvPr id="9" name="Rounded Rectangle 8"/>
          <p:cNvSpPr/>
          <p:nvPr/>
        </p:nvSpPr>
        <p:spPr>
          <a:xfrm>
            <a:off x="548640" y="3794760"/>
            <a:ext cx="6675120" cy="105156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931920"/>
            <a:ext cx="6217920" cy="365760"/>
          </a:xfrm>
          <a:prstGeom prst="rect">
            <a:avLst/>
          </a:prstGeom>
          <a:noFill/>
        </p:spPr>
        <p:txBody>
          <a:bodyPr wrap="square" lIns="0" rIns="0" tIns="0" bIns="0" anchor="t">
            <a:spAutoFit/>
          </a:bodyPr>
          <a:lstStyle/>
          <a:p>
            <a:pPr algn="l">
              <a:spcAft>
                <a:spcPts val="0"/>
              </a:spcAft>
            </a:pPr>
            <a:r>
              <a:rPr sz="1700" b="1" i="0">
                <a:solidFill>
                  <a:srgbClr val="1E2528"/>
                </a:solidFill>
                <a:latin typeface="Calibri"/>
              </a:rPr>
              <a:t>Stop times are assumptions</a:t>
            </a:r>
          </a:p>
        </p:txBody>
      </p:sp>
      <p:sp>
        <p:nvSpPr>
          <p:cNvPr id="11" name="TextBox 10"/>
          <p:cNvSpPr txBox="1"/>
          <p:nvPr/>
        </p:nvSpPr>
        <p:spPr>
          <a:xfrm>
            <a:off x="822960" y="4297680"/>
            <a:ext cx="6217920" cy="50292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Police posts 0–5 min, weighbridges ~10 min; rankings on the A1 depend on them.</a:t>
            </a:r>
          </a:p>
        </p:txBody>
      </p:sp>
      <p:sp>
        <p:nvSpPr>
          <p:cNvPr id="12" name="Rounded Rectangle 11"/>
          <p:cNvSpPr/>
          <p:nvPr/>
        </p:nvSpPr>
        <p:spPr>
          <a:xfrm>
            <a:off x="548640" y="4983480"/>
            <a:ext cx="6675120" cy="1051560"/>
          </a:xfrm>
          <a:prstGeom prst="roundRect">
            <a:avLst>
              <a:gd name="adj" fmla="val 6000"/>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120640"/>
            <a:ext cx="6217920" cy="365760"/>
          </a:xfrm>
          <a:prstGeom prst="rect">
            <a:avLst/>
          </a:prstGeom>
          <a:noFill/>
        </p:spPr>
        <p:txBody>
          <a:bodyPr wrap="square" lIns="0" rIns="0" tIns="0" bIns="0" anchor="t">
            <a:spAutoFit/>
          </a:bodyPr>
          <a:lstStyle/>
          <a:p>
            <a:pPr algn="l">
              <a:spcAft>
                <a:spcPts val="0"/>
              </a:spcAft>
            </a:pPr>
            <a:r>
              <a:rPr sz="1700" b="1" i="0">
                <a:solidFill>
                  <a:srgbClr val="1E2528"/>
                </a:solidFill>
                <a:latin typeface="Calibri"/>
              </a:rPr>
              <a:t>Growth data end in 2020</a:t>
            </a:r>
          </a:p>
        </p:txBody>
      </p:sp>
      <p:sp>
        <p:nvSpPr>
          <p:cNvPr id="14" name="TextBox 13"/>
          <p:cNvSpPr txBox="1"/>
          <p:nvPr/>
        </p:nvSpPr>
        <p:spPr>
          <a:xfrm>
            <a:off x="822960" y="5486400"/>
            <a:ext cx="6217920" cy="502920"/>
          </a:xfrm>
          <a:prstGeom prst="rect">
            <a:avLst/>
          </a:prstGeom>
          <a:noFill/>
        </p:spPr>
        <p:txBody>
          <a:bodyPr wrap="square" lIns="0" rIns="0" tIns="0" bIns="0" anchor="t">
            <a:spAutoFit/>
          </a:bodyPr>
          <a:lstStyle/>
          <a:p>
            <a:pPr algn="l">
              <a:spcAft>
                <a:spcPts val="0"/>
              </a:spcAft>
            </a:pPr>
            <a:r>
              <a:rPr sz="1400" b="0" i="0">
                <a:solidFill>
                  <a:srgbClr val="5B6770"/>
                </a:solidFill>
                <a:latin typeface="Calibri"/>
              </a:rPr>
              <a:t>GHSL's projection to 2026 is slower than the observed trend; Open Buildings Temporal would extend it.</a:t>
            </a:r>
          </a:p>
        </p:txBody>
      </p:sp>
      <p:sp>
        <p:nvSpPr>
          <p:cNvPr id="15" name="Rounded Rectangle 14"/>
          <p:cNvSpPr/>
          <p:nvPr/>
        </p:nvSpPr>
        <p:spPr>
          <a:xfrm>
            <a:off x="7589520" y="1417320"/>
            <a:ext cx="4023360" cy="4617720"/>
          </a:xfrm>
          <a:prstGeom prst="roundRect">
            <a:avLst>
              <a:gd name="adj" fmla="val 6000"/>
            </a:avLst>
          </a:prstGeom>
          <a:solidFill>
            <a:srgbClr val="172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1691640"/>
            <a:ext cx="3474720" cy="4206240"/>
          </a:xfrm>
          <a:prstGeom prst="rect">
            <a:avLst/>
          </a:prstGeom>
          <a:noFill/>
        </p:spPr>
        <p:txBody>
          <a:bodyPr wrap="square" lIns="0" rIns="0" tIns="0" bIns="0" anchor="t">
            <a:spAutoFit/>
          </a:bodyPr>
          <a:lstStyle/>
          <a:p>
            <a:pPr algn="l">
              <a:spcAft>
                <a:spcPts val="1200"/>
              </a:spcAft>
            </a:pPr>
            <a:r>
              <a:rPr sz="2200" b="1" i="0">
                <a:solidFill>
                  <a:srgbClr val="FFFFFF"/>
                </a:solidFill>
                <a:latin typeface="Cambria"/>
              </a:rPr>
              <a:t>Next steps</a:t>
            </a:r>
          </a:p>
          <a:p>
            <a:pPr algn="l">
              <a:spcAft>
                <a:spcPts val="1200"/>
              </a:spcAft>
            </a:pPr>
            <a:r>
              <a:rPr sz="1500" b="0" i="0">
                <a:solidFill>
                  <a:srgbClr val="B8C7C4"/>
                </a:solidFill>
                <a:latin typeface="Calibri"/>
              </a:rPr>
              <a:t>Report cause rankings with their Monte Carlo shares</a:t>
            </a:r>
          </a:p>
          <a:p>
            <a:pPr algn="l">
              <a:spcAft>
                <a:spcPts val="1200"/>
              </a:spcAft>
            </a:pPr>
            <a:r>
              <a:rPr sz="1500" b="0" i="0">
                <a:solidFill>
                  <a:srgbClr val="B8C7C4"/>
                </a:solidFill>
                <a:latin typeface="Calibri"/>
              </a:rPr>
              <a:t>Swap GLO-30 for FABDEM terrain</a:t>
            </a:r>
          </a:p>
          <a:p>
            <a:pPr algn="l">
              <a:spcAft>
                <a:spcPts val="1200"/>
              </a:spcAft>
            </a:pPr>
            <a:r>
              <a:rPr sz="1500" b="0" i="0">
                <a:solidFill>
                  <a:srgbClr val="B8C7C4"/>
                </a:solidFill>
                <a:latin typeface="Calibri"/>
              </a:rPr>
              <a:t>Observe post-2020 growth with Open Buildings 2.5D Temporal</a:t>
            </a:r>
          </a:p>
          <a:p>
            <a:pPr algn="l">
              <a:spcAft>
                <a:spcPts val="1200"/>
              </a:spcAft>
            </a:pPr>
            <a:r>
              <a:rPr sz="1500" b="0" i="0">
                <a:solidFill>
                  <a:srgbClr val="B8C7C4"/>
                </a:solidFill>
                <a:latin typeface="Calibri"/>
              </a:rPr>
              <a:t>Replace assumed truck counts with UNRA counts</a:t>
            </a:r>
          </a:p>
          <a:p>
            <a:pPr algn="l">
              <a:spcAft>
                <a:spcPts val="1200"/>
              </a:spcAft>
            </a:pPr>
            <a:r>
              <a:rPr sz="1500" b="0" i="0">
                <a:solidFill>
                  <a:srgbClr val="B8C7C4"/>
                </a:solidFill>
                <a:latin typeface="Calibri"/>
              </a:rPr>
              <a:t>Write up the paper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52A"/>
        </a:solidFill>
        <a:effectLst/>
      </p:bgPr>
    </p:bg>
    <p:spTree>
      <p:nvGrpSpPr>
        <p:cNvPr id="1" name=""/>
        <p:cNvGrpSpPr/>
        <p:nvPr/>
      </p:nvGrpSpPr>
      <p:grpSpPr/>
      <p:sp>
        <p:nvSpPr>
          <p:cNvPr id="2" name="TextBox 1"/>
          <p:cNvSpPr txBox="1"/>
          <p:nvPr/>
        </p:nvSpPr>
        <p:spPr>
          <a:xfrm>
            <a:off x="640080" y="1097280"/>
            <a:ext cx="10881360" cy="457200"/>
          </a:xfrm>
          <a:prstGeom prst="rect">
            <a:avLst/>
          </a:prstGeom>
          <a:noFill/>
        </p:spPr>
        <p:txBody>
          <a:bodyPr wrap="square" lIns="0" rIns="0" tIns="0" bIns="0" anchor="t">
            <a:spAutoFit/>
          </a:bodyPr>
          <a:lstStyle/>
          <a:p>
            <a:pPr algn="l">
              <a:spcAft>
                <a:spcPts val="0"/>
              </a:spcAft>
            </a:pPr>
            <a:r>
              <a:rPr sz="1300" b="1" i="0">
                <a:solidFill>
                  <a:srgbClr val="D9A441"/>
                </a:solidFill>
                <a:latin typeface="Calibri"/>
              </a:rPr>
              <a:t>CONCLUSION</a:t>
            </a:r>
          </a:p>
        </p:txBody>
      </p:sp>
      <p:sp>
        <p:nvSpPr>
          <p:cNvPr id="3" name="TextBox 2"/>
          <p:cNvSpPr txBox="1"/>
          <p:nvPr/>
        </p:nvSpPr>
        <p:spPr>
          <a:xfrm>
            <a:off x="640080" y="1600200"/>
            <a:ext cx="10881360" cy="1371600"/>
          </a:xfrm>
          <a:prstGeom prst="rect">
            <a:avLst/>
          </a:prstGeom>
          <a:noFill/>
        </p:spPr>
        <p:txBody>
          <a:bodyPr wrap="square" lIns="0" rIns="0" tIns="0" bIns="0" anchor="t">
            <a:spAutoFit/>
          </a:bodyPr>
          <a:lstStyle/>
          <a:p>
            <a:pPr algn="l">
              <a:spcAft>
                <a:spcPts val="0"/>
              </a:spcAft>
            </a:pPr>
            <a:r>
              <a:rPr sz="3400" b="1" i="0">
                <a:solidFill>
                  <a:srgbClr val="FFFFFF"/>
                </a:solidFill>
                <a:latin typeface="Cambria"/>
              </a:rPr>
              <a:t>Uganda's corridors are becoming high streets faster than they are being managed as highways.</a:t>
            </a:r>
          </a:p>
        </p:txBody>
      </p:sp>
      <p:sp>
        <p:nvSpPr>
          <p:cNvPr id="4" name="Oval 3"/>
          <p:cNvSpPr/>
          <p:nvPr/>
        </p:nvSpPr>
        <p:spPr>
          <a:xfrm>
            <a:off x="640080" y="3246120"/>
            <a:ext cx="502920" cy="502920"/>
          </a:xfrm>
          <a:prstGeom prst="ellipse">
            <a:avLst/>
          </a:prstGeom>
          <a:solidFill>
            <a:srgbClr val="C45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5" name="TextBox 4"/>
          <p:cNvSpPr txBox="1"/>
          <p:nvPr/>
        </p:nvSpPr>
        <p:spPr>
          <a:xfrm>
            <a:off x="1417320" y="3264408"/>
            <a:ext cx="10058400" cy="502920"/>
          </a:xfrm>
          <a:prstGeom prst="rect">
            <a:avLst/>
          </a:prstGeom>
          <a:noFill/>
        </p:spPr>
        <p:txBody>
          <a:bodyPr wrap="square" lIns="0" rIns="0" tIns="0" bIns="0" anchor="ctr">
            <a:spAutoFit/>
          </a:bodyPr>
          <a:lstStyle/>
          <a:p>
            <a:pPr algn="l">
              <a:spcAft>
                <a:spcPts val="0"/>
              </a:spcAft>
            </a:pPr>
            <a:r>
              <a:rPr sz="1900" b="0" i="0">
                <a:solidFill>
                  <a:srgbClr val="B8C7C4"/>
                </a:solidFill>
                <a:latin typeface="Calibri"/>
              </a:rPr>
              <a:t>Open data alone reproduce trip times within a few percent, outside Kampala.</a:t>
            </a:r>
          </a:p>
        </p:txBody>
      </p:sp>
      <p:sp>
        <p:nvSpPr>
          <p:cNvPr id="6" name="Oval 5"/>
          <p:cNvSpPr/>
          <p:nvPr/>
        </p:nvSpPr>
        <p:spPr>
          <a:xfrm>
            <a:off x="640080" y="3904487"/>
            <a:ext cx="502920" cy="502920"/>
          </a:xfrm>
          <a:prstGeom prst="ellipse">
            <a:avLst/>
          </a:prstGeom>
          <a:solidFill>
            <a:srgbClr val="C45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7" name="TextBox 6"/>
          <p:cNvSpPr txBox="1"/>
          <p:nvPr/>
        </p:nvSpPr>
        <p:spPr>
          <a:xfrm>
            <a:off x="1417320" y="3922775"/>
            <a:ext cx="10058400" cy="502920"/>
          </a:xfrm>
          <a:prstGeom prst="rect">
            <a:avLst/>
          </a:prstGeom>
          <a:noFill/>
        </p:spPr>
        <p:txBody>
          <a:bodyPr wrap="square" lIns="0" rIns="0" tIns="0" bIns="0" anchor="ctr">
            <a:spAutoFit/>
          </a:bodyPr>
          <a:lstStyle/>
          <a:p>
            <a:pPr algn="l">
              <a:spcAft>
                <a:spcPts val="0"/>
              </a:spcAft>
            </a:pPr>
            <a:r>
              <a:rPr sz="1900" b="0" i="0">
                <a:solidFill>
                  <a:srgbClr val="B8C7C4"/>
                </a:solidFill>
                <a:latin typeface="Calibri"/>
              </a:rPr>
              <a:t>Roadside activity is the largest steady delay; weighbridges are the worst single points.</a:t>
            </a:r>
          </a:p>
        </p:txBody>
      </p:sp>
      <p:sp>
        <p:nvSpPr>
          <p:cNvPr id="8" name="Oval 7"/>
          <p:cNvSpPr/>
          <p:nvPr/>
        </p:nvSpPr>
        <p:spPr>
          <a:xfrm>
            <a:off x="640080" y="4562855"/>
            <a:ext cx="502920" cy="502920"/>
          </a:xfrm>
          <a:prstGeom prst="ellipse">
            <a:avLst/>
          </a:prstGeom>
          <a:solidFill>
            <a:srgbClr val="C45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9" name="TextBox 8"/>
          <p:cNvSpPr txBox="1"/>
          <p:nvPr/>
        </p:nvSpPr>
        <p:spPr>
          <a:xfrm>
            <a:off x="1417320" y="4581143"/>
            <a:ext cx="10058400" cy="502920"/>
          </a:xfrm>
          <a:prstGeom prst="rect">
            <a:avLst/>
          </a:prstGeom>
          <a:noFill/>
        </p:spPr>
        <p:txBody>
          <a:bodyPr wrap="square" lIns="0" rIns="0" tIns="0" bIns="0" anchor="ctr">
            <a:spAutoFit/>
          </a:bodyPr>
          <a:lstStyle/>
          <a:p>
            <a:pPr algn="l">
              <a:spcAft>
                <a:spcPts val="0"/>
              </a:spcAft>
            </a:pPr>
            <a:r>
              <a:rPr sz="1900" b="0" i="0">
                <a:solidFill>
                  <a:srgbClr val="B8C7C4"/>
                </a:solidFill>
                <a:latin typeface="Calibri"/>
              </a:rPr>
              <a:t>Roadside building grew 27–68% in 2000–2020, mostly between towns.</a:t>
            </a:r>
          </a:p>
        </p:txBody>
      </p:sp>
      <p:sp>
        <p:nvSpPr>
          <p:cNvPr id="10" name="Oval 9"/>
          <p:cNvSpPr/>
          <p:nvPr/>
        </p:nvSpPr>
        <p:spPr>
          <a:xfrm>
            <a:off x="640080" y="5221223"/>
            <a:ext cx="502920" cy="502920"/>
          </a:xfrm>
          <a:prstGeom prst="ellipse">
            <a:avLst/>
          </a:prstGeom>
          <a:solidFill>
            <a:srgbClr val="C45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1" name="TextBox 10"/>
          <p:cNvSpPr txBox="1"/>
          <p:nvPr/>
        </p:nvSpPr>
        <p:spPr>
          <a:xfrm>
            <a:off x="1417320" y="5239511"/>
            <a:ext cx="10058400" cy="502920"/>
          </a:xfrm>
          <a:prstGeom prst="rect">
            <a:avLst/>
          </a:prstGeom>
          <a:noFill/>
        </p:spPr>
        <p:txBody>
          <a:bodyPr wrap="square" lIns="0" rIns="0" tIns="0" bIns="0" anchor="ctr">
            <a:spAutoFit/>
          </a:bodyPr>
          <a:lstStyle/>
          <a:p>
            <a:pPr algn="l">
              <a:spcAft>
                <a:spcPts val="0"/>
              </a:spcAft>
            </a:pPr>
            <a:r>
              <a:rPr sz="1900" b="0" i="0">
                <a:solidFill>
                  <a:srgbClr val="B8C7C4"/>
                </a:solidFill>
                <a:latin typeface="Calibri"/>
              </a:rPr>
              <a:t>Cheap fixes at controls beat bypasses; rail pays only with far more freight than today.</a:t>
            </a:r>
          </a:p>
        </p:txBody>
      </p:sp>
      <p:sp>
        <p:nvSpPr>
          <p:cNvPr id="12" name="TextBox 11"/>
          <p:cNvSpPr txBox="1"/>
          <p:nvPr/>
        </p:nvSpPr>
        <p:spPr>
          <a:xfrm>
            <a:off x="640080" y="5989320"/>
            <a:ext cx="10881360" cy="365760"/>
          </a:xfrm>
          <a:prstGeom prst="rect">
            <a:avLst/>
          </a:prstGeom>
          <a:noFill/>
        </p:spPr>
        <p:txBody>
          <a:bodyPr wrap="square" lIns="0" rIns="0" tIns="0" bIns="0" anchor="t">
            <a:spAutoFit/>
          </a:bodyPr>
          <a:lstStyle/>
          <a:p>
            <a:pPr algn="l">
              <a:spcAft>
                <a:spcPts val="0"/>
              </a:spcAft>
            </a:pPr>
            <a:r>
              <a:rPr sz="1300" b="0" i="0">
                <a:solidFill>
                  <a:srgbClr val="B8C7C4"/>
                </a:solidFill>
                <a:latin typeface="Calibri"/>
              </a:rPr>
              <a:t>Code, outputs, maps and animations: uganda-trade-corridors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