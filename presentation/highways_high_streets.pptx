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Model</c:v>
                </c:pt>
              </c:strCache>
            </c:strRef>
          </c:tx>
          <c:spPr>
            <a:solidFill>
              <a:srgbClr val="C4532D"/>
            </a:solidFill>
          </c:spPr>
          <c:cat>
            <c:strRef>
              <c:f>Sheet1!$A$2:$A$6</c:f>
              <c:strCache>
                <c:ptCount val="5"/>
                <c:pt idx="0">
                  <c:v>Kampala–Njeru</c:v>
                </c:pt>
                <c:pt idx="1">
                  <c:v>Kampala–Gulu</c:v>
                </c:pt>
                <c:pt idx="2">
                  <c:v>Kampala–Kabale</c:v>
                </c:pt>
                <c:pt idx="3">
                  <c:v>Kampala–Hoima</c:v>
                </c:pt>
                <c:pt idx="4">
                  <c:v>Kampala–Fort Portal</c:v>
                </c:pt>
              </c:strCache>
            </c:strRef>
          </c:cat>
          <c:val>
            <c:numRef>
              <c:f>Sheet1!$B$2:$B$6</c:f>
              <c:numCache>
                <c:formatCode>General</c:formatCode>
                <c:ptCount val="5"/>
                <c:pt idx="0">
                  <c:v>87.0</c:v>
                </c:pt>
                <c:pt idx="1">
                  <c:v>266.0</c:v>
                </c:pt>
                <c:pt idx="2">
                  <c:v>343.0</c:v>
                </c:pt>
                <c:pt idx="3">
                  <c:v>164.0</c:v>
                </c:pt>
                <c:pt idx="4">
                  <c:v>228.0</c:v>
                </c:pt>
              </c:numCache>
            </c:numRef>
          </c:val>
        </c:ser>
        <c:ser>
          <c:idx val="1"/>
          <c:order val="1"/>
          <c:tx>
            <c:strRef>
              <c:f>Sheet1!$C$1</c:f>
              <c:strCache>
                <c:ptCount val="1"/>
                <c:pt idx="0">
                  <c:v>Routing estimate</c:v>
                </c:pt>
              </c:strCache>
            </c:strRef>
          </c:tx>
          <c:spPr>
            <a:solidFill>
              <a:srgbClr val="B8C7C4"/>
            </a:solidFill>
          </c:spPr>
          <c:cat>
            <c:strRef>
              <c:f>Sheet1!$A$2:$A$6</c:f>
              <c:strCache>
                <c:ptCount val="5"/>
                <c:pt idx="0">
                  <c:v>Kampala–Njeru</c:v>
                </c:pt>
                <c:pt idx="1">
                  <c:v>Kampala–Gulu</c:v>
                </c:pt>
                <c:pt idx="2">
                  <c:v>Kampala–Kabale</c:v>
                </c:pt>
                <c:pt idx="3">
                  <c:v>Kampala–Hoima</c:v>
                </c:pt>
                <c:pt idx="4">
                  <c:v>Kampala–Fort Portal</c:v>
                </c:pt>
              </c:strCache>
            </c:strRef>
          </c:cat>
          <c:val>
            <c:numRef>
              <c:f>Sheet1!$C$2:$C$6</c:f>
              <c:numCache>
                <c:formatCode>General</c:formatCode>
                <c:ptCount val="5"/>
                <c:pt idx="0">
                  <c:v>66.0</c:v>
                </c:pt>
                <c:pt idx="1">
                  <c:v>286.0</c:v>
                </c:pt>
                <c:pt idx="2">
                  <c:v>345.0</c:v>
                </c:pt>
                <c:pt idx="3">
                  <c:v>172.0</c:v>
                </c:pt>
                <c:pt idx="4">
                  <c:v>269.0</c:v>
                </c:pt>
              </c:numCache>
            </c:numRef>
          </c:val>
        </c:ser>
        <c:dLbls>
          <c:txPr>
            <a:bodyPr/>
            <a:lstStyle/>
            <a:p>
              <a:pPr>
                <a:defRPr sz="1200">
                  <a:solidFill>
                    <a:srgbClr val="1E2528"/>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B8C7C4"/>
            </a:solidFill>
          </a:ln>
        </c:spPr>
        <c:txPr>
          <a:bodyPr/>
          <a:lstStyle/>
          <a:p>
            <a:pPr>
              <a:defRPr sz="1100"/>
            </a:pPr>
          </a:p>
        </c:txPr>
        <c:crossAx val="-2113994440"/>
        <c:crosses val="autoZero"/>
        <c:auto val="1"/>
        <c:lblAlgn val="ctr"/>
        <c:lblOffset val="100"/>
        <c:noMultiLvlLbl val="0"/>
      </c:catAx>
      <c:valAx>
        <c:axId val="-2113994440"/>
        <c:scaling>
          <c:max val="400.0"/>
        </c:scaling>
        <c:delete val="0"/>
        <c:axPos val="l"/>
        <c:majorGridlines>
          <c:spPr>
            <a:ln>
              <a:solidFill>
                <a:srgbClr val="E3E7E6"/>
              </a:solidFill>
            </a:ln>
          </c:spPr>
        </c:majorGridlines>
        <c:majorTickMark val="out"/>
        <c:minorTickMark val="none"/>
        <c:tickLblPos val="nextTo"/>
        <c:spPr>
          <a:ln>
            <a:noFill/>
          </a:ln>
        </c:spPr>
        <c:txPr>
          <a:bodyPr/>
          <a:lstStyle/>
          <a:p>
            <a:pPr>
              <a:defRPr sz="1000"/>
            </a:pPr>
          </a:p>
        </c:txPr>
        <c:crossAx val="-2068027336"/>
        <c:crosses val="autoZero"/>
      </c:valAx>
    </c:plotArea>
    <c:legend>
      <c:legendPos val="t"/>
      <c:overlay val="0"/>
      <c:txPr>
        <a:bodyPr/>
        <a:lstStyle/>
        <a:p>
          <a:pPr>
            <a:defRPr sz="1100"/>
          </a:pPr>
        </a:p>
      </c:txPr>
    </c:legend>
    <c:dispBlanksAs val="gap"/>
  </c:chart>
  <c:txPr>
    <a:bodyPr/>
    <a:lstStyle/>
    <a:p>
      <a:pPr>
        <a:defRPr sz="1100">
          <a:solidFill>
            <a:srgbClr val="5B677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Open road</c:v>
                </c:pt>
              </c:strCache>
            </c:strRef>
          </c:tx>
          <c:spPr>
            <a:solidFill>
              <a:srgbClr val="3A7D5C"/>
            </a:solidFill>
          </c:spPr>
          <c:cat>
            <c:strRef>
              <c:f>Sheet1!$A$2:$A$6</c:f>
              <c:strCache>
                <c:ptCount val="5"/>
                <c:pt idx="0">
                  <c:v>Malaba (A1)</c:v>
                </c:pt>
                <c:pt idx="1">
                  <c:v>Elegu (A6)</c:v>
                </c:pt>
                <c:pt idx="2">
                  <c:v>Katuna (A2)</c:v>
                </c:pt>
                <c:pt idx="3">
                  <c:v>Hoima (A9)</c:v>
                </c:pt>
                <c:pt idx="4">
                  <c:v>Bwera (A5)</c:v>
                </c:pt>
              </c:strCache>
            </c:strRef>
          </c:cat>
          <c:val>
            <c:numRef>
              <c:f>Sheet1!$B$2:$B$6</c:f>
              <c:numCache>
                <c:formatCode>General</c:formatCode>
                <c:ptCount val="5"/>
                <c:pt idx="0">
                  <c:v>0.206</c:v>
                </c:pt>
                <c:pt idx="1">
                  <c:v>0.361</c:v>
                </c:pt>
                <c:pt idx="2">
                  <c:v>0.262</c:v>
                </c:pt>
                <c:pt idx="3">
                  <c:v>0.183</c:v>
                </c:pt>
                <c:pt idx="4">
                  <c:v>0.291</c:v>
                </c:pt>
              </c:numCache>
            </c:numRef>
          </c:val>
        </c:ser>
        <c:ser>
          <c:idx val="1"/>
          <c:order val="1"/>
          <c:tx>
            <c:strRef>
              <c:f>Sheet1!$C$1</c:f>
              <c:strCache>
                <c:ptCount val="1"/>
                <c:pt idx="0">
                  <c:v>Roadside settlement</c:v>
                </c:pt>
              </c:strCache>
            </c:strRef>
          </c:tx>
          <c:spPr>
            <a:solidFill>
              <a:srgbClr val="D9A441"/>
            </a:solidFill>
          </c:spPr>
          <c:cat>
            <c:strRef>
              <c:f>Sheet1!$A$2:$A$6</c:f>
              <c:strCache>
                <c:ptCount val="5"/>
                <c:pt idx="0">
                  <c:v>Malaba (A1)</c:v>
                </c:pt>
                <c:pt idx="1">
                  <c:v>Elegu (A6)</c:v>
                </c:pt>
                <c:pt idx="2">
                  <c:v>Katuna (A2)</c:v>
                </c:pt>
                <c:pt idx="3">
                  <c:v>Hoima (A9)</c:v>
                </c:pt>
                <c:pt idx="4">
                  <c:v>Bwera (A5)</c:v>
                </c:pt>
              </c:strCache>
            </c:strRef>
          </c:cat>
          <c:val>
            <c:numRef>
              <c:f>Sheet1!$C$2:$C$6</c:f>
              <c:numCache>
                <c:formatCode>General</c:formatCode>
                <c:ptCount val="5"/>
                <c:pt idx="0">
                  <c:v>0.574</c:v>
                </c:pt>
                <c:pt idx="1">
                  <c:v>0.564</c:v>
                </c:pt>
                <c:pt idx="2">
                  <c:v>0.629</c:v>
                </c:pt>
                <c:pt idx="3">
                  <c:v>0.738</c:v>
                </c:pt>
                <c:pt idx="4">
                  <c:v>0.672</c:v>
                </c:pt>
              </c:numCache>
            </c:numRef>
          </c:val>
        </c:ser>
        <c:ser>
          <c:idx val="2"/>
          <c:order val="2"/>
          <c:tx>
            <c:strRef>
              <c:f>Sheet1!$D$1</c:f>
              <c:strCache>
                <c:ptCount val="1"/>
                <c:pt idx="0">
                  <c:v>Town</c:v>
                </c:pt>
              </c:strCache>
            </c:strRef>
          </c:tx>
          <c:spPr>
            <a:solidFill>
              <a:srgbClr val="C4532D"/>
            </a:solidFill>
          </c:spPr>
          <c:cat>
            <c:strRef>
              <c:f>Sheet1!$A$2:$A$6</c:f>
              <c:strCache>
                <c:ptCount val="5"/>
                <c:pt idx="0">
                  <c:v>Malaba (A1)</c:v>
                </c:pt>
                <c:pt idx="1">
                  <c:v>Elegu (A6)</c:v>
                </c:pt>
                <c:pt idx="2">
                  <c:v>Katuna (A2)</c:v>
                </c:pt>
                <c:pt idx="3">
                  <c:v>Hoima (A9)</c:v>
                </c:pt>
                <c:pt idx="4">
                  <c:v>Bwera (A5)</c:v>
                </c:pt>
              </c:strCache>
            </c:strRef>
          </c:cat>
          <c:val>
            <c:numRef>
              <c:f>Sheet1!$D$2:$D$6</c:f>
              <c:numCache>
                <c:formatCode>General</c:formatCode>
                <c:ptCount val="5"/>
                <c:pt idx="0">
                  <c:v>0.22</c:v>
                </c:pt>
                <c:pt idx="1">
                  <c:v>0.075</c:v>
                </c:pt>
                <c:pt idx="2">
                  <c:v>0.109</c:v>
                </c:pt>
                <c:pt idx="3">
                  <c:v>0.08</c:v>
                </c:pt>
                <c:pt idx="4">
                  <c:v>0.037</c:v>
                </c:pt>
              </c:numCache>
            </c:numRef>
          </c:val>
        </c:ser>
        <c:dLbls>
          <c:numFmt formatCode="0%" sourceLinked="0"/>
          <c:txPr>
            <a:bodyPr/>
            <a:lstStyle/>
            <a:p>
              <a:pPr>
                <a:defRPr sz="1200" b="1">
                  <a:solidFill>
                    <a:srgbClr val="FFFFFF"/>
                  </a:solidFill>
                </a:defRPr>
              </a:pPr>
            </a:p>
          </c:txPr>
          <c:dLblPos val="ctr"/>
          <c:showLegendKey val="0"/>
          <c:showVal val="1"/>
          <c:showCatName val="0"/>
          <c:showSerName val="0"/>
          <c:showPercent val="0"/>
          <c:showBubbleSize val="0"/>
          <c:showLeaderLines val="1"/>
        </c:dLbls>
        <c:gapWidth val="45"/>
        <c:overlap val="100"/>
        <c:axId val="-2068027336"/>
        <c:axId val="-2113994440"/>
      </c:barChart>
      <c:catAx>
        <c:axId val="-2068027336"/>
        <c:scaling>
          <c:orientation val="maxMin"/>
        </c:scaling>
        <c:delete val="0"/>
        <c:axPos val="l"/>
        <c:majorTickMark val="out"/>
        <c:minorTickMark val="none"/>
        <c:tickLblPos val="nextTo"/>
        <c:spPr>
          <a:ln>
            <a:solidFill>
              <a:srgbClr val="B8C7C4"/>
            </a:solidFill>
          </a:ln>
        </c:spPr>
        <c:txPr>
          <a:bodyPr/>
          <a:lstStyle/>
          <a:p>
            <a:pPr>
              <a:defRPr sz="1300"/>
            </a:pPr>
          </a:p>
        </c:txPr>
        <c:crossAx val="-2113994440"/>
        <c:crosses val="autoZero"/>
        <c:auto val="1"/>
        <c:lblAlgn val="ctr"/>
        <c:lblOffset val="100"/>
        <c:noMultiLvlLbl val="0"/>
      </c:catAx>
      <c:valAx>
        <c:axId val="-2113994440"/>
        <c:scaling/>
        <c:delete val="0"/>
        <c:axPos val="b"/>
        <c:majorGridlines>
          <c:spPr>
            <a:ln>
              <a:solidFill>
                <a:srgbClr val="E3E7E6"/>
              </a:solidFill>
            </a:ln>
          </c:spPr>
        </c:majorGridlines>
        <c:numFmt formatCode="0%" sourceLinked="0"/>
        <c:majorTickMark val="out"/>
        <c:minorTickMark val="none"/>
        <c:tickLblPos val="nextTo"/>
        <c:spPr>
          <a:ln>
            <a:noFill/>
          </a:ln>
        </c:spPr>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5B677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Roadside activity</c:v>
                </c:pt>
              </c:strCache>
            </c:strRef>
          </c:tx>
          <c:spPr>
            <a:solidFill>
              <a:srgbClr val="C4532D"/>
            </a:solidFill>
          </c:spPr>
          <c:cat>
            <c:strRef>
              <c:f>Sheet1!$A$2:$A$6</c:f>
              <c:strCache>
                <c:ptCount val="5"/>
                <c:pt idx="0">
                  <c:v>Malaba (A1)</c:v>
                </c:pt>
                <c:pt idx="1">
                  <c:v>Elegu (A6)</c:v>
                </c:pt>
                <c:pt idx="2">
                  <c:v>Katuna (A2)</c:v>
                </c:pt>
                <c:pt idx="3">
                  <c:v>Hoima (A9)</c:v>
                </c:pt>
                <c:pt idx="4">
                  <c:v>Bwera (A5)</c:v>
                </c:pt>
              </c:strCache>
            </c:strRef>
          </c:cat>
          <c:val>
            <c:numRef>
              <c:f>Sheet1!$B$2:$B$6</c:f>
              <c:numCache>
                <c:formatCode>General</c:formatCode>
                <c:ptCount val="5"/>
                <c:pt idx="0">
                  <c:v>25.1</c:v>
                </c:pt>
                <c:pt idx="1">
                  <c:v>29.1</c:v>
                </c:pt>
                <c:pt idx="2">
                  <c:v>34.8</c:v>
                </c:pt>
                <c:pt idx="3">
                  <c:v>18.5</c:v>
                </c:pt>
                <c:pt idx="4">
                  <c:v>36.9</c:v>
                </c:pt>
              </c:numCache>
            </c:numRef>
          </c:val>
        </c:ser>
        <c:ser>
          <c:idx val="1"/>
          <c:order val="1"/>
          <c:tx>
            <c:strRef>
              <c:f>Sheet1!$C$1</c:f>
              <c:strCache>
                <c:ptCount val="1"/>
                <c:pt idx="0">
                  <c:v>Hills</c:v>
                </c:pt>
              </c:strCache>
            </c:strRef>
          </c:tx>
          <c:spPr>
            <a:solidFill>
              <a:srgbClr val="8A6B4E"/>
            </a:solidFill>
          </c:spPr>
          <c:cat>
            <c:strRef>
              <c:f>Sheet1!$A$2:$A$6</c:f>
              <c:strCache>
                <c:ptCount val="5"/>
                <c:pt idx="0">
                  <c:v>Malaba (A1)</c:v>
                </c:pt>
                <c:pt idx="1">
                  <c:v>Elegu (A6)</c:v>
                </c:pt>
                <c:pt idx="2">
                  <c:v>Katuna (A2)</c:v>
                </c:pt>
                <c:pt idx="3">
                  <c:v>Hoima (A9)</c:v>
                </c:pt>
                <c:pt idx="4">
                  <c:v>Bwera (A5)</c:v>
                </c:pt>
              </c:strCache>
            </c:strRef>
          </c:cat>
          <c:val>
            <c:numRef>
              <c:f>Sheet1!$C$2:$C$6</c:f>
              <c:numCache>
                <c:formatCode>General</c:formatCode>
                <c:ptCount val="5"/>
                <c:pt idx="0">
                  <c:v>8.6</c:v>
                </c:pt>
                <c:pt idx="1">
                  <c:v>13.0</c:v>
                </c:pt>
                <c:pt idx="2">
                  <c:v>38.2</c:v>
                </c:pt>
                <c:pt idx="3">
                  <c:v>13.7</c:v>
                </c:pt>
                <c:pt idx="4">
                  <c:v>42.7</c:v>
                </c:pt>
              </c:numCache>
            </c:numRef>
          </c:val>
        </c:ser>
        <c:ser>
          <c:idx val="2"/>
          <c:order val="2"/>
          <c:tx>
            <c:strRef>
              <c:f>Sheet1!$D$1</c:f>
              <c:strCache>
                <c:ptCount val="1"/>
                <c:pt idx="0">
                  <c:v>Weighbridges</c:v>
                </c:pt>
              </c:strCache>
            </c:strRef>
          </c:tx>
          <c:spPr>
            <a:solidFill>
              <a:srgbClr val="17252A"/>
            </a:solidFill>
          </c:spPr>
          <c:cat>
            <c:strRef>
              <c:f>Sheet1!$A$2:$A$6</c:f>
              <c:strCache>
                <c:ptCount val="5"/>
                <c:pt idx="0">
                  <c:v>Malaba (A1)</c:v>
                </c:pt>
                <c:pt idx="1">
                  <c:v>Elegu (A6)</c:v>
                </c:pt>
                <c:pt idx="2">
                  <c:v>Katuna (A2)</c:v>
                </c:pt>
                <c:pt idx="3">
                  <c:v>Hoima (A9)</c:v>
                </c:pt>
                <c:pt idx="4">
                  <c:v>Bwera (A5)</c:v>
                </c:pt>
              </c:strCache>
            </c:strRef>
          </c:cat>
          <c:val>
            <c:numRef>
              <c:f>Sheet1!$D$2:$D$6</c:f>
              <c:numCache>
                <c:formatCode>General</c:formatCode>
                <c:ptCount val="5"/>
                <c:pt idx="0">
                  <c:v>20.0</c:v>
                </c:pt>
                <c:pt idx="1">
                  <c:v>10.0</c:v>
                </c:pt>
                <c:pt idx="2">
                  <c:v>20.0</c:v>
                </c:pt>
                <c:pt idx="3">
                  <c:v>0.0</c:v>
                </c:pt>
                <c:pt idx="4">
                  <c:v>0.0</c:v>
                </c:pt>
              </c:numCache>
            </c:numRef>
          </c:val>
        </c:ser>
        <c:ser>
          <c:idx val="3"/>
          <c:order val="3"/>
          <c:tx>
            <c:strRef>
              <c:f>Sheet1!$E$1</c:f>
              <c:strCache>
                <c:ptCount val="1"/>
                <c:pt idx="0">
                  <c:v>Speed humps (assumed)</c:v>
                </c:pt>
              </c:strCache>
            </c:strRef>
          </c:tx>
          <c:spPr>
            <a:solidFill>
              <a:srgbClr val="D9A441"/>
            </a:solidFill>
          </c:spPr>
          <c:cat>
            <c:strRef>
              <c:f>Sheet1!$A$2:$A$6</c:f>
              <c:strCache>
                <c:ptCount val="5"/>
                <c:pt idx="0">
                  <c:v>Malaba (A1)</c:v>
                </c:pt>
                <c:pt idx="1">
                  <c:v>Elegu (A6)</c:v>
                </c:pt>
                <c:pt idx="2">
                  <c:v>Katuna (A2)</c:v>
                </c:pt>
                <c:pt idx="3">
                  <c:v>Hoima (A9)</c:v>
                </c:pt>
                <c:pt idx="4">
                  <c:v>Bwera (A5)</c:v>
                </c:pt>
              </c:strCache>
            </c:strRef>
          </c:cat>
          <c:val>
            <c:numRef>
              <c:f>Sheet1!$E$2:$E$6</c:f>
              <c:numCache>
                <c:formatCode>General</c:formatCode>
                <c:ptCount val="5"/>
                <c:pt idx="0">
                  <c:v>19.0</c:v>
                </c:pt>
                <c:pt idx="1">
                  <c:v>13.0</c:v>
                </c:pt>
                <c:pt idx="2">
                  <c:v>18.6</c:v>
                </c:pt>
                <c:pt idx="3">
                  <c:v>6.2</c:v>
                </c:pt>
                <c:pt idx="4">
                  <c:v>6.2</c:v>
                </c:pt>
              </c:numCache>
            </c:numRef>
          </c:val>
        </c:ser>
        <c:ser>
          <c:idx val="4"/>
          <c:order val="4"/>
          <c:tx>
            <c:strRef>
              <c:f>Sheet1!$F$1</c:f>
              <c:strCache>
                <c:ptCount val="1"/>
                <c:pt idx="0">
                  <c:v>Police posts</c:v>
                </c:pt>
              </c:strCache>
            </c:strRef>
          </c:tx>
          <c:spPr>
            <a:solidFill>
              <a:srgbClr val="4E7C8A"/>
            </a:solidFill>
          </c:spPr>
          <c:cat>
            <c:strRef>
              <c:f>Sheet1!$A$2:$A$6</c:f>
              <c:strCache>
                <c:ptCount val="5"/>
                <c:pt idx="0">
                  <c:v>Malaba (A1)</c:v>
                </c:pt>
                <c:pt idx="1">
                  <c:v>Elegu (A6)</c:v>
                </c:pt>
                <c:pt idx="2">
                  <c:v>Katuna (A2)</c:v>
                </c:pt>
                <c:pt idx="3">
                  <c:v>Hoima (A9)</c:v>
                </c:pt>
                <c:pt idx="4">
                  <c:v>Bwera (A5)</c:v>
                </c:pt>
              </c:strCache>
            </c:strRef>
          </c:cat>
          <c:val>
            <c:numRef>
              <c:f>Sheet1!$F$2:$F$6</c:f>
              <c:numCache>
                <c:formatCode>General</c:formatCode>
                <c:ptCount val="5"/>
                <c:pt idx="0">
                  <c:v>10.0</c:v>
                </c:pt>
                <c:pt idx="1">
                  <c:v>15.0</c:v>
                </c:pt>
                <c:pt idx="2">
                  <c:v>9.0</c:v>
                </c:pt>
                <c:pt idx="3">
                  <c:v>4.0</c:v>
                </c:pt>
                <c:pt idx="4">
                  <c:v>5.0</c:v>
                </c:pt>
              </c:numCache>
            </c:numRef>
          </c:val>
        </c:ser>
        <c:ser>
          <c:idx val="5"/>
          <c:order val="5"/>
          <c:tx>
            <c:strRef>
              <c:f>Sheet1!$G$1</c:f>
              <c:strCache>
                <c:ptCount val="1"/>
                <c:pt idx="0">
                  <c:v>Joining roads</c:v>
                </c:pt>
              </c:strCache>
            </c:strRef>
          </c:tx>
          <c:spPr>
            <a:solidFill>
              <a:srgbClr val="3A7D5C"/>
            </a:solidFill>
          </c:spPr>
          <c:cat>
            <c:strRef>
              <c:f>Sheet1!$A$2:$A$6</c:f>
              <c:strCache>
                <c:ptCount val="5"/>
                <c:pt idx="0">
                  <c:v>Malaba (A1)</c:v>
                </c:pt>
                <c:pt idx="1">
                  <c:v>Elegu (A6)</c:v>
                </c:pt>
                <c:pt idx="2">
                  <c:v>Katuna (A2)</c:v>
                </c:pt>
                <c:pt idx="3">
                  <c:v>Hoima (A9)</c:v>
                </c:pt>
                <c:pt idx="4">
                  <c:v>Bwera (A5)</c:v>
                </c:pt>
              </c:strCache>
            </c:strRef>
          </c:cat>
          <c:val>
            <c:numRef>
              <c:f>Sheet1!$G$2:$G$6</c:f>
              <c:numCache>
                <c:formatCode>General</c:formatCode>
                <c:ptCount val="5"/>
                <c:pt idx="0">
                  <c:v>7.1</c:v>
                </c:pt>
                <c:pt idx="1">
                  <c:v>10.2</c:v>
                </c:pt>
                <c:pt idx="2">
                  <c:v>11.2</c:v>
                </c:pt>
                <c:pt idx="3">
                  <c:v>4.9</c:v>
                </c:pt>
                <c:pt idx="4">
                  <c:v>12.4</c:v>
                </c:pt>
              </c:numCache>
            </c:numRef>
          </c:val>
        </c:ser>
        <c:ser>
          <c:idx val="6"/>
          <c:order val="6"/>
          <c:tx>
            <c:strRef>
              <c:f>Sheet1!$H$1</c:f>
              <c:strCache>
                <c:ptCount val="1"/>
                <c:pt idx="0">
                  <c:v>Signals &amp; crossings</c:v>
                </c:pt>
              </c:strCache>
            </c:strRef>
          </c:tx>
          <c:spPr>
            <a:solidFill>
              <a:srgbClr val="B8C7C4"/>
            </a:solidFill>
          </c:spPr>
          <c:cat>
            <c:strRef>
              <c:f>Sheet1!$A$2:$A$6</c:f>
              <c:strCache>
                <c:ptCount val="5"/>
                <c:pt idx="0">
                  <c:v>Malaba (A1)</c:v>
                </c:pt>
                <c:pt idx="1">
                  <c:v>Elegu (A6)</c:v>
                </c:pt>
                <c:pt idx="2">
                  <c:v>Katuna (A2)</c:v>
                </c:pt>
                <c:pt idx="3">
                  <c:v>Hoima (A9)</c:v>
                </c:pt>
                <c:pt idx="4">
                  <c:v>Bwera (A5)</c:v>
                </c:pt>
              </c:strCache>
            </c:strRef>
          </c:cat>
          <c:val>
            <c:numRef>
              <c:f>Sheet1!$H$2:$H$6</c:f>
              <c:numCache>
                <c:formatCode>General</c:formatCode>
                <c:ptCount val="5"/>
                <c:pt idx="0">
                  <c:v>10.5</c:v>
                </c:pt>
                <c:pt idx="1">
                  <c:v>3.6</c:v>
                </c:pt>
                <c:pt idx="2">
                  <c:v>2.9</c:v>
                </c:pt>
                <c:pt idx="3">
                  <c:v>0.5</c:v>
                </c:pt>
                <c:pt idx="4">
                  <c:v>2.3</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B8C7C4"/>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E3E7E6"/>
              </a:solidFill>
            </a:ln>
          </c:spPr>
        </c:majorGridlines>
        <c:title>
          <c:tx>
            <c:rich>
              <a:bodyPr/>
              <a:lstStyle/>
              <a:p>
                <a:r>
                  <a:rPr sz="1200"/>
                  <a:t>minutes added</a:t>
                </a:r>
              </a:p>
            </c:rich>
          </c:tx>
          <c:layout/>
          <c:overlay val="0"/>
        </c:title>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5B6770"/>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Weigh-in-motion</c:v>
                </c:pt>
              </c:strCache>
            </c:strRef>
          </c:tx>
          <c:spPr>
            <a:solidFill>
              <a:srgbClr val="3A7D5C"/>
            </a:solidFill>
          </c:spPr>
          <c:cat>
            <c:strRef>
              <c:f>Sheet1!$A$2:$A$6</c:f>
              <c:strCache>
                <c:ptCount val="5"/>
                <c:pt idx="0">
                  <c:v>Malaba (A1)</c:v>
                </c:pt>
                <c:pt idx="1">
                  <c:v>Elegu (A6)</c:v>
                </c:pt>
                <c:pt idx="2">
                  <c:v>Katuna (A2)</c:v>
                </c:pt>
                <c:pt idx="3">
                  <c:v>Hoima (A9)</c:v>
                </c:pt>
                <c:pt idx="4">
                  <c:v>Bwera (A5)</c:v>
                </c:pt>
              </c:strCache>
            </c:strRef>
          </c:cat>
          <c:val>
            <c:numRef>
              <c:f>Sheet1!$B$2:$B$6</c:f>
              <c:numCache>
                <c:formatCode>General</c:formatCode>
                <c:ptCount val="5"/>
                <c:pt idx="0">
                  <c:v>16.0</c:v>
                </c:pt>
                <c:pt idx="1">
                  <c:v>8.0</c:v>
                </c:pt>
                <c:pt idx="2">
                  <c:v>16.0</c:v>
                </c:pt>
                <c:pt idx="3">
                  <c:v>0.0</c:v>
                </c:pt>
                <c:pt idx="4">
                  <c:v>0.0</c:v>
                </c:pt>
              </c:numCache>
            </c:numRef>
          </c:val>
        </c:ser>
        <c:ser>
          <c:idx val="1"/>
          <c:order val="1"/>
          <c:tx>
            <c:strRef>
              <c:f>Sheet1!$C$1</c:f>
              <c:strCache>
                <c:ptCount val="1"/>
                <c:pt idx="0">
                  <c:v>No police stops</c:v>
                </c:pt>
              </c:strCache>
            </c:strRef>
          </c:tx>
          <c:spPr>
            <a:solidFill>
              <a:srgbClr val="4E7C8A"/>
            </a:solidFill>
          </c:spPr>
          <c:cat>
            <c:strRef>
              <c:f>Sheet1!$A$2:$A$6</c:f>
              <c:strCache>
                <c:ptCount val="5"/>
                <c:pt idx="0">
                  <c:v>Malaba (A1)</c:v>
                </c:pt>
                <c:pt idx="1">
                  <c:v>Elegu (A6)</c:v>
                </c:pt>
                <c:pt idx="2">
                  <c:v>Katuna (A2)</c:v>
                </c:pt>
                <c:pt idx="3">
                  <c:v>Hoima (A9)</c:v>
                </c:pt>
                <c:pt idx="4">
                  <c:v>Bwera (A5)</c:v>
                </c:pt>
              </c:strCache>
            </c:strRef>
          </c:cat>
          <c:val>
            <c:numRef>
              <c:f>Sheet1!$C$2:$C$6</c:f>
              <c:numCache>
                <c:formatCode>General</c:formatCode>
                <c:ptCount val="5"/>
                <c:pt idx="0">
                  <c:v>10.0</c:v>
                </c:pt>
                <c:pt idx="1">
                  <c:v>15.0</c:v>
                </c:pt>
                <c:pt idx="2">
                  <c:v>9.0</c:v>
                </c:pt>
                <c:pt idx="3">
                  <c:v>4.0</c:v>
                </c:pt>
                <c:pt idx="4">
                  <c:v>5.0</c:v>
                </c:pt>
              </c:numCache>
            </c:numRef>
          </c:val>
        </c:ser>
        <c:ser>
          <c:idx val="2"/>
          <c:order val="2"/>
          <c:tx>
            <c:strRef>
              <c:f>Sheet1!$D$1</c:f>
              <c:strCache>
                <c:ptCount val="1"/>
                <c:pt idx="0">
                  <c:v>Bypass 2 worst towns</c:v>
                </c:pt>
              </c:strCache>
            </c:strRef>
          </c:tx>
          <c:spPr>
            <a:solidFill>
              <a:srgbClr val="D9A441"/>
            </a:solidFill>
          </c:spPr>
          <c:cat>
            <c:strRef>
              <c:f>Sheet1!$A$2:$A$6</c:f>
              <c:strCache>
                <c:ptCount val="5"/>
                <c:pt idx="0">
                  <c:v>Malaba (A1)</c:v>
                </c:pt>
                <c:pt idx="1">
                  <c:v>Elegu (A6)</c:v>
                </c:pt>
                <c:pt idx="2">
                  <c:v>Katuna (A2)</c:v>
                </c:pt>
                <c:pt idx="3">
                  <c:v>Hoima (A9)</c:v>
                </c:pt>
                <c:pt idx="4">
                  <c:v>Bwera (A5)</c:v>
                </c:pt>
              </c:strCache>
            </c:strRef>
          </c:cat>
          <c:val>
            <c:numRef>
              <c:f>Sheet1!$D$2:$D$6</c:f>
              <c:numCache>
                <c:formatCode>General</c:formatCode>
                <c:ptCount val="5"/>
                <c:pt idx="0">
                  <c:v>4.1</c:v>
                </c:pt>
                <c:pt idx="1">
                  <c:v>2.1</c:v>
                </c:pt>
                <c:pt idx="2">
                  <c:v>3.2</c:v>
                </c:pt>
                <c:pt idx="3">
                  <c:v>0.0</c:v>
                </c:pt>
                <c:pt idx="4">
                  <c:v>0.0</c:v>
                </c:pt>
              </c:numCache>
            </c:numRef>
          </c:val>
        </c:ser>
        <c:ser>
          <c:idx val="3"/>
          <c:order val="3"/>
          <c:tx>
            <c:strRef>
              <c:f>Sheet1!$E$1</c:f>
              <c:strCache>
                <c:ptCount val="1"/>
                <c:pt idx="0">
                  <c:v>Service roads, all settlements</c:v>
                </c:pt>
              </c:strCache>
            </c:strRef>
          </c:tx>
          <c:spPr>
            <a:solidFill>
              <a:srgbClr val="C4532D"/>
            </a:solidFill>
          </c:spPr>
          <c:cat>
            <c:strRef>
              <c:f>Sheet1!$A$2:$A$6</c:f>
              <c:strCache>
                <c:ptCount val="5"/>
                <c:pt idx="0">
                  <c:v>Malaba (A1)</c:v>
                </c:pt>
                <c:pt idx="1">
                  <c:v>Elegu (A6)</c:v>
                </c:pt>
                <c:pt idx="2">
                  <c:v>Katuna (A2)</c:v>
                </c:pt>
                <c:pt idx="3">
                  <c:v>Hoima (A9)</c:v>
                </c:pt>
                <c:pt idx="4">
                  <c:v>Bwera (A5)</c:v>
                </c:pt>
              </c:strCache>
            </c:strRef>
          </c:cat>
          <c:val>
            <c:numRef>
              <c:f>Sheet1!$E$2:$E$6</c:f>
              <c:numCache>
                <c:formatCode>General</c:formatCode>
                <c:ptCount val="5"/>
                <c:pt idx="0">
                  <c:v>10.5</c:v>
                </c:pt>
                <c:pt idx="1">
                  <c:v>15.4</c:v>
                </c:pt>
                <c:pt idx="2">
                  <c:v>17.0</c:v>
                </c:pt>
                <c:pt idx="3">
                  <c:v>9.7</c:v>
                </c:pt>
                <c:pt idx="4">
                  <c:v>23.0</c:v>
                </c:pt>
              </c:numCache>
            </c:numRef>
          </c:val>
        </c:ser>
        <c:dLbls>
          <c:numFmt formatCode="0" sourceLinked="0"/>
          <c:txPr>
            <a:bodyPr/>
            <a:lstStyle/>
            <a:p>
              <a:pPr>
                <a:defRPr sz="1000">
                  <a:solidFill>
                    <a:srgbClr val="1E2528"/>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B8C7C4"/>
            </a:solidFill>
          </a:ln>
        </c:spPr>
        <c:txPr>
          <a:bodyPr/>
          <a:lstStyle/>
          <a:p>
            <a:pPr>
              <a:defRPr sz="1100"/>
            </a:pPr>
          </a:p>
        </c:txPr>
        <c:crossAx val="-2113994440"/>
        <c:crosses val="autoZero"/>
        <c:auto val="1"/>
        <c:lblAlgn val="ctr"/>
        <c:lblOffset val="100"/>
        <c:noMultiLvlLbl val="0"/>
      </c:catAx>
      <c:valAx>
        <c:axId val="-2113994440"/>
        <c:scaling/>
        <c:delete val="0"/>
        <c:axPos val="l"/>
        <c:majorGridlines>
          <c:spPr>
            <a:ln>
              <a:solidFill>
                <a:srgbClr val="E3E7E6"/>
              </a:solidFill>
            </a:ln>
          </c:spPr>
        </c:majorGridlines>
        <c:majorTickMark val="out"/>
        <c:minorTickMark val="none"/>
        <c:tickLblPos val="nextTo"/>
        <c:spPr>
          <a:ln>
            <a:noFill/>
          </a:ln>
        </c:spPr>
        <c:txPr>
          <a:bodyPr/>
          <a:lstStyle/>
          <a:p>
            <a:pPr>
              <a:defRPr sz="1000"/>
            </a:pPr>
          </a:p>
        </c:txPr>
        <c:crossAx val="-2068027336"/>
        <c:crosses val="autoZero"/>
      </c:valAx>
    </c:plotArea>
    <c:legend>
      <c:legendPos val="t"/>
      <c:overlay val="0"/>
      <c:txPr>
        <a:bodyPr/>
        <a:lstStyle/>
        <a:p>
          <a:pPr>
            <a:defRPr sz="1100"/>
          </a:pPr>
        </a:p>
      </c:txPr>
    </c:legend>
    <c:dispBlanksAs val="gap"/>
  </c:chart>
  <c:txPr>
    <a:bodyPr/>
    <a:lstStyle/>
    <a:p>
      <a:pPr>
        <a:defRPr sz="1100">
          <a:solidFill>
            <a:srgbClr val="5B6770"/>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Share of people</c:v>
                </c:pt>
              </c:strCache>
            </c:strRef>
          </c:tx>
          <c:spPr>
            <a:solidFill>
              <a:srgbClr val="D9A441"/>
            </a:solidFill>
          </c:spPr>
          <c:cat>
            <c:strRef>
              <c:f>Sheet1!$A$2:$A$6</c:f>
              <c:strCache>
                <c:ptCount val="5"/>
                <c:pt idx="0">
                  <c:v>Malaba (A1)</c:v>
                </c:pt>
                <c:pt idx="1">
                  <c:v>Elegu (A6)</c:v>
                </c:pt>
                <c:pt idx="2">
                  <c:v>Katuna (A2)</c:v>
                </c:pt>
                <c:pt idx="3">
                  <c:v>Hoima (A9)</c:v>
                </c:pt>
                <c:pt idx="4">
                  <c:v>Bwera (A5)</c:v>
                </c:pt>
              </c:strCache>
            </c:strRef>
          </c:cat>
          <c:val>
            <c:numRef>
              <c:f>Sheet1!$B$2:$B$6</c:f>
              <c:numCache>
                <c:formatCode>General</c:formatCode>
                <c:ptCount val="5"/>
                <c:pt idx="0">
                  <c:v>0.49</c:v>
                </c:pt>
                <c:pt idx="1">
                  <c:v>0.56</c:v>
                </c:pt>
                <c:pt idx="2">
                  <c:v>0.51</c:v>
                </c:pt>
                <c:pt idx="3">
                  <c:v>0.65</c:v>
                </c:pt>
                <c:pt idx="4">
                  <c:v>0.76</c:v>
                </c:pt>
              </c:numCache>
            </c:numRef>
          </c:val>
        </c:ser>
        <c:ser>
          <c:idx val="1"/>
          <c:order val="1"/>
          <c:tx>
            <c:strRef>
              <c:f>Sheet1!$C$1</c:f>
              <c:strCache>
                <c:ptCount val="1"/>
                <c:pt idx="0">
                  <c:v>Share of exposure</c:v>
                </c:pt>
              </c:strCache>
            </c:strRef>
          </c:tx>
          <c:spPr>
            <a:solidFill>
              <a:srgbClr val="C4532D"/>
            </a:solidFill>
          </c:spPr>
          <c:cat>
            <c:strRef>
              <c:f>Sheet1!$A$2:$A$6</c:f>
              <c:strCache>
                <c:ptCount val="5"/>
                <c:pt idx="0">
                  <c:v>Malaba (A1)</c:v>
                </c:pt>
                <c:pt idx="1">
                  <c:v>Elegu (A6)</c:v>
                </c:pt>
                <c:pt idx="2">
                  <c:v>Katuna (A2)</c:v>
                </c:pt>
                <c:pt idx="3">
                  <c:v>Hoima (A9)</c:v>
                </c:pt>
                <c:pt idx="4">
                  <c:v>Bwera (A5)</c:v>
                </c:pt>
              </c:strCache>
            </c:strRef>
          </c:cat>
          <c:val>
            <c:numRef>
              <c:f>Sheet1!$C$2:$C$6</c:f>
              <c:numCache>
                <c:formatCode>General</c:formatCode>
                <c:ptCount val="5"/>
                <c:pt idx="0">
                  <c:v>0.65</c:v>
                </c:pt>
                <c:pt idx="1">
                  <c:v>0.72</c:v>
                </c:pt>
                <c:pt idx="2">
                  <c:v>0.7</c:v>
                </c:pt>
                <c:pt idx="3">
                  <c:v>0.79</c:v>
                </c:pt>
                <c:pt idx="4">
                  <c:v>0.79</c:v>
                </c:pt>
              </c:numCache>
            </c:numRef>
          </c:val>
        </c:ser>
        <c:dLbls>
          <c:numFmt formatCode="0%" sourceLinked="0"/>
          <c:txPr>
            <a:bodyPr/>
            <a:lstStyle/>
            <a:p>
              <a:pPr>
                <a:defRPr sz="1200">
                  <a:solidFill>
                    <a:srgbClr val="1E2528"/>
                  </a:solidFill>
                </a:defRPr>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axMin"/>
        </c:scaling>
        <c:delete val="0"/>
        <c:axPos val="l"/>
        <c:majorTickMark val="out"/>
        <c:minorTickMark val="none"/>
        <c:tickLblPos val="nextTo"/>
        <c:spPr>
          <a:ln>
            <a:solidFill>
              <a:srgbClr val="B8C7C4"/>
            </a:solidFill>
          </a:ln>
        </c:spPr>
        <c:txPr>
          <a:bodyPr/>
          <a:lstStyle/>
          <a:p>
            <a:pPr>
              <a:defRPr sz="1200"/>
            </a:pPr>
          </a:p>
        </c:txPr>
        <c:crossAx val="-2113994440"/>
        <c:crosses val="autoZero"/>
        <c:auto val="1"/>
        <c:lblAlgn val="ctr"/>
        <c:lblOffset val="100"/>
        <c:noMultiLvlLbl val="0"/>
      </c:catAx>
      <c:valAx>
        <c:axId val="-2113994440"/>
        <c:scaling>
          <c:max val="1.0"/>
        </c:scaling>
        <c:delete val="0"/>
        <c:axPos val="b"/>
        <c:majorGridlines>
          <c:spPr>
            <a:ln>
              <a:solidFill>
                <a:srgbClr val="E3E7E6"/>
              </a:solidFill>
            </a:ln>
          </c:spPr>
        </c:majorGridlines>
        <c:numFmt formatCode="0%" sourceLinked="0"/>
        <c:majorTickMark val="out"/>
        <c:minorTickMark val="none"/>
        <c:tickLblPos val="nextTo"/>
        <c:spPr>
          <a:ln>
            <a:noFill/>
          </a:ln>
        </c:spPr>
        <c:txPr>
          <a:bodyPr/>
          <a:lstStyle/>
          <a:p>
            <a:pPr>
              <a:defRPr sz="1100"/>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5B677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study looks at the five main roads out of Kampala. They were built to carry freight to the borders, but along much of their length they now also serve as the main street of villages and towns.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the five corridors cover about 1,686 km. Four reach a border; the Hoima road serves the oil region. The Bwera road (A5) was added after the regional search found it as Kampala's fifth national route out of the city.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Shares come from clustering 500 m pieces of road into three types. Towns are 4–22% of length. Building counts are Google Open Buildings v3.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assumptions and their ranges are at the top of scripts/travel_model.py. Congestion is not modelled: results describe light traffic. Fuel uses a physical model on the same speed profile (scripts/26_fuel_co2.py).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Totals for a truck (model vs open-road-only): Malaba 304 vs 185 min; Elegu 476 vs 369 min; Katuna 526 vs 365 min; Hoima 226 vs 167 min; Bwera 482 vs 358 min. Report rankings with their Monte Carlo shares, not as single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figures/a2_corridor_race.gif, from scripts/13_animations.py.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come from outputs/hotspots_mapped.csv. Close-ups of each hotspot are in figures/m03_hotspots.png and figures/hotspots/, and one atlas sheet per corridor in figures/m05_atlas_*.png.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Hectares within 300 m, 2000 to 2020: Malaba 1,078 to 1,370; Elegu 855 to 1,437; Katuna 1,184 to 1,700; Hoima 477 to 748; Bwera 856 to 1,345. GHSL's projection gives only +5–10% for 2020–2026, far slower than the observed trend.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Malaba border crossing averaged 48 min in 2025 (Busia 2.55 h), against about 2 h lost to friction on the Kampala–Malaba road. Fixing roadside friction matters for reliability and safety, but truck transit time is dominated by stops: rest, border procedures, insecurity and administrative checks.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scripts/23_rail.py. Alignments minimise length x grade above 1.5% x built-up share inside 25 km of each road; screening only. Capital cost from the eastern SGR contract (EUR 2.7 bn for 273 km). 30% of each road's truck freight moved (15-50%). Eastern line with through traffic: benefit/cost 0.03 (up to 0.13).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implications from a light-traffic model, not project appraisals. The weighbridge stop assumption is now supported by the Observatory's measured median of 12 minutes.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gif"/><Relationship Id="rId3"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52A"/>
        </a:solidFill>
        <a:effectLst/>
      </p:bgPr>
    </p:bg>
    <p:spTree>
      <p:nvGrpSpPr>
        <p:cNvPr id="1" name=""/>
        <p:cNvGrpSpPr/>
        <p:nvPr/>
      </p:nvGrpSpPr>
      <p:grpSpPr/>
      <p:pic>
        <p:nvPicPr>
          <p:cNvPr id="2" name="Picture 1" descr="m01_title.png"/>
          <p:cNvPicPr>
            <a:picLocks noChangeAspect="1"/>
          </p:cNvPicPr>
          <p:nvPr/>
        </p:nvPicPr>
        <p:blipFill>
          <a:blip r:embed="rId2"/>
          <a:stretch>
            <a:fillRect/>
          </a:stretch>
        </p:blipFill>
        <p:spPr>
          <a:xfrm>
            <a:off x="5806440" y="457200"/>
            <a:ext cx="6225409" cy="5943600"/>
          </a:xfrm>
          <a:prstGeom prst="rect">
            <a:avLst/>
          </a:prstGeom>
        </p:spPr>
      </p:pic>
      <p:sp>
        <p:nvSpPr>
          <p:cNvPr id="3" name="TextBox 2"/>
          <p:cNvSpPr txBox="1"/>
          <p:nvPr/>
        </p:nvSpPr>
        <p:spPr>
          <a:xfrm>
            <a:off x="640080" y="1554480"/>
            <a:ext cx="4937760" cy="365760"/>
          </a:xfrm>
          <a:prstGeom prst="rect">
            <a:avLst/>
          </a:prstGeom>
          <a:noFill/>
        </p:spPr>
        <p:txBody>
          <a:bodyPr wrap="square" lIns="0" rIns="0" tIns="0" bIns="0" anchor="t">
            <a:spAutoFit/>
          </a:bodyPr>
          <a:lstStyle/>
          <a:p>
            <a:pPr algn="l">
              <a:spcAft>
                <a:spcPts val="0"/>
              </a:spcAft>
            </a:pPr>
            <a:r>
              <a:rPr sz="1300" b="1" i="0">
                <a:solidFill>
                  <a:srgbClr val="D9A441"/>
                </a:solidFill>
                <a:latin typeface="Calibri"/>
              </a:rPr>
              <a:t>UGANDA TRADE CORRIDORS · OPEN-DATA STUDY</a:t>
            </a:r>
          </a:p>
        </p:txBody>
      </p:sp>
      <p:sp>
        <p:nvSpPr>
          <p:cNvPr id="4" name="TextBox 3"/>
          <p:cNvSpPr txBox="1"/>
          <p:nvPr/>
        </p:nvSpPr>
        <p:spPr>
          <a:xfrm>
            <a:off x="640080" y="2011680"/>
            <a:ext cx="4937760" cy="2194560"/>
          </a:xfrm>
          <a:prstGeom prst="rect">
            <a:avLst/>
          </a:prstGeom>
          <a:noFill/>
        </p:spPr>
        <p:txBody>
          <a:bodyPr wrap="square" lIns="0" rIns="0" tIns="0" bIns="0" anchor="t">
            <a:spAutoFit/>
          </a:bodyPr>
          <a:lstStyle/>
          <a:p>
            <a:pPr algn="l">
              <a:spcAft>
                <a:spcPts val="0"/>
              </a:spcAft>
            </a:pPr>
            <a:r>
              <a:rPr sz="4800" b="1" i="0">
                <a:solidFill>
                  <a:srgbClr val="FFFFFF"/>
                </a:solidFill>
                <a:latin typeface="Cambria"/>
              </a:rPr>
              <a:t>Highways that became high streets</a:t>
            </a:r>
          </a:p>
        </p:txBody>
      </p:sp>
      <p:sp>
        <p:nvSpPr>
          <p:cNvPr id="5" name="TextBox 4"/>
          <p:cNvSpPr txBox="1"/>
          <p:nvPr/>
        </p:nvSpPr>
        <p:spPr>
          <a:xfrm>
            <a:off x="640080" y="4297680"/>
            <a:ext cx="4937760" cy="1097280"/>
          </a:xfrm>
          <a:prstGeom prst="rect">
            <a:avLst/>
          </a:prstGeom>
          <a:noFill/>
        </p:spPr>
        <p:txBody>
          <a:bodyPr wrap="square" lIns="0" rIns="0" tIns="0" bIns="0" anchor="t">
            <a:spAutoFit/>
          </a:bodyPr>
          <a:lstStyle/>
          <a:p>
            <a:pPr algn="l">
              <a:spcAft>
                <a:spcPts val="0"/>
              </a:spcAft>
            </a:pPr>
            <a:r>
              <a:rPr sz="1800" b="0" i="0">
                <a:solidFill>
                  <a:srgbClr val="B8C7C4"/>
                </a:solidFill>
                <a:latin typeface="Calibri"/>
              </a:rPr>
              <a:t>What slows Uganda's main trade corridors, what each cause costs in time, fuel and safety, and how fast the roadside is filling in</a:t>
            </a:r>
          </a:p>
        </p:txBody>
      </p:sp>
      <p:sp>
        <p:nvSpPr>
          <p:cNvPr id="6" name="TextBox 5"/>
          <p:cNvSpPr txBox="1"/>
          <p:nvPr/>
        </p:nvSpPr>
        <p:spPr>
          <a:xfrm>
            <a:off x="640080" y="5760720"/>
            <a:ext cx="6766560" cy="365760"/>
          </a:xfrm>
          <a:prstGeom prst="rect">
            <a:avLst/>
          </a:prstGeom>
          <a:noFill/>
        </p:spPr>
        <p:txBody>
          <a:bodyPr wrap="square" lIns="0" rIns="0" tIns="0" bIns="0" anchor="t">
            <a:spAutoFit/>
          </a:bodyPr>
          <a:lstStyle/>
          <a:p>
            <a:pPr algn="l">
              <a:spcAft>
                <a:spcPts val="0"/>
              </a:spcAft>
            </a:pPr>
            <a:r>
              <a:rPr sz="1600" b="1" i="0">
                <a:solidFill>
                  <a:srgbClr val="FFFFFF"/>
                </a:solidFill>
                <a:latin typeface="Calibri"/>
              </a:rPr>
              <a:t>Charles Gava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Five roads carry Uganda's trade</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A landlocked economy depends on a few paved routes to the sea and to its neighbours</a:t>
            </a:r>
          </a:p>
        </p:txBody>
      </p:sp>
      <p:sp>
        <p:nvSpPr>
          <p:cNvPr id="4" name="Rounded Rectangle 3"/>
          <p:cNvSpPr/>
          <p:nvPr/>
        </p:nvSpPr>
        <p:spPr>
          <a:xfrm>
            <a:off x="548640" y="1783080"/>
            <a:ext cx="6583680" cy="804672"/>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911095"/>
            <a:ext cx="548640" cy="54864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A1</a:t>
            </a:r>
          </a:p>
        </p:txBody>
      </p:sp>
      <p:sp>
        <p:nvSpPr>
          <p:cNvPr id="6" name="TextBox 5"/>
          <p:cNvSpPr txBox="1"/>
          <p:nvPr/>
        </p:nvSpPr>
        <p:spPr>
          <a:xfrm>
            <a:off x="1508760" y="1874519"/>
            <a:ext cx="4480560" cy="365760"/>
          </a:xfrm>
          <a:prstGeom prst="rect">
            <a:avLst/>
          </a:prstGeom>
          <a:noFill/>
        </p:spPr>
        <p:txBody>
          <a:bodyPr wrap="square" lIns="0" rIns="0" tIns="0" bIns="0" anchor="t">
            <a:spAutoFit/>
          </a:bodyPr>
          <a:lstStyle/>
          <a:p>
            <a:pPr algn="l">
              <a:spcAft>
                <a:spcPts val="0"/>
              </a:spcAft>
            </a:pPr>
            <a:r>
              <a:rPr sz="1500" b="1" i="0">
                <a:solidFill>
                  <a:srgbClr val="1E2528"/>
                </a:solidFill>
                <a:latin typeface="Calibri"/>
              </a:rPr>
              <a:t>Kampala → Jinja → Malaba</a:t>
            </a:r>
          </a:p>
        </p:txBody>
      </p:sp>
      <p:sp>
        <p:nvSpPr>
          <p:cNvPr id="7" name="TextBox 6"/>
          <p:cNvSpPr txBox="1"/>
          <p:nvPr/>
        </p:nvSpPr>
        <p:spPr>
          <a:xfrm>
            <a:off x="1508760" y="2194560"/>
            <a:ext cx="5394960" cy="365760"/>
          </a:xfrm>
          <a:prstGeom prst="rect">
            <a:avLst/>
          </a:prstGeom>
          <a:noFill/>
        </p:spPr>
        <p:txBody>
          <a:bodyPr wrap="square" lIns="0" rIns="0" tIns="0" bIns="0" anchor="t">
            <a:spAutoFit/>
          </a:bodyPr>
          <a:lstStyle/>
          <a:p>
            <a:pPr algn="l">
              <a:spcAft>
                <a:spcPts val="0"/>
              </a:spcAft>
            </a:pPr>
            <a:r>
              <a:rPr sz="1250" b="0" i="0">
                <a:solidFill>
                  <a:srgbClr val="5B6770"/>
                </a:solidFill>
                <a:latin typeface="Calibri"/>
              </a:rPr>
              <a:t>Kenya border; Northern Corridor to Mombasa</a:t>
            </a:r>
          </a:p>
        </p:txBody>
      </p:sp>
      <p:sp>
        <p:nvSpPr>
          <p:cNvPr id="8" name="TextBox 7"/>
          <p:cNvSpPr txBox="1"/>
          <p:nvPr/>
        </p:nvSpPr>
        <p:spPr>
          <a:xfrm>
            <a:off x="5760720" y="1874519"/>
            <a:ext cx="1188720" cy="365760"/>
          </a:xfrm>
          <a:prstGeom prst="rect">
            <a:avLst/>
          </a:prstGeom>
          <a:noFill/>
        </p:spPr>
        <p:txBody>
          <a:bodyPr wrap="square" lIns="0" rIns="0" tIns="0" bIns="0" anchor="t">
            <a:spAutoFit/>
          </a:bodyPr>
          <a:lstStyle/>
          <a:p>
            <a:pPr algn="r">
              <a:spcAft>
                <a:spcPts val="0"/>
              </a:spcAft>
            </a:pPr>
            <a:r>
              <a:rPr sz="1500" b="1" i="0">
                <a:solidFill>
                  <a:srgbClr val="1E2528"/>
                </a:solidFill>
                <a:latin typeface="Calibri"/>
              </a:rPr>
              <a:t>216 km</a:t>
            </a:r>
          </a:p>
        </p:txBody>
      </p:sp>
      <p:sp>
        <p:nvSpPr>
          <p:cNvPr id="9" name="Rounded Rectangle 8"/>
          <p:cNvSpPr/>
          <p:nvPr/>
        </p:nvSpPr>
        <p:spPr>
          <a:xfrm>
            <a:off x="548640" y="2697480"/>
            <a:ext cx="6583680" cy="804672"/>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31520" y="2825496"/>
            <a:ext cx="548640" cy="548640"/>
          </a:xfrm>
          <a:prstGeom prst="ellipse">
            <a:avLst/>
          </a:prstGeom>
          <a:solidFill>
            <a:srgbClr val="E864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A6</a:t>
            </a:r>
          </a:p>
        </p:txBody>
      </p:sp>
      <p:sp>
        <p:nvSpPr>
          <p:cNvPr id="11" name="TextBox 10"/>
          <p:cNvSpPr txBox="1"/>
          <p:nvPr/>
        </p:nvSpPr>
        <p:spPr>
          <a:xfrm>
            <a:off x="1508760" y="2788920"/>
            <a:ext cx="4480560" cy="365760"/>
          </a:xfrm>
          <a:prstGeom prst="rect">
            <a:avLst/>
          </a:prstGeom>
          <a:noFill/>
        </p:spPr>
        <p:txBody>
          <a:bodyPr wrap="square" lIns="0" rIns="0" tIns="0" bIns="0" anchor="t">
            <a:spAutoFit/>
          </a:bodyPr>
          <a:lstStyle/>
          <a:p>
            <a:pPr algn="l">
              <a:spcAft>
                <a:spcPts val="0"/>
              </a:spcAft>
            </a:pPr>
            <a:r>
              <a:rPr sz="1500" b="1" i="0">
                <a:solidFill>
                  <a:srgbClr val="1E2528"/>
                </a:solidFill>
                <a:latin typeface="Calibri"/>
              </a:rPr>
              <a:t>Kampala → Gulu → Elegu</a:t>
            </a:r>
          </a:p>
        </p:txBody>
      </p:sp>
      <p:sp>
        <p:nvSpPr>
          <p:cNvPr id="12" name="TextBox 11"/>
          <p:cNvSpPr txBox="1"/>
          <p:nvPr/>
        </p:nvSpPr>
        <p:spPr>
          <a:xfrm>
            <a:off x="1508760" y="3108960"/>
            <a:ext cx="5394960" cy="365760"/>
          </a:xfrm>
          <a:prstGeom prst="rect">
            <a:avLst/>
          </a:prstGeom>
          <a:noFill/>
        </p:spPr>
        <p:txBody>
          <a:bodyPr wrap="square" lIns="0" rIns="0" tIns="0" bIns="0" anchor="t">
            <a:spAutoFit/>
          </a:bodyPr>
          <a:lstStyle/>
          <a:p>
            <a:pPr algn="l">
              <a:spcAft>
                <a:spcPts val="0"/>
              </a:spcAft>
            </a:pPr>
            <a:r>
              <a:rPr sz="1250" b="0" i="0">
                <a:solidFill>
                  <a:srgbClr val="5B6770"/>
                </a:solidFill>
                <a:latin typeface="Calibri"/>
              </a:rPr>
              <a:t>South Sudan border; Juba and the Gulu logistics hub</a:t>
            </a:r>
          </a:p>
        </p:txBody>
      </p:sp>
      <p:sp>
        <p:nvSpPr>
          <p:cNvPr id="13" name="TextBox 12"/>
          <p:cNvSpPr txBox="1"/>
          <p:nvPr/>
        </p:nvSpPr>
        <p:spPr>
          <a:xfrm>
            <a:off x="5760720" y="2788920"/>
            <a:ext cx="1188720" cy="365760"/>
          </a:xfrm>
          <a:prstGeom prst="rect">
            <a:avLst/>
          </a:prstGeom>
          <a:noFill/>
        </p:spPr>
        <p:txBody>
          <a:bodyPr wrap="square" lIns="0" rIns="0" tIns="0" bIns="0" anchor="t">
            <a:spAutoFit/>
          </a:bodyPr>
          <a:lstStyle/>
          <a:p>
            <a:pPr algn="r">
              <a:spcAft>
                <a:spcPts val="0"/>
              </a:spcAft>
            </a:pPr>
            <a:r>
              <a:rPr sz="1500" b="1" i="0">
                <a:solidFill>
                  <a:srgbClr val="1E2528"/>
                </a:solidFill>
                <a:latin typeface="Calibri"/>
              </a:rPr>
              <a:t>431 km</a:t>
            </a:r>
          </a:p>
        </p:txBody>
      </p:sp>
      <p:sp>
        <p:nvSpPr>
          <p:cNvPr id="14" name="Rounded Rectangle 13"/>
          <p:cNvSpPr/>
          <p:nvPr/>
        </p:nvSpPr>
        <p:spPr>
          <a:xfrm>
            <a:off x="548640" y="3611880"/>
            <a:ext cx="6583680" cy="804672"/>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31520" y="3739896"/>
            <a:ext cx="548640" cy="548640"/>
          </a:xfrm>
          <a:prstGeom prst="ellipse">
            <a:avLst/>
          </a:prstGeom>
          <a:solidFill>
            <a:srgbClr val="1AA8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A2</a:t>
            </a:r>
          </a:p>
        </p:txBody>
      </p:sp>
      <p:sp>
        <p:nvSpPr>
          <p:cNvPr id="16" name="TextBox 15"/>
          <p:cNvSpPr txBox="1"/>
          <p:nvPr/>
        </p:nvSpPr>
        <p:spPr>
          <a:xfrm>
            <a:off x="1508760" y="3703320"/>
            <a:ext cx="4480560" cy="365760"/>
          </a:xfrm>
          <a:prstGeom prst="rect">
            <a:avLst/>
          </a:prstGeom>
          <a:noFill/>
        </p:spPr>
        <p:txBody>
          <a:bodyPr wrap="square" lIns="0" rIns="0" tIns="0" bIns="0" anchor="t">
            <a:spAutoFit/>
          </a:bodyPr>
          <a:lstStyle/>
          <a:p>
            <a:pPr algn="l">
              <a:spcAft>
                <a:spcPts val="0"/>
              </a:spcAft>
            </a:pPr>
            <a:r>
              <a:rPr sz="1500" b="1" i="0">
                <a:solidFill>
                  <a:srgbClr val="1E2528"/>
                </a:solidFill>
                <a:latin typeface="Calibri"/>
              </a:rPr>
              <a:t>Kampala → Masaka → Katuna</a:t>
            </a:r>
          </a:p>
        </p:txBody>
      </p:sp>
      <p:sp>
        <p:nvSpPr>
          <p:cNvPr id="17" name="TextBox 16"/>
          <p:cNvSpPr txBox="1"/>
          <p:nvPr/>
        </p:nvSpPr>
        <p:spPr>
          <a:xfrm>
            <a:off x="1508760" y="4023360"/>
            <a:ext cx="5394960" cy="365760"/>
          </a:xfrm>
          <a:prstGeom prst="rect">
            <a:avLst/>
          </a:prstGeom>
          <a:noFill/>
        </p:spPr>
        <p:txBody>
          <a:bodyPr wrap="square" lIns="0" rIns="0" tIns="0" bIns="0" anchor="t">
            <a:spAutoFit/>
          </a:bodyPr>
          <a:lstStyle/>
          <a:p>
            <a:pPr algn="l">
              <a:spcAft>
                <a:spcPts val="0"/>
              </a:spcAft>
            </a:pPr>
            <a:r>
              <a:rPr sz="1250" b="0" i="0">
                <a:solidFill>
                  <a:srgbClr val="5B6770"/>
                </a:solidFill>
                <a:latin typeface="Calibri"/>
              </a:rPr>
              <a:t>Rwanda border; Kigali and the Central Corridor</a:t>
            </a:r>
          </a:p>
        </p:txBody>
      </p:sp>
      <p:sp>
        <p:nvSpPr>
          <p:cNvPr id="18" name="TextBox 17"/>
          <p:cNvSpPr txBox="1"/>
          <p:nvPr/>
        </p:nvSpPr>
        <p:spPr>
          <a:xfrm>
            <a:off x="5760720" y="3703320"/>
            <a:ext cx="1188720" cy="365760"/>
          </a:xfrm>
          <a:prstGeom prst="rect">
            <a:avLst/>
          </a:prstGeom>
          <a:noFill/>
        </p:spPr>
        <p:txBody>
          <a:bodyPr wrap="square" lIns="0" rIns="0" tIns="0" bIns="0" anchor="t">
            <a:spAutoFit/>
          </a:bodyPr>
          <a:lstStyle/>
          <a:p>
            <a:pPr algn="r">
              <a:spcAft>
                <a:spcPts val="0"/>
              </a:spcAft>
            </a:pPr>
            <a:r>
              <a:rPr sz="1500" b="1" i="0">
                <a:solidFill>
                  <a:srgbClr val="1E2528"/>
                </a:solidFill>
                <a:latin typeface="Calibri"/>
              </a:rPr>
              <a:t>426 km</a:t>
            </a:r>
          </a:p>
        </p:txBody>
      </p:sp>
      <p:sp>
        <p:nvSpPr>
          <p:cNvPr id="19" name="Rounded Rectangle 18"/>
          <p:cNvSpPr/>
          <p:nvPr/>
        </p:nvSpPr>
        <p:spPr>
          <a:xfrm>
            <a:off x="548640" y="4526280"/>
            <a:ext cx="6583680" cy="804672"/>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31520" y="4654296"/>
            <a:ext cx="548640" cy="548640"/>
          </a:xfrm>
          <a:prstGeom prst="ellipse">
            <a:avLst/>
          </a:prstGeom>
          <a:solidFill>
            <a:srgbClr val="E89C1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A9</a:t>
            </a:r>
          </a:p>
        </p:txBody>
      </p:sp>
      <p:sp>
        <p:nvSpPr>
          <p:cNvPr id="21" name="TextBox 20"/>
          <p:cNvSpPr txBox="1"/>
          <p:nvPr/>
        </p:nvSpPr>
        <p:spPr>
          <a:xfrm>
            <a:off x="1508760" y="4617720"/>
            <a:ext cx="4480560" cy="365760"/>
          </a:xfrm>
          <a:prstGeom prst="rect">
            <a:avLst/>
          </a:prstGeom>
          <a:noFill/>
        </p:spPr>
        <p:txBody>
          <a:bodyPr wrap="square" lIns="0" rIns="0" tIns="0" bIns="0" anchor="t">
            <a:spAutoFit/>
          </a:bodyPr>
          <a:lstStyle/>
          <a:p>
            <a:pPr algn="l">
              <a:spcAft>
                <a:spcPts val="0"/>
              </a:spcAft>
            </a:pPr>
            <a:r>
              <a:rPr sz="1500" b="1" i="0">
                <a:solidFill>
                  <a:srgbClr val="1E2528"/>
                </a:solidFill>
                <a:latin typeface="Calibri"/>
              </a:rPr>
              <a:t>Kampala → Hoima</a:t>
            </a:r>
          </a:p>
        </p:txBody>
      </p:sp>
      <p:sp>
        <p:nvSpPr>
          <p:cNvPr id="22" name="TextBox 21"/>
          <p:cNvSpPr txBox="1"/>
          <p:nvPr/>
        </p:nvSpPr>
        <p:spPr>
          <a:xfrm>
            <a:off x="1508760" y="4937760"/>
            <a:ext cx="5394960" cy="365760"/>
          </a:xfrm>
          <a:prstGeom prst="rect">
            <a:avLst/>
          </a:prstGeom>
          <a:noFill/>
        </p:spPr>
        <p:txBody>
          <a:bodyPr wrap="square" lIns="0" rIns="0" tIns="0" bIns="0" anchor="t">
            <a:spAutoFit/>
          </a:bodyPr>
          <a:lstStyle/>
          <a:p>
            <a:pPr algn="l">
              <a:spcAft>
                <a:spcPts val="0"/>
              </a:spcAft>
            </a:pPr>
            <a:r>
              <a:rPr sz="1250" b="0" i="0">
                <a:solidFill>
                  <a:srgbClr val="5B6770"/>
                </a:solidFill>
                <a:latin typeface="Calibri"/>
              </a:rPr>
              <a:t>Albertine oil region</a:t>
            </a:r>
          </a:p>
        </p:txBody>
      </p:sp>
      <p:sp>
        <p:nvSpPr>
          <p:cNvPr id="23" name="TextBox 22"/>
          <p:cNvSpPr txBox="1"/>
          <p:nvPr/>
        </p:nvSpPr>
        <p:spPr>
          <a:xfrm>
            <a:off x="5760720" y="4617720"/>
            <a:ext cx="1188720" cy="365760"/>
          </a:xfrm>
          <a:prstGeom prst="rect">
            <a:avLst/>
          </a:prstGeom>
          <a:noFill/>
        </p:spPr>
        <p:txBody>
          <a:bodyPr wrap="square" lIns="0" rIns="0" tIns="0" bIns="0" anchor="t">
            <a:spAutoFit/>
          </a:bodyPr>
          <a:lstStyle/>
          <a:p>
            <a:pPr algn="r">
              <a:spcAft>
                <a:spcPts val="0"/>
              </a:spcAft>
            </a:pPr>
            <a:r>
              <a:rPr sz="1500" b="1" i="0">
                <a:solidFill>
                  <a:srgbClr val="1E2528"/>
                </a:solidFill>
                <a:latin typeface="Calibri"/>
              </a:rPr>
              <a:t>194 km</a:t>
            </a:r>
          </a:p>
        </p:txBody>
      </p:sp>
      <p:sp>
        <p:nvSpPr>
          <p:cNvPr id="24" name="Rounded Rectangle 23"/>
          <p:cNvSpPr/>
          <p:nvPr/>
        </p:nvSpPr>
        <p:spPr>
          <a:xfrm>
            <a:off x="548640" y="5440680"/>
            <a:ext cx="6583680" cy="804672"/>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1520" y="5568696"/>
            <a:ext cx="548640" cy="548640"/>
          </a:xfrm>
          <a:prstGeom prst="ellipse">
            <a:avLst/>
          </a:prstGeom>
          <a:solidFill>
            <a:srgbClr val="8A5CC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A5</a:t>
            </a:r>
          </a:p>
        </p:txBody>
      </p:sp>
      <p:sp>
        <p:nvSpPr>
          <p:cNvPr id="26" name="TextBox 25"/>
          <p:cNvSpPr txBox="1"/>
          <p:nvPr/>
        </p:nvSpPr>
        <p:spPr>
          <a:xfrm>
            <a:off x="1508760" y="5532120"/>
            <a:ext cx="4480560" cy="365760"/>
          </a:xfrm>
          <a:prstGeom prst="rect">
            <a:avLst/>
          </a:prstGeom>
          <a:noFill/>
        </p:spPr>
        <p:txBody>
          <a:bodyPr wrap="square" lIns="0" rIns="0" tIns="0" bIns="0" anchor="t">
            <a:spAutoFit/>
          </a:bodyPr>
          <a:lstStyle/>
          <a:p>
            <a:pPr algn="l">
              <a:spcAft>
                <a:spcPts val="0"/>
              </a:spcAft>
            </a:pPr>
            <a:r>
              <a:rPr sz="1500" b="1" i="0">
                <a:solidFill>
                  <a:srgbClr val="1E2528"/>
                </a:solidFill>
                <a:latin typeface="Calibri"/>
              </a:rPr>
              <a:t>Kampala → Mubende → Fort Portal → Kasese → Bwera</a:t>
            </a:r>
          </a:p>
        </p:txBody>
      </p:sp>
      <p:sp>
        <p:nvSpPr>
          <p:cNvPr id="27" name="TextBox 26"/>
          <p:cNvSpPr txBox="1"/>
          <p:nvPr/>
        </p:nvSpPr>
        <p:spPr>
          <a:xfrm>
            <a:off x="1508760" y="5852160"/>
            <a:ext cx="5394960" cy="365760"/>
          </a:xfrm>
          <a:prstGeom prst="rect">
            <a:avLst/>
          </a:prstGeom>
          <a:noFill/>
        </p:spPr>
        <p:txBody>
          <a:bodyPr wrap="square" lIns="0" rIns="0" tIns="0" bIns="0" anchor="t">
            <a:spAutoFit/>
          </a:bodyPr>
          <a:lstStyle/>
          <a:p>
            <a:pPr algn="l">
              <a:spcAft>
                <a:spcPts val="0"/>
              </a:spcAft>
            </a:pPr>
            <a:r>
              <a:rPr sz="1250" b="0" i="0">
                <a:solidFill>
                  <a:srgbClr val="5B6770"/>
                </a:solidFill>
                <a:latin typeface="Calibri"/>
              </a:rPr>
              <a:t>DR Congo border at Mpondwe; Kasese and North Kivu</a:t>
            </a:r>
          </a:p>
        </p:txBody>
      </p:sp>
      <p:sp>
        <p:nvSpPr>
          <p:cNvPr id="28" name="TextBox 27"/>
          <p:cNvSpPr txBox="1"/>
          <p:nvPr/>
        </p:nvSpPr>
        <p:spPr>
          <a:xfrm>
            <a:off x="5760720" y="5532120"/>
            <a:ext cx="1188720" cy="365760"/>
          </a:xfrm>
          <a:prstGeom prst="rect">
            <a:avLst/>
          </a:prstGeom>
          <a:noFill/>
        </p:spPr>
        <p:txBody>
          <a:bodyPr wrap="square" lIns="0" rIns="0" tIns="0" bIns="0" anchor="t">
            <a:spAutoFit/>
          </a:bodyPr>
          <a:lstStyle/>
          <a:p>
            <a:pPr algn="r">
              <a:spcAft>
                <a:spcPts val="0"/>
              </a:spcAft>
            </a:pPr>
            <a:r>
              <a:rPr sz="1500" b="1" i="0">
                <a:solidFill>
                  <a:srgbClr val="1E2528"/>
                </a:solidFill>
                <a:latin typeface="Calibri"/>
              </a:rPr>
              <a:t>418 km</a:t>
            </a:r>
          </a:p>
        </p:txBody>
      </p:sp>
      <p:pic>
        <p:nvPicPr>
          <p:cNvPr id="29" name="Picture 28" descr="m01.png"/>
          <p:cNvPicPr>
            <a:picLocks noChangeAspect="1"/>
          </p:cNvPicPr>
          <p:nvPr/>
        </p:nvPicPr>
        <p:blipFill>
          <a:blip r:embed="rId2"/>
          <a:stretch>
            <a:fillRect/>
          </a:stretch>
        </p:blipFill>
        <p:spPr>
          <a:xfrm>
            <a:off x="7589520" y="1645920"/>
            <a:ext cx="4105855" cy="4663440"/>
          </a:xfrm>
          <a:prstGeom prst="rect">
            <a:avLst/>
          </a:prstGeom>
        </p:spPr>
      </p:pic>
      <p:sp>
        <p:nvSpPr>
          <p:cNvPr id="30" name="TextBox 29"/>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Map: corridor centrelines built from OpenStreetMap routes; squares are weighbridges, bars are border crossings.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The same roads are now village high streets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Markets, shops, schools, taxi stops and junctions have gathered along the tarmac</a:t>
            </a:r>
          </a:p>
        </p:txBody>
      </p:sp>
      <p:sp>
        <p:nvSpPr>
          <p:cNvPr id="4" name="Rounded Rectangle 3"/>
          <p:cNvSpPr/>
          <p:nvPr/>
        </p:nvSpPr>
        <p:spPr>
          <a:xfrm>
            <a:off x="548640" y="1920240"/>
            <a:ext cx="352044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48840"/>
            <a:ext cx="2926080" cy="914400"/>
          </a:xfrm>
          <a:prstGeom prst="rect">
            <a:avLst/>
          </a:prstGeom>
          <a:noFill/>
        </p:spPr>
        <p:txBody>
          <a:bodyPr wrap="square" lIns="0" rIns="0" tIns="0" bIns="0" anchor="t">
            <a:spAutoFit/>
          </a:bodyPr>
          <a:lstStyle/>
          <a:p>
            <a:pPr algn="l">
              <a:spcAft>
                <a:spcPts val="0"/>
              </a:spcAft>
            </a:pPr>
            <a:r>
              <a:rPr sz="5400" b="1" i="0">
                <a:solidFill>
                  <a:srgbClr val="D9A441"/>
                </a:solidFill>
                <a:latin typeface="Cambria"/>
              </a:rPr>
              <a:t>56–74%</a:t>
            </a:r>
          </a:p>
        </p:txBody>
      </p:sp>
      <p:sp>
        <p:nvSpPr>
          <p:cNvPr id="6" name="TextBox 5"/>
          <p:cNvSpPr txBox="1"/>
          <p:nvPr/>
        </p:nvSpPr>
        <p:spPr>
          <a:xfrm>
            <a:off x="868680" y="3154680"/>
            <a:ext cx="3017520" cy="731520"/>
          </a:xfrm>
          <a:prstGeom prst="rect">
            <a:avLst/>
          </a:prstGeom>
          <a:noFill/>
        </p:spPr>
        <p:txBody>
          <a:bodyPr wrap="square" lIns="0" rIns="0" tIns="0" bIns="0" anchor="t">
            <a:spAutoFit/>
          </a:bodyPr>
          <a:lstStyle/>
          <a:p>
            <a:pPr algn="l">
              <a:spcAft>
                <a:spcPts val="0"/>
              </a:spcAft>
            </a:pPr>
            <a:r>
              <a:rPr sz="1600" b="0" i="0">
                <a:solidFill>
                  <a:srgbClr val="1E2528"/>
                </a:solidFill>
                <a:latin typeface="Calibri"/>
              </a:rPr>
              <a:t>of each corridor's length is
roadside settlement</a:t>
            </a:r>
          </a:p>
        </p:txBody>
      </p:sp>
      <p:sp>
        <p:nvSpPr>
          <p:cNvPr id="7" name="Rounded Rectangle 6"/>
          <p:cNvSpPr/>
          <p:nvPr/>
        </p:nvSpPr>
        <p:spPr>
          <a:xfrm>
            <a:off x="4315968" y="1920240"/>
            <a:ext cx="352044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36007" y="2148840"/>
            <a:ext cx="2926080" cy="914400"/>
          </a:xfrm>
          <a:prstGeom prst="rect">
            <a:avLst/>
          </a:prstGeom>
          <a:noFill/>
        </p:spPr>
        <p:txBody>
          <a:bodyPr wrap="square" lIns="0" rIns="0" tIns="0" bIns="0" anchor="t">
            <a:spAutoFit/>
          </a:bodyPr>
          <a:lstStyle/>
          <a:p>
            <a:pPr algn="l">
              <a:spcAft>
                <a:spcPts val="0"/>
              </a:spcAft>
            </a:pPr>
            <a:r>
              <a:rPr sz="5400" b="1" i="0">
                <a:solidFill>
                  <a:srgbClr val="3A7D5C"/>
                </a:solidFill>
                <a:latin typeface="Cambria"/>
              </a:rPr>
              <a:t>18–36%</a:t>
            </a:r>
          </a:p>
        </p:txBody>
      </p:sp>
      <p:sp>
        <p:nvSpPr>
          <p:cNvPr id="9" name="TextBox 8"/>
          <p:cNvSpPr txBox="1"/>
          <p:nvPr/>
        </p:nvSpPr>
        <p:spPr>
          <a:xfrm>
            <a:off x="4636007" y="3154680"/>
            <a:ext cx="3017520" cy="731520"/>
          </a:xfrm>
          <a:prstGeom prst="rect">
            <a:avLst/>
          </a:prstGeom>
          <a:noFill/>
        </p:spPr>
        <p:txBody>
          <a:bodyPr wrap="square" lIns="0" rIns="0" tIns="0" bIns="0" anchor="t">
            <a:spAutoFit/>
          </a:bodyPr>
          <a:lstStyle/>
          <a:p>
            <a:pPr algn="l">
              <a:spcAft>
                <a:spcPts val="0"/>
              </a:spcAft>
            </a:pPr>
            <a:r>
              <a:rPr sz="1600" b="0" i="0">
                <a:solidFill>
                  <a:srgbClr val="1E2528"/>
                </a:solidFill>
                <a:latin typeface="Calibri"/>
              </a:rPr>
              <a:t>is still open road</a:t>
            </a:r>
          </a:p>
        </p:txBody>
      </p:sp>
      <p:sp>
        <p:nvSpPr>
          <p:cNvPr id="10" name="Rounded Rectangle 9"/>
          <p:cNvSpPr/>
          <p:nvPr/>
        </p:nvSpPr>
        <p:spPr>
          <a:xfrm>
            <a:off x="8083296" y="1920240"/>
            <a:ext cx="352044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03336" y="2148840"/>
            <a:ext cx="2926080" cy="914400"/>
          </a:xfrm>
          <a:prstGeom prst="rect">
            <a:avLst/>
          </a:prstGeom>
          <a:noFill/>
        </p:spPr>
        <p:txBody>
          <a:bodyPr wrap="square" lIns="0" rIns="0" tIns="0" bIns="0" anchor="t">
            <a:spAutoFit/>
          </a:bodyPr>
          <a:lstStyle/>
          <a:p>
            <a:pPr algn="l">
              <a:spcAft>
                <a:spcPts val="0"/>
              </a:spcAft>
            </a:pPr>
            <a:r>
              <a:rPr sz="5400" b="1" i="0">
                <a:solidFill>
                  <a:srgbClr val="C4532D"/>
                </a:solidFill>
                <a:latin typeface="Cambria"/>
              </a:rPr>
              <a:t>1.54 M</a:t>
            </a:r>
          </a:p>
        </p:txBody>
      </p:sp>
      <p:sp>
        <p:nvSpPr>
          <p:cNvPr id="12" name="TextBox 11"/>
          <p:cNvSpPr txBox="1"/>
          <p:nvPr/>
        </p:nvSpPr>
        <p:spPr>
          <a:xfrm>
            <a:off x="8403336" y="3154680"/>
            <a:ext cx="3017520" cy="731520"/>
          </a:xfrm>
          <a:prstGeom prst="rect">
            <a:avLst/>
          </a:prstGeom>
          <a:noFill/>
        </p:spPr>
        <p:txBody>
          <a:bodyPr wrap="square" lIns="0" rIns="0" tIns="0" bIns="0" anchor="t">
            <a:spAutoFit/>
          </a:bodyPr>
          <a:lstStyle/>
          <a:p>
            <a:pPr algn="l">
              <a:spcAft>
                <a:spcPts val="0"/>
              </a:spcAft>
            </a:pPr>
            <a:r>
              <a:rPr sz="1600" b="0" i="0">
                <a:solidFill>
                  <a:srgbClr val="1E2528"/>
                </a:solidFill>
                <a:latin typeface="Calibri"/>
              </a:rPr>
              <a:t>building footprints within
1 km of the five roads</a:t>
            </a:r>
          </a:p>
        </p:txBody>
      </p:sp>
      <p:sp>
        <p:nvSpPr>
          <p:cNvPr id="13" name="TextBox 12"/>
          <p:cNvSpPr txBox="1"/>
          <p:nvPr/>
        </p:nvSpPr>
        <p:spPr>
          <a:xfrm>
            <a:off x="548640" y="4434840"/>
            <a:ext cx="11064240" cy="1645920"/>
          </a:xfrm>
          <a:prstGeom prst="rect">
            <a:avLst/>
          </a:prstGeom>
          <a:noFill/>
        </p:spPr>
        <p:txBody>
          <a:bodyPr wrap="square" lIns="0" rIns="0" tIns="0" bIns="0" anchor="t">
            <a:spAutoFit/>
          </a:bodyPr>
          <a:lstStyle/>
          <a:p>
            <a:pPr algn="l">
              <a:spcAft>
                <a:spcPts val="1000"/>
              </a:spcAft>
            </a:pPr>
            <a:r>
              <a:rPr sz="1800" b="1" i="0">
                <a:solidFill>
                  <a:srgbClr val="1E2528"/>
                </a:solidFill>
                <a:latin typeface="Calibri"/>
              </a:rPr>
              <a:t>Every village trading centre on a trunk road does two jobs. </a:t>
            </a:r>
            <a:r>
              <a:rPr sz="1800" b="0" i="0">
                <a:solidFill>
                  <a:srgbClr val="1E2528"/>
                </a:solidFill>
                <a:latin typeface="Calibri"/>
              </a:rPr>
              <a:t>Long-distance trucks need speed and reliability; residents need to cross, stop, trade and turn. Where the two meet, traffic slows, crashes rise and freight costs grow.</a:t>
            </a:r>
          </a:p>
          <a:p>
            <a:pPr algn="l">
              <a:spcAft>
                <a:spcPts val="1000"/>
              </a:spcAft>
            </a:pPr>
            <a:r>
              <a:rPr sz="1800" b="1" i="0">
                <a:solidFill>
                  <a:srgbClr val="C4532D"/>
                </a:solidFill>
                <a:latin typeface="Calibri"/>
              </a:rPr>
              <a:t>Nobody has measured, corridor-wide, how much time this costs, or how quickly it is spreading.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52A"/>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FFFFFF"/>
                </a:solidFill>
                <a:latin typeface="Cambria"/>
              </a:rPr>
              <a:t>Research problem</a:t>
            </a:r>
          </a:p>
        </p:txBody>
      </p:sp>
      <p:sp>
        <p:nvSpPr>
          <p:cNvPr id="3" name="TextBox 2"/>
          <p:cNvSpPr txBox="1"/>
          <p:nvPr/>
        </p:nvSpPr>
        <p:spPr>
          <a:xfrm>
            <a:off x="548640" y="1325880"/>
            <a:ext cx="5486400" cy="3291840"/>
          </a:xfrm>
          <a:prstGeom prst="rect">
            <a:avLst/>
          </a:prstGeom>
          <a:noFill/>
        </p:spPr>
        <p:txBody>
          <a:bodyPr wrap="square" lIns="0" rIns="0" tIns="0" bIns="0" anchor="t">
            <a:spAutoFit/>
          </a:bodyPr>
          <a:lstStyle/>
          <a:p>
            <a:pPr algn="l">
              <a:spcAft>
                <a:spcPts val="1400"/>
              </a:spcAft>
            </a:pPr>
            <a:r>
              <a:rPr sz="2200" b="1" i="0">
                <a:solidFill>
                  <a:srgbClr val="FFFFFF"/>
                </a:solidFill>
                <a:latin typeface="Calibri"/>
              </a:rPr>
              <a:t>Delay on Uganda's corridors is widely felt but poorly measured.</a:t>
            </a:r>
          </a:p>
          <a:p>
            <a:pPr algn="l">
              <a:spcAft>
                <a:spcPts val="1400"/>
              </a:spcAft>
            </a:pPr>
            <a:r>
              <a:rPr sz="1700" b="0" i="0">
                <a:solidFill>
                  <a:srgbClr val="B8C7C4"/>
                </a:solidFill>
                <a:latin typeface="Calibri"/>
              </a:rPr>
              <a:t>Commercial traffic feeds need permissions and carry caveats. Public GPS traces on these roads are few and mostly from 2007–2013. There are no corridor-wide surveys of what slows traffic.</a:t>
            </a:r>
          </a:p>
          <a:p>
            <a:pPr algn="l">
              <a:spcAft>
                <a:spcPts val="1400"/>
              </a:spcAft>
            </a:pPr>
            <a:r>
              <a:rPr sz="1700" b="0" i="0">
                <a:solidFill>
                  <a:srgbClr val="B8C7C4"/>
                </a:solidFill>
                <a:latin typeface="Calibri"/>
              </a:rPr>
              <a:t>So planners cannot say which causes cost the most time, where they concentrate, or whether they are getting worse.</a:t>
            </a:r>
          </a:p>
        </p:txBody>
      </p:sp>
      <p:sp>
        <p:nvSpPr>
          <p:cNvPr id="4" name="Rounded Rectangle 3"/>
          <p:cNvSpPr/>
          <p:nvPr/>
        </p:nvSpPr>
        <p:spPr>
          <a:xfrm>
            <a:off x="6492240" y="1463040"/>
            <a:ext cx="5120640" cy="1234440"/>
          </a:xfrm>
          <a:prstGeom prst="roundRect">
            <a:avLst>
              <a:gd name="adj" fmla="val 6000"/>
            </a:avLst>
          </a:prstGeom>
          <a:solidFill>
            <a:srgbClr val="223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766560" y="1783080"/>
            <a:ext cx="594360" cy="59436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6" name="TextBox 5"/>
          <p:cNvSpPr txBox="1"/>
          <p:nvPr/>
        </p:nvSpPr>
        <p:spPr>
          <a:xfrm>
            <a:off x="7635240" y="1645920"/>
            <a:ext cx="3749039" cy="868680"/>
          </a:xfrm>
          <a:prstGeom prst="rect">
            <a:avLst/>
          </a:prstGeom>
          <a:noFill/>
        </p:spPr>
        <p:txBody>
          <a:bodyPr wrap="square" lIns="0" rIns="0" tIns="0" bIns="0" anchor="ctr">
            <a:spAutoFit/>
          </a:bodyPr>
          <a:lstStyle/>
          <a:p>
            <a:pPr algn="l">
              <a:spcAft>
                <a:spcPts val="0"/>
              </a:spcAft>
            </a:pPr>
            <a:r>
              <a:rPr sz="1800" b="0" i="0">
                <a:solidFill>
                  <a:srgbClr val="FFFFFF"/>
                </a:solidFill>
                <a:latin typeface="Calibri"/>
              </a:rPr>
              <a:t>Where on each road is travel slowed, and by which causes?</a:t>
            </a:r>
          </a:p>
        </p:txBody>
      </p:sp>
      <p:sp>
        <p:nvSpPr>
          <p:cNvPr id="7" name="Rounded Rectangle 6"/>
          <p:cNvSpPr/>
          <p:nvPr/>
        </p:nvSpPr>
        <p:spPr>
          <a:xfrm>
            <a:off x="6492240" y="2926080"/>
            <a:ext cx="5120640" cy="1234440"/>
          </a:xfrm>
          <a:prstGeom prst="roundRect">
            <a:avLst>
              <a:gd name="adj" fmla="val 6000"/>
            </a:avLst>
          </a:prstGeom>
          <a:solidFill>
            <a:srgbClr val="223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766560" y="3246120"/>
            <a:ext cx="594360" cy="59436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9" name="TextBox 8"/>
          <p:cNvSpPr txBox="1"/>
          <p:nvPr/>
        </p:nvSpPr>
        <p:spPr>
          <a:xfrm>
            <a:off x="7635240" y="3108960"/>
            <a:ext cx="3749039" cy="868680"/>
          </a:xfrm>
          <a:prstGeom prst="rect">
            <a:avLst/>
          </a:prstGeom>
          <a:noFill/>
        </p:spPr>
        <p:txBody>
          <a:bodyPr wrap="square" lIns="0" rIns="0" tIns="0" bIns="0" anchor="ctr">
            <a:spAutoFit/>
          </a:bodyPr>
          <a:lstStyle/>
          <a:p>
            <a:pPr algn="l">
              <a:spcAft>
                <a:spcPts val="0"/>
              </a:spcAft>
            </a:pPr>
            <a:r>
              <a:rPr sz="1800" b="0" i="0">
                <a:solidFill>
                  <a:srgbClr val="FFFFFF"/>
                </a:solidFill>
                <a:latin typeface="Calibri"/>
              </a:rPr>
              <a:t>How much has the roadside been built up since 2000?</a:t>
            </a:r>
          </a:p>
        </p:txBody>
      </p:sp>
      <p:sp>
        <p:nvSpPr>
          <p:cNvPr id="10" name="Rounded Rectangle 9"/>
          <p:cNvSpPr/>
          <p:nvPr/>
        </p:nvSpPr>
        <p:spPr>
          <a:xfrm>
            <a:off x="6492240" y="4389120"/>
            <a:ext cx="5120640" cy="1234440"/>
          </a:xfrm>
          <a:prstGeom prst="roundRect">
            <a:avLst>
              <a:gd name="adj" fmla="val 6000"/>
            </a:avLst>
          </a:prstGeom>
          <a:solidFill>
            <a:srgbClr val="2236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766560" y="4709160"/>
            <a:ext cx="594360" cy="59436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2" name="TextBox 11"/>
          <p:cNvSpPr txBox="1"/>
          <p:nvPr/>
        </p:nvSpPr>
        <p:spPr>
          <a:xfrm>
            <a:off x="7635240" y="4572000"/>
            <a:ext cx="3749039" cy="868680"/>
          </a:xfrm>
          <a:prstGeom prst="rect">
            <a:avLst/>
          </a:prstGeom>
          <a:noFill/>
        </p:spPr>
        <p:txBody>
          <a:bodyPr wrap="square" lIns="0" rIns="0" tIns="0" bIns="0" anchor="ctr">
            <a:spAutoFit/>
          </a:bodyPr>
          <a:lstStyle/>
          <a:p>
            <a:pPr algn="l">
              <a:spcAft>
                <a:spcPts val="0"/>
              </a:spcAft>
            </a:pPr>
            <a:r>
              <a:rPr sz="1800" b="0" i="0">
                <a:solidFill>
                  <a:srgbClr val="FFFFFF"/>
                </a:solidFill>
                <a:latin typeface="Calibri"/>
              </a:rPr>
              <a:t>Which stretches, and which fixes, would save the most time, fuel and risk?</a:t>
            </a:r>
          </a:p>
        </p:txBody>
      </p:sp>
      <p:sp>
        <p:nvSpPr>
          <p:cNvPr id="13" name="TextBox 12"/>
          <p:cNvSpPr txBox="1"/>
          <p:nvPr/>
        </p:nvSpPr>
        <p:spPr>
          <a:xfrm>
            <a:off x="548640" y="5120640"/>
            <a:ext cx="5486400" cy="914400"/>
          </a:xfrm>
          <a:prstGeom prst="rect">
            <a:avLst/>
          </a:prstGeom>
          <a:noFill/>
        </p:spPr>
        <p:txBody>
          <a:bodyPr wrap="square" lIns="0" rIns="0" tIns="0" bIns="0" anchor="t">
            <a:spAutoFit/>
          </a:bodyPr>
          <a:lstStyle/>
          <a:p>
            <a:pPr algn="l">
              <a:spcAft>
                <a:spcPts val="0"/>
              </a:spcAft>
            </a:pPr>
            <a:r>
              <a:rPr sz="1600" b="1" i="0">
                <a:solidFill>
                  <a:srgbClr val="D9A441"/>
                </a:solidFill>
                <a:latin typeface="Calibri"/>
              </a:rPr>
              <a:t>Approach: </a:t>
            </a:r>
            <a:r>
              <a:rPr sz="1600" b="0" i="0">
                <a:solidFill>
                  <a:srgbClr val="B8C7C4"/>
                </a:solidFill>
                <a:latin typeface="Calibri"/>
              </a:rPr>
              <a:t>measure the causes of delay from open data, cost them in minutes, fuel and exposure, and check the result against published trip, transit and crash records.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Data: open sources only</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Every cause is measured from public data; published records are used only to check the model</a:t>
            </a:r>
          </a:p>
        </p:txBody>
      </p:sp>
      <p:sp>
        <p:nvSpPr>
          <p:cNvPr id="4" name="Rounded Rectangle 3"/>
          <p:cNvSpPr/>
          <p:nvPr/>
        </p:nvSpPr>
        <p:spPr>
          <a:xfrm>
            <a:off x="548640" y="182880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05740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Roads &amp; controls</a:t>
            </a:r>
          </a:p>
        </p:txBody>
      </p:sp>
      <p:sp>
        <p:nvSpPr>
          <p:cNvPr id="6" name="TextBox 5"/>
          <p:cNvSpPr txBox="1"/>
          <p:nvPr/>
        </p:nvSpPr>
        <p:spPr>
          <a:xfrm>
            <a:off x="822959" y="248716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OpenStreetMap</a:t>
            </a:r>
          </a:p>
        </p:txBody>
      </p:sp>
      <p:sp>
        <p:nvSpPr>
          <p:cNvPr id="7" name="TextBox 6"/>
          <p:cNvSpPr txBox="1"/>
          <p:nvPr/>
        </p:nvSpPr>
        <p:spPr>
          <a:xfrm>
            <a:off x="822959" y="283464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Routes, joining roads, signals, crossings, humps, police posts, weighbridges, water</a:t>
            </a:r>
          </a:p>
        </p:txBody>
      </p:sp>
      <p:sp>
        <p:nvSpPr>
          <p:cNvPr id="8" name="Rounded Rectangle 7"/>
          <p:cNvSpPr/>
          <p:nvPr/>
        </p:nvSpPr>
        <p:spPr>
          <a:xfrm>
            <a:off x="4297679" y="182880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9" y="205740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Buildings &amp; growth</a:t>
            </a:r>
          </a:p>
        </p:txBody>
      </p:sp>
      <p:sp>
        <p:nvSpPr>
          <p:cNvPr id="10" name="TextBox 9"/>
          <p:cNvSpPr txBox="1"/>
          <p:nvPr/>
        </p:nvSpPr>
        <p:spPr>
          <a:xfrm>
            <a:off x="4571999" y="248716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Open Buildings v3 · GHSL</a:t>
            </a:r>
          </a:p>
        </p:txBody>
      </p:sp>
      <p:sp>
        <p:nvSpPr>
          <p:cNvPr id="11" name="TextBox 10"/>
          <p:cNvSpPr txBox="1"/>
          <p:nvPr/>
        </p:nvSpPr>
        <p:spPr>
          <a:xfrm>
            <a:off x="4571999" y="283464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1.54 M footprints within 1 km; built-up surface 2000–2020</a:t>
            </a:r>
          </a:p>
        </p:txBody>
      </p:sp>
      <p:sp>
        <p:nvSpPr>
          <p:cNvPr id="12" name="Rounded Rectangle 11"/>
          <p:cNvSpPr/>
          <p:nvPr/>
        </p:nvSpPr>
        <p:spPr>
          <a:xfrm>
            <a:off x="8046719" y="182880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205740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Terrain &amp; rain</a:t>
            </a:r>
          </a:p>
        </p:txBody>
      </p:sp>
      <p:sp>
        <p:nvSpPr>
          <p:cNvPr id="14" name="TextBox 13"/>
          <p:cNvSpPr txBox="1"/>
          <p:nvPr/>
        </p:nvSpPr>
        <p:spPr>
          <a:xfrm>
            <a:off x="8321040" y="248716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Copernicus GLO-30 · CHIRPS</a:t>
            </a:r>
          </a:p>
        </p:txBody>
      </p:sp>
      <p:sp>
        <p:nvSpPr>
          <p:cNvPr id="15" name="TextBox 14"/>
          <p:cNvSpPr txBox="1"/>
          <p:nvPr/>
        </p:nvSpPr>
        <p:spPr>
          <a:xfrm>
            <a:off x="8321040" y="283464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Climb and grade per 500 m; daily rain 2006–2025</a:t>
            </a:r>
          </a:p>
        </p:txBody>
      </p:sp>
      <p:sp>
        <p:nvSpPr>
          <p:cNvPr id="16" name="Rounded Rectangle 15"/>
          <p:cNvSpPr/>
          <p:nvPr/>
        </p:nvSpPr>
        <p:spPr>
          <a:xfrm>
            <a:off x="548640" y="406908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29768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Trip times</a:t>
            </a:r>
          </a:p>
        </p:txBody>
      </p:sp>
      <p:sp>
        <p:nvSpPr>
          <p:cNvPr id="18" name="TextBox 17"/>
          <p:cNvSpPr txBox="1"/>
          <p:nvPr/>
        </p:nvSpPr>
        <p:spPr>
          <a:xfrm>
            <a:off x="822959" y="472744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Rome2rio, bus timetables</a:t>
            </a:r>
          </a:p>
        </p:txBody>
      </p:sp>
      <p:sp>
        <p:nvSpPr>
          <p:cNvPr id="19" name="TextBox 18"/>
          <p:cNvSpPr txBox="1"/>
          <p:nvPr/>
        </p:nvSpPr>
        <p:spPr>
          <a:xfrm>
            <a:off x="822959" y="507492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Independent car trip times to check the model</a:t>
            </a:r>
          </a:p>
        </p:txBody>
      </p:sp>
      <p:sp>
        <p:nvSpPr>
          <p:cNvPr id="20" name="Rounded Rectangle 19"/>
          <p:cNvSpPr/>
          <p:nvPr/>
        </p:nvSpPr>
        <p:spPr>
          <a:xfrm>
            <a:off x="4297679" y="406908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1999" y="429768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Trucks</a:t>
            </a:r>
          </a:p>
        </p:txBody>
      </p:sp>
      <p:sp>
        <p:nvSpPr>
          <p:cNvPr id="22" name="TextBox 21"/>
          <p:cNvSpPr txBox="1"/>
          <p:nvPr/>
        </p:nvSpPr>
        <p:spPr>
          <a:xfrm>
            <a:off x="4571999" y="472744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NCTTCA Observatory 2025–26</a:t>
            </a:r>
          </a:p>
        </p:txBody>
      </p:sp>
      <p:sp>
        <p:nvSpPr>
          <p:cNvPr id="23" name="TextBox 22"/>
          <p:cNvSpPr txBox="1"/>
          <p:nvPr/>
        </p:nvSpPr>
        <p:spPr>
          <a:xfrm>
            <a:off x="4571999" y="507492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GPS and RECTS transit times, stop reasons, border times, station truck counts</a:t>
            </a:r>
          </a:p>
        </p:txBody>
      </p:sp>
      <p:sp>
        <p:nvSpPr>
          <p:cNvPr id="24" name="Rounded Rectangle 23"/>
          <p:cNvSpPr/>
          <p:nvPr/>
        </p:nvSpPr>
        <p:spPr>
          <a:xfrm>
            <a:off x="8046719" y="4069080"/>
            <a:ext cx="3520440" cy="20116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0" y="4297680"/>
            <a:ext cx="3017520" cy="365760"/>
          </a:xfrm>
          <a:prstGeom prst="rect">
            <a:avLst/>
          </a:prstGeom>
          <a:noFill/>
        </p:spPr>
        <p:txBody>
          <a:bodyPr wrap="square" lIns="0" rIns="0" tIns="0" bIns="0" anchor="t">
            <a:spAutoFit/>
          </a:bodyPr>
          <a:lstStyle/>
          <a:p>
            <a:pPr algn="l">
              <a:spcAft>
                <a:spcPts val="0"/>
              </a:spcAft>
            </a:pPr>
            <a:r>
              <a:rPr sz="2000" b="1" i="0">
                <a:solidFill>
                  <a:srgbClr val="1E2528"/>
                </a:solidFill>
                <a:latin typeface="Cambria"/>
              </a:rPr>
              <a:t>Crashes</a:t>
            </a:r>
          </a:p>
        </p:txBody>
      </p:sp>
      <p:sp>
        <p:nvSpPr>
          <p:cNvPr id="26" name="TextBox 25"/>
          <p:cNvSpPr txBox="1"/>
          <p:nvPr/>
        </p:nvSpPr>
        <p:spPr>
          <a:xfrm>
            <a:off x="8321040" y="4727448"/>
            <a:ext cx="3017520" cy="320040"/>
          </a:xfrm>
          <a:prstGeom prst="rect">
            <a:avLst/>
          </a:prstGeom>
          <a:noFill/>
        </p:spPr>
        <p:txBody>
          <a:bodyPr wrap="square" lIns="0" rIns="0" tIns="0" bIns="0" anchor="t">
            <a:spAutoFit/>
          </a:bodyPr>
          <a:lstStyle/>
          <a:p>
            <a:pPr algn="l">
              <a:spcAft>
                <a:spcPts val="0"/>
              </a:spcAft>
            </a:pPr>
            <a:r>
              <a:rPr sz="1400" b="1" i="0">
                <a:solidFill>
                  <a:srgbClr val="C4532D"/>
                </a:solidFill>
                <a:latin typeface="Calibri"/>
              </a:rPr>
              <a:t>Uganda Police traffic officers</a:t>
            </a:r>
          </a:p>
        </p:txBody>
      </p:sp>
      <p:sp>
        <p:nvSpPr>
          <p:cNvPr id="27" name="TextBox 26"/>
          <p:cNvSpPr txBox="1"/>
          <p:nvPr/>
        </p:nvSpPr>
        <p:spPr>
          <a:xfrm>
            <a:off x="8321040" y="5074920"/>
            <a:ext cx="3017520" cy="91440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About 60 named crash black spots on the corridors (2018)</a:t>
            </a:r>
          </a:p>
        </p:txBody>
      </p:sp>
      <p:sp>
        <p:nvSpPr>
          <p:cNvPr id="28" name="TextBox 27"/>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Also: Sentinel-2 imagery for an experimental moving-truck index (not used in the model); NCTTCA GHG Emissions Baseline 2025 for truck counts.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Methodology</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From road geometry to minutes, litres and exposure, with uncertainty carried through every step</a:t>
            </a:r>
          </a:p>
        </p:txBody>
      </p:sp>
      <p:sp>
        <p:nvSpPr>
          <p:cNvPr id="4" name="Rounded Rectangle 3"/>
          <p:cNvSpPr/>
          <p:nvPr/>
        </p:nvSpPr>
        <p:spPr>
          <a:xfrm>
            <a:off x="548640"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6" name="TextBox 5"/>
          <p:cNvSpPr txBox="1"/>
          <p:nvPr/>
        </p:nvSpPr>
        <p:spPr>
          <a:xfrm>
            <a:off x="777240"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Cut</a:t>
            </a:r>
          </a:p>
        </p:txBody>
      </p:sp>
      <p:sp>
        <p:nvSpPr>
          <p:cNvPr id="7" name="TextBox 6"/>
          <p:cNvSpPr txBox="1"/>
          <p:nvPr/>
        </p:nvSpPr>
        <p:spPr>
          <a:xfrm>
            <a:off x="777240"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Each corridor into 500 m pieces, every measurable cause attached</a:t>
            </a:r>
          </a:p>
        </p:txBody>
      </p:sp>
      <p:sp>
        <p:nvSpPr>
          <p:cNvPr id="8" name="Rounded Rectangle 7"/>
          <p:cNvSpPr/>
          <p:nvPr/>
        </p:nvSpPr>
        <p:spPr>
          <a:xfrm>
            <a:off x="2414016"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642616"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0" name="TextBox 9"/>
          <p:cNvSpPr txBox="1"/>
          <p:nvPr/>
        </p:nvSpPr>
        <p:spPr>
          <a:xfrm>
            <a:off x="2642616"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Classify</a:t>
            </a:r>
          </a:p>
        </p:txBody>
      </p:sp>
      <p:sp>
        <p:nvSpPr>
          <p:cNvPr id="11" name="TextBox 10"/>
          <p:cNvSpPr txBox="1"/>
          <p:nvPr/>
        </p:nvSpPr>
        <p:spPr>
          <a:xfrm>
            <a:off x="2642616"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K-means on roadside measures: open road, roadside settlement, town</a:t>
            </a:r>
          </a:p>
        </p:txBody>
      </p:sp>
      <p:sp>
        <p:nvSpPr>
          <p:cNvPr id="12" name="Rounded Rectangle 11"/>
          <p:cNvSpPr/>
          <p:nvPr/>
        </p:nvSpPr>
        <p:spPr>
          <a:xfrm>
            <a:off x="4279392"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507992" y="2194560"/>
            <a:ext cx="548640" cy="54864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4" name="TextBox 13"/>
          <p:cNvSpPr txBox="1"/>
          <p:nvPr/>
        </p:nvSpPr>
        <p:spPr>
          <a:xfrm>
            <a:off x="4507992"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Model</a:t>
            </a:r>
          </a:p>
        </p:txBody>
      </p:sp>
      <p:sp>
        <p:nvSpPr>
          <p:cNvPr id="15" name="TextBox 14"/>
          <p:cNvSpPr txBox="1"/>
          <p:nvPr/>
        </p:nvSpPr>
        <p:spPr>
          <a:xfrm>
            <a:off x="4507992"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Car and loaded-truck speed per piece, reduced by each cause; fixed stops added</a:t>
            </a:r>
          </a:p>
        </p:txBody>
      </p:sp>
      <p:sp>
        <p:nvSpPr>
          <p:cNvPr id="16" name="Rounded Rectangle 15"/>
          <p:cNvSpPr/>
          <p:nvPr/>
        </p:nvSpPr>
        <p:spPr>
          <a:xfrm>
            <a:off x="6144768"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73368" y="2194560"/>
            <a:ext cx="548640" cy="54864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8" name="TextBox 17"/>
          <p:cNvSpPr txBox="1"/>
          <p:nvPr/>
        </p:nvSpPr>
        <p:spPr>
          <a:xfrm>
            <a:off x="6373368"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Attribute</a:t>
            </a:r>
          </a:p>
        </p:txBody>
      </p:sp>
      <p:sp>
        <p:nvSpPr>
          <p:cNvPr id="19" name="TextBox 18"/>
          <p:cNvSpPr txBox="1"/>
          <p:nvPr/>
        </p:nvSpPr>
        <p:spPr>
          <a:xfrm>
            <a:off x="6373368"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Switch one cause off at a time to get the minutes and litres it adds</a:t>
            </a:r>
          </a:p>
        </p:txBody>
      </p:sp>
      <p:sp>
        <p:nvSpPr>
          <p:cNvPr id="20" name="Rounded Rectangle 19"/>
          <p:cNvSpPr/>
          <p:nvPr/>
        </p:nvSpPr>
        <p:spPr>
          <a:xfrm>
            <a:off x="8010144"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5</a:t>
            </a:r>
          </a:p>
        </p:txBody>
      </p:sp>
      <p:sp>
        <p:nvSpPr>
          <p:cNvPr id="22" name="TextBox 21"/>
          <p:cNvSpPr txBox="1"/>
          <p:nvPr/>
        </p:nvSpPr>
        <p:spPr>
          <a:xfrm>
            <a:off x="8238744"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Simulate</a:t>
            </a:r>
          </a:p>
        </p:txBody>
      </p:sp>
      <p:sp>
        <p:nvSpPr>
          <p:cNvPr id="23" name="TextBox 22"/>
          <p:cNvSpPr txBox="1"/>
          <p:nvPr/>
        </p:nvSpPr>
        <p:spPr>
          <a:xfrm>
            <a:off x="8238744"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1,000 Monte Carlo draws over every assumption for 5–95% ranges</a:t>
            </a:r>
          </a:p>
        </p:txBody>
      </p:sp>
      <p:sp>
        <p:nvSpPr>
          <p:cNvPr id="24" name="Rounded Rectangle 23"/>
          <p:cNvSpPr/>
          <p:nvPr/>
        </p:nvSpPr>
        <p:spPr>
          <a:xfrm>
            <a:off x="9875519" y="1965960"/>
            <a:ext cx="1737360" cy="292608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104119" y="2194560"/>
            <a:ext cx="548640" cy="54864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6</a:t>
            </a:r>
          </a:p>
        </p:txBody>
      </p:sp>
      <p:sp>
        <p:nvSpPr>
          <p:cNvPr id="26" name="TextBox 25"/>
          <p:cNvSpPr txBox="1"/>
          <p:nvPr/>
        </p:nvSpPr>
        <p:spPr>
          <a:xfrm>
            <a:off x="10104119" y="2926080"/>
            <a:ext cx="1325880" cy="411480"/>
          </a:xfrm>
          <a:prstGeom prst="rect">
            <a:avLst/>
          </a:prstGeom>
          <a:noFill/>
        </p:spPr>
        <p:txBody>
          <a:bodyPr wrap="square" lIns="0" rIns="0" tIns="0" bIns="0" anchor="t">
            <a:spAutoFit/>
          </a:bodyPr>
          <a:lstStyle/>
          <a:p>
            <a:pPr algn="l">
              <a:spcAft>
                <a:spcPts val="0"/>
              </a:spcAft>
            </a:pPr>
            <a:r>
              <a:rPr sz="1800" b="1" i="0">
                <a:solidFill>
                  <a:srgbClr val="1E2528"/>
                </a:solidFill>
                <a:latin typeface="Cambria"/>
              </a:rPr>
              <a:t>Check</a:t>
            </a:r>
          </a:p>
        </p:txBody>
      </p:sp>
      <p:sp>
        <p:nvSpPr>
          <p:cNvPr id="27" name="TextBox 26"/>
          <p:cNvSpPr txBox="1"/>
          <p:nvPr/>
        </p:nvSpPr>
        <p:spPr>
          <a:xfrm>
            <a:off x="10104119" y="3383280"/>
            <a:ext cx="1325880" cy="14630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Trip times, truck transit records, weighbridge stops, crash black spots, floods</a:t>
            </a:r>
          </a:p>
        </p:txBody>
      </p:sp>
      <p:sp>
        <p:nvSpPr>
          <p:cNvPr id="28" name="Rounded Rectangle 27"/>
          <p:cNvSpPr/>
          <p:nvPr/>
        </p:nvSpPr>
        <p:spPr>
          <a:xfrm>
            <a:off x="548640" y="5212080"/>
            <a:ext cx="11064240" cy="960120"/>
          </a:xfrm>
          <a:prstGeom prst="roundRect">
            <a:avLst>
              <a:gd name="adj" fmla="val 6000"/>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349240"/>
            <a:ext cx="10424160" cy="731520"/>
          </a:xfrm>
          <a:prstGeom prst="rect">
            <a:avLst/>
          </a:prstGeom>
          <a:noFill/>
        </p:spPr>
        <p:txBody>
          <a:bodyPr wrap="square" lIns="0" rIns="0" tIns="0" bIns="0" anchor="ctr">
            <a:spAutoFit/>
          </a:bodyPr>
          <a:lstStyle/>
          <a:p>
            <a:pPr algn="l">
              <a:spcAft>
                <a:spcPts val="0"/>
              </a:spcAft>
            </a:pPr>
            <a:r>
              <a:rPr sz="1500" b="1" i="0">
                <a:solidFill>
                  <a:srgbClr val="D9A441"/>
                </a:solidFill>
                <a:latin typeface="Calibri"/>
              </a:rPr>
              <a:t>Causes in the model: </a:t>
            </a:r>
            <a:r>
              <a:rPr sz="1500" b="0" i="0">
                <a:solidFill>
                  <a:srgbClr val="FFFFFF"/>
                </a:solidFill>
                <a:latin typeface="Calibri"/>
              </a:rPr>
              <a:t>roadside activity · joining roads · town speed limits · curves · hills (trucks) · signals and crossings · speed humps · police posts · weighbridges · rain (wet-day scenario)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The model reproduces independent trip times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Car travel time in light traffic, minutes: model vs Rome2rio routing estimate</a:t>
            </a:r>
          </a:p>
        </p:txBody>
      </p:sp>
      <p:graphicFrame>
        <p:nvGraphicFramePr>
          <p:cNvPr id="4" name="Chart 3"/>
          <p:cNvGraphicFramePr>
            <a:graphicFrameLocks noGrp="1"/>
          </p:cNvGraphicFramePr>
          <p:nvPr/>
        </p:nvGraphicFramePr>
        <p:xfrm>
          <a:off x="457200" y="1737360"/>
          <a:ext cx="6949440" cy="4572000"/>
        </p:xfrm>
        <a:graphic>
          <a:graphicData uri="http://schemas.openxmlformats.org/drawingml/2006/chart">
            <c:chart xmlns:c="http://schemas.openxmlformats.org/drawingml/2006/chart" r:id="rId2"/>
          </a:graphicData>
        </a:graphic>
      </p:graphicFrame>
      <p:sp>
        <p:nvSpPr>
          <p:cNvPr id="5" name="Rounded Rectangle 4"/>
          <p:cNvSpPr/>
          <p:nvPr/>
        </p:nvSpPr>
        <p:spPr>
          <a:xfrm>
            <a:off x="7863840" y="1828800"/>
            <a:ext cx="3749039"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38160" y="2011680"/>
            <a:ext cx="3291840" cy="1828800"/>
          </a:xfrm>
          <a:prstGeom prst="rect">
            <a:avLst/>
          </a:prstGeom>
          <a:noFill/>
        </p:spPr>
        <p:txBody>
          <a:bodyPr wrap="square" lIns="0" rIns="0" tIns="0" bIns="0" anchor="t">
            <a:spAutoFit/>
          </a:bodyPr>
          <a:lstStyle/>
          <a:p>
            <a:pPr algn="l">
              <a:spcAft>
                <a:spcPts val="600"/>
              </a:spcAft>
            </a:pPr>
            <a:r>
              <a:rPr sz="2600" b="1" i="0">
                <a:solidFill>
                  <a:srgbClr val="3A7D5C"/>
                </a:solidFill>
                <a:latin typeface="Cambria"/>
              </a:rPr>
              <a:t>Within 1–7%</a:t>
            </a:r>
          </a:p>
          <a:p>
            <a:pPr algn="l">
              <a:spcAft>
                <a:spcPts val="600"/>
              </a:spcAft>
            </a:pPr>
            <a:r>
              <a:rPr sz="1400" b="0" i="0">
                <a:solidFill>
                  <a:srgbClr val="1E2528"/>
                </a:solidFill>
                <a:latin typeface="Calibri"/>
              </a:rPr>
              <a:t>on the Gulu, Kabale and Hoima roads. To Fort Portal the model runs 15% fast.</a:t>
            </a:r>
          </a:p>
        </p:txBody>
      </p:sp>
      <p:sp>
        <p:nvSpPr>
          <p:cNvPr id="7" name="Rounded Rectangle 6"/>
          <p:cNvSpPr/>
          <p:nvPr/>
        </p:nvSpPr>
        <p:spPr>
          <a:xfrm>
            <a:off x="7863840" y="4114800"/>
            <a:ext cx="3749039"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4297680"/>
            <a:ext cx="3291840" cy="1828800"/>
          </a:xfrm>
          <a:prstGeom prst="rect">
            <a:avLst/>
          </a:prstGeom>
          <a:noFill/>
        </p:spPr>
        <p:txBody>
          <a:bodyPr wrap="square" lIns="0" rIns="0" tIns="0" bIns="0" anchor="t">
            <a:spAutoFit/>
          </a:bodyPr>
          <a:lstStyle/>
          <a:p>
            <a:pPr algn="l">
              <a:spcAft>
                <a:spcPts val="600"/>
              </a:spcAft>
            </a:pPr>
            <a:r>
              <a:rPr sz="2600" b="1" i="0">
                <a:solidFill>
                  <a:srgbClr val="C4532D"/>
                </a:solidFill>
                <a:latin typeface="Cambria"/>
              </a:rPr>
              <a:t>2–3 h vs ~1.5 h</a:t>
            </a:r>
          </a:p>
          <a:p>
            <a:pPr algn="l">
              <a:spcAft>
                <a:spcPts val="600"/>
              </a:spcAft>
            </a:pPr>
            <a:r>
              <a:rPr sz="1400" b="0" i="0">
                <a:solidFill>
                  <a:srgbClr val="1E2528"/>
                </a:solidFill>
                <a:latin typeface="Calibri"/>
              </a:rPr>
              <a:t>Observed Kampala–Jinja trips far exceed the model. That gap is congestion at the Kampala end.</a:t>
            </a:r>
          </a:p>
        </p:txBody>
      </p:sp>
      <p:sp>
        <p:nvSpPr>
          <p:cNvPr id="9" name="TextBox 8"/>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Source: outputs/validation.csv. The Njeru estimate covers a shorter segment than the model's, so it is the least like-for-like.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1 · Most of each corridor is settlement</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Share of corridor length by road type (500 m pieces, k-means)</a:t>
            </a:r>
          </a:p>
        </p:txBody>
      </p:sp>
      <p:graphicFrame>
        <p:nvGraphicFramePr>
          <p:cNvPr id="4" name="Chart 3"/>
          <p:cNvGraphicFramePr>
            <a:graphicFrameLocks noGrp="1"/>
          </p:cNvGraphicFramePr>
          <p:nvPr/>
        </p:nvGraphicFramePr>
        <p:xfrm>
          <a:off x="457200" y="1737360"/>
          <a:ext cx="7498079" cy="4572000"/>
        </p:xfrm>
        <a:graphic>
          <a:graphicData uri="http://schemas.openxmlformats.org/drawingml/2006/chart">
            <c:chart xmlns:c="http://schemas.openxmlformats.org/drawingml/2006/chart" r:id="rId2"/>
          </a:graphicData>
        </a:graphic>
      </p:graphicFrame>
      <p:sp>
        <p:nvSpPr>
          <p:cNvPr id="5" name="TextBox 4"/>
          <p:cNvSpPr txBox="1"/>
          <p:nvPr/>
        </p:nvSpPr>
        <p:spPr>
          <a:xfrm>
            <a:off x="8321040" y="1920240"/>
            <a:ext cx="3291840" cy="4206240"/>
          </a:xfrm>
          <a:prstGeom prst="rect">
            <a:avLst/>
          </a:prstGeom>
          <a:noFill/>
        </p:spPr>
        <p:txBody>
          <a:bodyPr wrap="square" lIns="0" rIns="0" tIns="0" bIns="0" anchor="t">
            <a:spAutoFit/>
          </a:bodyPr>
          <a:lstStyle/>
          <a:p>
            <a:pPr algn="l">
              <a:spcAft>
                <a:spcPts val="1200"/>
              </a:spcAft>
            </a:pPr>
            <a:r>
              <a:rPr sz="1900" b="1" i="0">
                <a:solidFill>
                  <a:srgbClr val="1E2528"/>
                </a:solidFill>
                <a:latin typeface="Cambria"/>
              </a:rPr>
              <a:t>What the types look like</a:t>
            </a:r>
          </a:p>
          <a:p>
            <a:pPr algn="l">
              <a:spcAft>
                <a:spcPts val="1200"/>
              </a:spcAft>
            </a:pPr>
            <a:r>
              <a:rPr sz="1500" b="1" i="0">
                <a:solidFill>
                  <a:srgbClr val="3A7D5C"/>
                </a:solidFill>
                <a:latin typeface="Calibri"/>
              </a:rPr>
              <a:t>Open road: </a:t>
            </a:r>
            <a:r>
              <a:rPr sz="1500" b="0" i="0">
                <a:solidFill>
                  <a:srgbClr val="1E2528"/>
                </a:solidFill>
                <a:latin typeface="Calibri"/>
              </a:rPr>
              <a:t>~4–10 buildings within 100 m per piece</a:t>
            </a:r>
          </a:p>
          <a:p>
            <a:pPr algn="l">
              <a:spcAft>
                <a:spcPts val="1200"/>
              </a:spcAft>
            </a:pPr>
            <a:r>
              <a:rPr sz="1500" b="1" i="0">
                <a:solidFill>
                  <a:srgbClr val="A87410"/>
                </a:solidFill>
                <a:latin typeface="Calibri"/>
              </a:rPr>
              <a:t>Settlement: </a:t>
            </a:r>
            <a:r>
              <a:rPr sz="1500" b="0" i="0">
                <a:solidFill>
                  <a:srgbClr val="1E2528"/>
                </a:solidFill>
                <a:latin typeface="Calibri"/>
              </a:rPr>
              <a:t>~90–156 buildings, ~1.6 joining roads</a:t>
            </a:r>
          </a:p>
          <a:p>
            <a:pPr algn="l">
              <a:spcAft>
                <a:spcPts val="1200"/>
              </a:spcAft>
            </a:pPr>
            <a:r>
              <a:rPr sz="1500" b="1" i="0">
                <a:solidFill>
                  <a:srgbClr val="C4532D"/>
                </a:solidFill>
                <a:latin typeface="Calibri"/>
              </a:rPr>
              <a:t>Town: </a:t>
            </a:r>
            <a:r>
              <a:rPr sz="1500" b="0" i="0">
                <a:solidFill>
                  <a:srgbClr val="1E2528"/>
                </a:solidFill>
                <a:latin typeface="Calibri"/>
              </a:rPr>
              <a:t>~322–416 buildings, 6–9 joining roads</a:t>
            </a:r>
          </a:p>
          <a:p>
            <a:pPr algn="l">
              <a:spcAft>
                <a:spcPts val="1200"/>
              </a:spcAft>
            </a:pPr>
            <a:r>
              <a:rPr sz="1500" b="0" i="1">
                <a:solidFill>
                  <a:srgbClr val="5B6770"/>
                </a:solidFill>
                <a:latin typeface="Calibri"/>
              </a:rPr>
              <a:t>The A9 to Hoima has only 36 km of truly open road.</a:t>
            </a:r>
          </a:p>
        </p:txBody>
      </p:sp>
      <p:sp>
        <p:nvSpPr>
          <p:cNvPr id="6" name="TextBox 5"/>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Source: outputs/typology_summary.csv. Three types chosen by silhouette score, clustered jointly across the corridors.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2 · Roadside activity is the biggest steady drag</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Minutes a loaded truck loses leaving Kampala, by cause (central estimate, dry day, light traffic)</a:t>
            </a:r>
          </a:p>
        </p:txBody>
      </p:sp>
      <p:graphicFrame>
        <p:nvGraphicFramePr>
          <p:cNvPr id="4" name="Chart 3"/>
          <p:cNvGraphicFramePr>
            <a:graphicFrameLocks noGrp="1"/>
          </p:cNvGraphicFramePr>
          <p:nvPr/>
        </p:nvGraphicFramePr>
        <p:xfrm>
          <a:off x="457200" y="1737360"/>
          <a:ext cx="7680960" cy="4572000"/>
        </p:xfrm>
        <a:graphic>
          <a:graphicData uri="http://schemas.openxmlformats.org/drawingml/2006/chart">
            <c:chart xmlns:c="http://schemas.openxmlformats.org/drawingml/2006/chart" r:id="rId2"/>
          </a:graphicData>
        </a:graphic>
      </p:graphicFrame>
      <p:sp>
        <p:nvSpPr>
          <p:cNvPr id="5" name="TextBox 4"/>
          <p:cNvSpPr txBox="1"/>
          <p:nvPr/>
        </p:nvSpPr>
        <p:spPr>
          <a:xfrm>
            <a:off x="8503920" y="1828800"/>
            <a:ext cx="3108960" cy="4389120"/>
          </a:xfrm>
          <a:prstGeom prst="rect">
            <a:avLst/>
          </a:prstGeom>
          <a:noFill/>
        </p:spPr>
        <p:txBody>
          <a:bodyPr wrap="square" lIns="0" rIns="0" tIns="0" bIns="0" anchor="t">
            <a:spAutoFit/>
          </a:bodyPr>
          <a:lstStyle/>
          <a:p>
            <a:pPr algn="l">
              <a:spcAft>
                <a:spcPts val="1200"/>
              </a:spcAft>
            </a:pPr>
            <a:r>
              <a:rPr sz="1500" b="1" i="0">
                <a:solidFill>
                  <a:srgbClr val="C4532D"/>
                </a:solidFill>
                <a:latin typeface="Calibri"/>
              </a:rPr>
              <a:t>Cars: </a:t>
            </a:r>
            <a:r>
              <a:rPr sz="1500" b="0" i="0">
                <a:solidFill>
                  <a:srgbClr val="1E2528"/>
                </a:solidFill>
                <a:latin typeface="Calibri"/>
              </a:rPr>
              <a:t>roadside activity is the largest cause in 56–100% of draws on every road.</a:t>
            </a:r>
          </a:p>
          <a:p>
            <a:pPr algn="l">
              <a:spcAft>
                <a:spcPts val="1200"/>
              </a:spcAft>
            </a:pPr>
            <a:r>
              <a:rPr sz="1500" b="1" i="0">
                <a:solidFill>
                  <a:srgbClr val="C4532D"/>
                </a:solidFill>
                <a:latin typeface="Calibri"/>
              </a:rPr>
              <a:t>Trucks: </a:t>
            </a:r>
            <a:r>
              <a:rPr sz="1500" b="0" i="0">
                <a:solidFill>
                  <a:srgbClr val="1E2528"/>
                </a:solidFill>
                <a:latin typeface="Calibri"/>
              </a:rPr>
              <a:t>weighbridges lead on the Malaba road, police posts on the Elegu road, hills on the Bwera and Katuna roads; rankings shift across draws.</a:t>
            </a:r>
          </a:p>
          <a:p>
            <a:pPr algn="l">
              <a:spcAft>
                <a:spcPts val="1200"/>
              </a:spcAft>
            </a:pPr>
            <a:r>
              <a:rPr sz="1500" b="0" i="1">
                <a:solidFill>
                  <a:srgbClr val="5B6770"/>
                </a:solidFill>
                <a:latin typeface="Calibri"/>
              </a:rPr>
              <a:t>A wet day adds a further 24–53 truck minutes.</a:t>
            </a:r>
          </a:p>
        </p:txBody>
      </p:sp>
      <p:sp>
        <p:nvSpPr>
          <p:cNvPr id="6" name="TextBox 5"/>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Source: outputs/travel_time_causes.csv, outputs/rank_stability.csv. Town speed limits and curves (&lt; 3 min) omitted.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252A"/>
        </a:solidFill>
        <a:effectLst/>
      </p:bgPr>
    </p:bg>
    <p:spTree>
      <p:nvGrpSpPr>
        <p:cNvPr id="1" name=""/>
        <p:cNvGrpSpPr/>
        <p:nvPr/>
      </p:nvGrpSpPr>
      <p:grpSpPr/>
      <p:sp>
        <p:nvSpPr>
          <p:cNvPr id="2" name="TextBox 1"/>
          <p:cNvSpPr txBox="1"/>
          <p:nvPr/>
        </p:nvSpPr>
        <p:spPr>
          <a:xfrm>
            <a:off x="548640" y="457200"/>
            <a:ext cx="4754880" cy="1280160"/>
          </a:xfrm>
          <a:prstGeom prst="rect">
            <a:avLst/>
          </a:prstGeom>
          <a:noFill/>
        </p:spPr>
        <p:txBody>
          <a:bodyPr wrap="square" lIns="0" rIns="0" tIns="0" bIns="0" anchor="t">
            <a:spAutoFit/>
          </a:bodyPr>
          <a:lstStyle/>
          <a:p>
            <a:pPr algn="l">
              <a:spcAft>
                <a:spcPts val="0"/>
              </a:spcAft>
            </a:pPr>
            <a:r>
              <a:rPr sz="3200" b="1" i="0">
                <a:solidFill>
                  <a:srgbClr val="FFFFFF"/>
                </a:solidFill>
                <a:latin typeface="Cambria"/>
              </a:rPr>
              <a:t>The same truck, every road</a:t>
            </a:r>
          </a:p>
        </p:txBody>
      </p:sp>
      <p:sp>
        <p:nvSpPr>
          <p:cNvPr id="3" name="TextBox 2"/>
          <p:cNvSpPr txBox="1"/>
          <p:nvPr/>
        </p:nvSpPr>
        <p:spPr>
          <a:xfrm>
            <a:off x="548640" y="1828800"/>
            <a:ext cx="4572000" cy="2926080"/>
          </a:xfrm>
          <a:prstGeom prst="rect">
            <a:avLst/>
          </a:prstGeom>
          <a:noFill/>
        </p:spPr>
        <p:txBody>
          <a:bodyPr wrap="square" lIns="0" rIns="0" tIns="0" bIns="0" anchor="t">
            <a:spAutoFit/>
          </a:bodyPr>
          <a:lstStyle/>
          <a:p>
            <a:pPr algn="l">
              <a:spcAft>
                <a:spcPts val="1200"/>
              </a:spcAft>
            </a:pPr>
            <a:r>
              <a:rPr sz="1600" b="0" i="0">
                <a:solidFill>
                  <a:srgbClr val="B8C7C4"/>
                </a:solidFill>
                <a:latin typeface="Calibri"/>
              </a:rPr>
              <a:t>A loaded truck leaves Kampala on each corridor at the same moment, next to a truck on open road.</a:t>
            </a:r>
          </a:p>
          <a:p>
            <a:pPr algn="l">
              <a:spcAft>
                <a:spcPts val="1200"/>
              </a:spcAft>
            </a:pPr>
            <a:r>
              <a:rPr sz="1600" b="0" i="0">
                <a:solidFill>
                  <a:srgbClr val="B8C7C4"/>
                </a:solidFill>
                <a:latin typeface="Calibri"/>
              </a:rPr>
              <a:t>Each road colours in with the delay it causes: towns, weighbridges, humps and hills.</a:t>
            </a:r>
          </a:p>
          <a:p>
            <a:pPr algn="l">
              <a:spcAft>
                <a:spcPts val="1200"/>
              </a:spcAft>
            </a:pPr>
            <a:r>
              <a:rPr sz="1600" b="0" i="1">
                <a:solidFill>
                  <a:srgbClr val="D9A441"/>
                </a:solidFill>
                <a:latin typeface="Calibri"/>
              </a:rPr>
              <a:t>The animation plays in slide-show mode.</a:t>
            </a:r>
          </a:p>
        </p:txBody>
      </p:sp>
      <p:pic>
        <p:nvPicPr>
          <p:cNvPr id="4" name="Picture 3" descr="a2_corridor_race.gif"/>
          <p:cNvPicPr>
            <a:picLocks noChangeAspect="1"/>
          </p:cNvPicPr>
          <p:nvPr/>
        </p:nvPicPr>
        <p:blipFill>
          <a:blip r:embed="rId2"/>
          <a:stretch>
            <a:fillRect/>
          </a:stretch>
        </p:blipFill>
        <p:spPr>
          <a:xfrm>
            <a:off x="5760720" y="320040"/>
            <a:ext cx="5829300" cy="62179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m02.png"/>
          <p:cNvPicPr>
            <a:picLocks noChangeAspect="1"/>
          </p:cNvPicPr>
          <p:nvPr/>
        </p:nvPicPr>
        <p:blipFill>
          <a:blip r:embed="rId2"/>
          <a:stretch>
            <a:fillRect/>
          </a:stretch>
        </p:blipFill>
        <p:spPr>
          <a:xfrm>
            <a:off x="365760" y="320040"/>
            <a:ext cx="6417070" cy="6217920"/>
          </a:xfrm>
          <a:prstGeom prst="rect">
            <a:avLst/>
          </a:prstGeom>
        </p:spPr>
      </p:pic>
      <p:sp>
        <p:nvSpPr>
          <p:cNvPr id="3" name="TextBox 2"/>
          <p:cNvSpPr txBox="1"/>
          <p:nvPr/>
        </p:nvSpPr>
        <p:spPr>
          <a:xfrm>
            <a:off x="7086600" y="411480"/>
            <a:ext cx="4663440" cy="1280160"/>
          </a:xfrm>
          <a:prstGeom prst="rect">
            <a:avLst/>
          </a:prstGeom>
          <a:noFill/>
        </p:spPr>
        <p:txBody>
          <a:bodyPr wrap="square" lIns="0" rIns="0" tIns="0" bIns="0" anchor="t">
            <a:spAutoFit/>
          </a:bodyPr>
          <a:lstStyle/>
          <a:p>
            <a:pPr algn="l">
              <a:spcAft>
                <a:spcPts val="0"/>
              </a:spcAft>
            </a:pPr>
            <a:r>
              <a:rPr sz="2800" b="1" i="0">
                <a:solidFill>
                  <a:srgbClr val="1E2528"/>
                </a:solidFill>
                <a:latin typeface="Cambria"/>
              </a:rPr>
              <a:t>Result 3 · Delay concentrates at a few points</a:t>
            </a:r>
          </a:p>
        </p:txBody>
      </p:sp>
      <p:sp>
        <p:nvSpPr>
          <p:cNvPr id="4" name="TextBox 3"/>
          <p:cNvSpPr txBox="1"/>
          <p:nvPr/>
        </p:nvSpPr>
        <p:spPr>
          <a:xfrm>
            <a:off x="7086600" y="1783080"/>
            <a:ext cx="4663440" cy="5486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Truck minutes lost per km vs open road; numbered: the worst 2 km stretches</a:t>
            </a:r>
          </a:p>
        </p:txBody>
      </p:sp>
      <p:sp>
        <p:nvSpPr>
          <p:cNvPr id="5" name="Oval 4"/>
          <p:cNvSpPr/>
          <p:nvPr/>
        </p:nvSpPr>
        <p:spPr>
          <a:xfrm>
            <a:off x="7086600" y="256032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6" name="TextBox 5"/>
          <p:cNvSpPr txBox="1"/>
          <p:nvPr/>
        </p:nvSpPr>
        <p:spPr>
          <a:xfrm>
            <a:off x="7726679" y="251460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Buwanga B, Malaba road km 98</a:t>
            </a:r>
          </a:p>
        </p:txBody>
      </p:sp>
      <p:sp>
        <p:nvSpPr>
          <p:cNvPr id="7" name="TextBox 6"/>
          <p:cNvSpPr txBox="1"/>
          <p:nvPr/>
        </p:nvSpPr>
        <p:spPr>
          <a:xfrm>
            <a:off x="7726679" y="284378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+12.3 truck min · weighbridge</a:t>
            </a:r>
          </a:p>
        </p:txBody>
      </p:sp>
      <p:sp>
        <p:nvSpPr>
          <p:cNvPr id="8" name="Oval 7"/>
          <p:cNvSpPr/>
          <p:nvPr/>
        </p:nvSpPr>
        <p:spPr>
          <a:xfrm>
            <a:off x="7086600" y="3383279"/>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9" name="TextBox 8"/>
          <p:cNvSpPr txBox="1"/>
          <p:nvPr/>
        </p:nvSpPr>
        <p:spPr>
          <a:xfrm>
            <a:off x="7726679" y="333756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Magezi Cell, Katuna road km 98</a:t>
            </a:r>
          </a:p>
        </p:txBody>
      </p:sp>
      <p:sp>
        <p:nvSpPr>
          <p:cNvPr id="10" name="TextBox 9"/>
          <p:cNvSpPr txBox="1"/>
          <p:nvPr/>
        </p:nvSpPr>
        <p:spPr>
          <a:xfrm>
            <a:off x="7726679" y="366674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+11.7 truck min · weighbridge</a:t>
            </a:r>
          </a:p>
        </p:txBody>
      </p:sp>
      <p:sp>
        <p:nvSpPr>
          <p:cNvPr id="11" name="Oval 10"/>
          <p:cNvSpPr/>
          <p:nvPr/>
        </p:nvSpPr>
        <p:spPr>
          <a:xfrm>
            <a:off x="7086600" y="420624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7726679" y="416052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Namutere, Malaba road km 174</a:t>
            </a:r>
          </a:p>
        </p:txBody>
      </p:sp>
      <p:sp>
        <p:nvSpPr>
          <p:cNvPr id="13" name="TextBox 12"/>
          <p:cNvSpPr txBox="1"/>
          <p:nvPr/>
        </p:nvSpPr>
        <p:spPr>
          <a:xfrm>
            <a:off x="7726679" y="448970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+10.8 truck min · weighbridge</a:t>
            </a:r>
          </a:p>
        </p:txBody>
      </p:sp>
      <p:sp>
        <p:nvSpPr>
          <p:cNvPr id="14" name="Oval 13"/>
          <p:cNvSpPr/>
          <p:nvPr/>
        </p:nvSpPr>
        <p:spPr>
          <a:xfrm>
            <a:off x="7086600" y="502920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7726679" y="4983480"/>
            <a:ext cx="4023360" cy="320040"/>
          </a:xfrm>
          <a:prstGeom prst="rect">
            <a:avLst/>
          </a:prstGeom>
          <a:noFill/>
        </p:spPr>
        <p:txBody>
          <a:bodyPr wrap="square" lIns="0" rIns="0" tIns="0" bIns="0" anchor="t">
            <a:spAutoFit/>
          </a:bodyPr>
          <a:lstStyle/>
          <a:p>
            <a:pPr algn="l">
              <a:spcAft>
                <a:spcPts val="0"/>
              </a:spcAft>
            </a:pPr>
            <a:r>
              <a:rPr sz="1600" b="1" i="0">
                <a:solidFill>
                  <a:srgbClr val="1E2528"/>
                </a:solidFill>
                <a:latin typeface="Calibri"/>
              </a:rPr>
              <a:t>Kizito, Elegu road km 60</a:t>
            </a:r>
          </a:p>
        </p:txBody>
      </p:sp>
      <p:sp>
        <p:nvSpPr>
          <p:cNvPr id="16" name="TextBox 15"/>
          <p:cNvSpPr txBox="1"/>
          <p:nvPr/>
        </p:nvSpPr>
        <p:spPr>
          <a:xfrm>
            <a:off x="7726679" y="5312664"/>
            <a:ext cx="4023360" cy="365760"/>
          </a:xfrm>
          <a:prstGeom prst="rect">
            <a:avLst/>
          </a:prstGeom>
          <a:noFill/>
        </p:spPr>
        <p:txBody>
          <a:bodyPr wrap="square" lIns="0" rIns="0" tIns="0" bIns="0" anchor="t">
            <a:spAutoFit/>
          </a:bodyPr>
          <a:lstStyle/>
          <a:p>
            <a:pPr algn="l">
              <a:spcAft>
                <a:spcPts val="0"/>
              </a:spcAft>
            </a:pPr>
            <a:r>
              <a:rPr sz="1300" b="0" i="0">
                <a:solidFill>
                  <a:srgbClr val="5B6770"/>
                </a:solidFill>
                <a:latin typeface="Calibri"/>
              </a:rPr>
              <a:t>+10.8 truck min · weighbridge</a:t>
            </a:r>
          </a:p>
        </p:txBody>
      </p:sp>
      <p:sp>
        <p:nvSpPr>
          <p:cNvPr id="17" name="TextBox 16"/>
          <p:cNvSpPr txBox="1"/>
          <p:nvPr/>
        </p:nvSpPr>
        <p:spPr>
          <a:xfrm>
            <a:off x="7086600" y="5852160"/>
            <a:ext cx="4663440" cy="640080"/>
          </a:xfrm>
          <a:prstGeom prst="rect">
            <a:avLst/>
          </a:prstGeom>
          <a:noFill/>
        </p:spPr>
        <p:txBody>
          <a:bodyPr wrap="square" lIns="0" rIns="0" tIns="0" bIns="0" anchor="t">
            <a:spAutoFit/>
          </a:bodyPr>
          <a:lstStyle/>
          <a:p>
            <a:pPr algn="l">
              <a:spcAft>
                <a:spcPts val="0"/>
              </a:spcAft>
            </a:pPr>
            <a:r>
              <a:rPr sz="1400" b="0" i="1">
                <a:solidFill>
                  <a:srgbClr val="C4532D"/>
                </a:solidFill>
                <a:latin typeface="Calibri"/>
              </a:rPr>
              <a:t>10 of the 13 worst stretches are led by weighbridges, police posts or signals.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4 · The roadside filled in fast, between towns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Built-up land within 300 m of the road, 2000–2020 (GHSL)</a:t>
            </a:r>
          </a:p>
        </p:txBody>
      </p:sp>
      <p:sp>
        <p:nvSpPr>
          <p:cNvPr id="4" name="Rounded Rectangle 3"/>
          <p:cNvSpPr/>
          <p:nvPr/>
        </p:nvSpPr>
        <p:spPr>
          <a:xfrm>
            <a:off x="548640" y="1691640"/>
            <a:ext cx="2103120" cy="68580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1938528" cy="36576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+68%</a:t>
            </a:r>
          </a:p>
        </p:txBody>
      </p:sp>
      <p:sp>
        <p:nvSpPr>
          <p:cNvPr id="6" name="TextBox 5"/>
          <p:cNvSpPr txBox="1"/>
          <p:nvPr/>
        </p:nvSpPr>
        <p:spPr>
          <a:xfrm>
            <a:off x="1737360" y="1828800"/>
            <a:ext cx="886968" cy="45720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Elegu (A6)</a:t>
            </a:r>
          </a:p>
        </p:txBody>
      </p:sp>
      <p:sp>
        <p:nvSpPr>
          <p:cNvPr id="7" name="Rounded Rectangle 6"/>
          <p:cNvSpPr/>
          <p:nvPr/>
        </p:nvSpPr>
        <p:spPr>
          <a:xfrm>
            <a:off x="2761488" y="1691640"/>
            <a:ext cx="2103120" cy="68580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98648" y="1737360"/>
            <a:ext cx="1938528" cy="36576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+57%</a:t>
            </a:r>
          </a:p>
        </p:txBody>
      </p:sp>
      <p:sp>
        <p:nvSpPr>
          <p:cNvPr id="9" name="TextBox 8"/>
          <p:cNvSpPr txBox="1"/>
          <p:nvPr/>
        </p:nvSpPr>
        <p:spPr>
          <a:xfrm>
            <a:off x="3950208" y="1828800"/>
            <a:ext cx="886968" cy="45720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Hoima (A9)</a:t>
            </a:r>
          </a:p>
        </p:txBody>
      </p:sp>
      <p:sp>
        <p:nvSpPr>
          <p:cNvPr id="10" name="Rounded Rectangle 9"/>
          <p:cNvSpPr/>
          <p:nvPr/>
        </p:nvSpPr>
        <p:spPr>
          <a:xfrm>
            <a:off x="4974336" y="1691640"/>
            <a:ext cx="2103120" cy="68580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11496" y="1737360"/>
            <a:ext cx="1938528" cy="36576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+57%</a:t>
            </a:r>
          </a:p>
        </p:txBody>
      </p:sp>
      <p:sp>
        <p:nvSpPr>
          <p:cNvPr id="12" name="TextBox 11"/>
          <p:cNvSpPr txBox="1"/>
          <p:nvPr/>
        </p:nvSpPr>
        <p:spPr>
          <a:xfrm>
            <a:off x="6163055" y="1828800"/>
            <a:ext cx="886968" cy="45720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Bwera (A5)</a:t>
            </a:r>
          </a:p>
        </p:txBody>
      </p:sp>
      <p:sp>
        <p:nvSpPr>
          <p:cNvPr id="13" name="Rounded Rectangle 12"/>
          <p:cNvSpPr/>
          <p:nvPr/>
        </p:nvSpPr>
        <p:spPr>
          <a:xfrm>
            <a:off x="7187183" y="1691640"/>
            <a:ext cx="2103120" cy="68580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24344" y="1737360"/>
            <a:ext cx="1938528" cy="36576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+44%</a:t>
            </a:r>
          </a:p>
        </p:txBody>
      </p:sp>
      <p:sp>
        <p:nvSpPr>
          <p:cNvPr id="15" name="TextBox 14"/>
          <p:cNvSpPr txBox="1"/>
          <p:nvPr/>
        </p:nvSpPr>
        <p:spPr>
          <a:xfrm>
            <a:off x="8375904" y="1828800"/>
            <a:ext cx="886968" cy="45720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Katuna (A2)</a:t>
            </a:r>
          </a:p>
        </p:txBody>
      </p:sp>
      <p:sp>
        <p:nvSpPr>
          <p:cNvPr id="16" name="Rounded Rectangle 15"/>
          <p:cNvSpPr/>
          <p:nvPr/>
        </p:nvSpPr>
        <p:spPr>
          <a:xfrm>
            <a:off x="9400032" y="1691640"/>
            <a:ext cx="2103120" cy="68580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37192" y="1737360"/>
            <a:ext cx="1938528" cy="36576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+27%</a:t>
            </a:r>
          </a:p>
        </p:txBody>
      </p:sp>
      <p:sp>
        <p:nvSpPr>
          <p:cNvPr id="18" name="TextBox 17"/>
          <p:cNvSpPr txBox="1"/>
          <p:nvPr/>
        </p:nvSpPr>
        <p:spPr>
          <a:xfrm>
            <a:off x="10588752" y="1828800"/>
            <a:ext cx="886968" cy="45720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Malaba (A1)</a:t>
            </a:r>
          </a:p>
        </p:txBody>
      </p:sp>
      <p:pic>
        <p:nvPicPr>
          <p:cNvPr id="19" name="Picture 18" descr="m04.png"/>
          <p:cNvPicPr>
            <a:picLocks noChangeAspect="1"/>
          </p:cNvPicPr>
          <p:nvPr/>
        </p:nvPicPr>
        <p:blipFill>
          <a:blip r:embed="rId2"/>
          <a:stretch>
            <a:fillRect/>
          </a:stretch>
        </p:blipFill>
        <p:spPr>
          <a:xfrm>
            <a:off x="548640" y="2514600"/>
            <a:ext cx="11064240" cy="2917165"/>
          </a:xfrm>
          <a:prstGeom prst="rect">
            <a:avLst/>
          </a:prstGeom>
        </p:spPr>
      </p:pic>
      <p:sp>
        <p:nvSpPr>
          <p:cNvPr id="20" name="TextBox 19"/>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Roadside settlements grew 45–102%, towns 13–21%. Maps: each corridor's fastest-growing 5 km; grey built by 2000, orange 2000–2020.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Twenty years of roadside building</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Each corridor's fastest-growing stretch, 2000–2020 (GHSL, observed)</a:t>
            </a:r>
          </a:p>
        </p:txBody>
      </p:sp>
      <p:pic>
        <p:nvPicPr>
          <p:cNvPr id="4" name="Picture 3" descr="a1_roadside_growth.gif"/>
          <p:cNvPicPr>
            <a:picLocks noChangeAspect="1"/>
          </p:cNvPicPr>
          <p:nvPr/>
        </p:nvPicPr>
        <p:blipFill>
          <a:blip r:embed="rId2"/>
          <a:stretch>
            <a:fillRect/>
          </a:stretch>
        </p:blipFill>
        <p:spPr>
          <a:xfrm>
            <a:off x="548640" y="1783080"/>
            <a:ext cx="11064240" cy="3097987"/>
          </a:xfrm>
          <a:prstGeom prst="rect">
            <a:avLst/>
          </a:prstGeom>
        </p:spPr>
      </p:pic>
      <p:sp>
        <p:nvSpPr>
          <p:cNvPr id="5" name="TextBox 4"/>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figures/a1_roadside_growth.gif. Plays in slide-show mode. A version continued to 2026 on GHSL's projection is in figures/.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The roadside kept filling in after 2020</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Buildings within 300 m of each road, 2016–2023 (Google Open Buildings 2.5D Temporal, Earth Engine)</a:t>
            </a:r>
          </a:p>
        </p:txBody>
      </p:sp>
      <p:pic>
        <p:nvPicPr>
          <p:cNvPr id="4" name="Picture 3" descr="f17_growth_temporal.png"/>
          <p:cNvPicPr>
            <a:picLocks noChangeAspect="1"/>
          </p:cNvPicPr>
          <p:nvPr/>
        </p:nvPicPr>
        <p:blipFill>
          <a:blip r:embed="rId2"/>
          <a:stretch>
            <a:fillRect/>
          </a:stretch>
        </p:blipFill>
        <p:spPr>
          <a:xfrm>
            <a:off x="365760" y="1691640"/>
            <a:ext cx="7863840" cy="3217590"/>
          </a:xfrm>
          <a:prstGeom prst="rect">
            <a:avLst/>
          </a:prstGeom>
        </p:spPr>
      </p:pic>
      <p:sp>
        <p:nvSpPr>
          <p:cNvPr id="5" name="TextBox 4"/>
          <p:cNvSpPr txBox="1"/>
          <p:nvPr/>
        </p:nvSpPr>
        <p:spPr>
          <a:xfrm>
            <a:off x="8503920" y="1783080"/>
            <a:ext cx="320040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+22–48%</a:t>
            </a:r>
          </a:p>
        </p:txBody>
      </p:sp>
      <p:sp>
        <p:nvSpPr>
          <p:cNvPr id="6" name="TextBox 5"/>
          <p:cNvSpPr txBox="1"/>
          <p:nvPr/>
        </p:nvSpPr>
        <p:spPr>
          <a:xfrm>
            <a:off x="8503920" y="2221991"/>
            <a:ext cx="320040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more buildings within 300 m of the road in 2016–2023 (trend), 2.8–5.8% a year.</a:t>
            </a:r>
          </a:p>
        </p:txBody>
      </p:sp>
      <p:sp>
        <p:nvSpPr>
          <p:cNvPr id="7" name="TextBox 6"/>
          <p:cNvSpPr txBox="1"/>
          <p:nvPr/>
        </p:nvSpPr>
        <p:spPr>
          <a:xfrm>
            <a:off x="8503920" y="2898648"/>
            <a:ext cx="320040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1.0–2.6% a year</a:t>
            </a:r>
          </a:p>
        </p:txBody>
      </p:sp>
      <p:sp>
        <p:nvSpPr>
          <p:cNvPr id="8" name="TextBox 7"/>
          <p:cNvSpPr txBox="1"/>
          <p:nvPr/>
        </p:nvSpPr>
        <p:spPr>
          <a:xfrm>
            <a:off x="8503920" y="3337560"/>
            <a:ext cx="320040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was GHSL's observed rate for 2015–2020: its projection to 2026 understates recent building.</a:t>
            </a:r>
          </a:p>
        </p:txBody>
      </p:sp>
      <p:sp>
        <p:nvSpPr>
          <p:cNvPr id="9" name="TextBox 8"/>
          <p:cNvSpPr txBox="1"/>
          <p:nvPr/>
        </p:nvSpPr>
        <p:spPr>
          <a:xfrm>
            <a:off x="8503920" y="4014215"/>
            <a:ext cx="320040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1.6×</a:t>
            </a:r>
          </a:p>
        </p:txBody>
      </p:sp>
      <p:sp>
        <p:nvSpPr>
          <p:cNvPr id="10" name="TextBox 9"/>
          <p:cNvSpPr txBox="1"/>
          <p:nvPr/>
        </p:nvSpPr>
        <p:spPr>
          <a:xfrm>
            <a:off x="8503920" y="4453127"/>
            <a:ext cx="320040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as many new buildings per km² as land 1–2 km back, which grows faster in percent only from a lower base.</a:t>
            </a:r>
          </a:p>
        </p:txBody>
      </p:sp>
      <p:sp>
        <p:nvSpPr>
          <p:cNvPr id="11" name="TextBox 10"/>
          <p:cNvSpPr txBox="1"/>
          <p:nvPr/>
        </p:nvSpPr>
        <p:spPr>
          <a:xfrm>
            <a:off x="8503920" y="5129783"/>
            <a:ext cx="320040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4 of 5</a:t>
            </a:r>
          </a:p>
        </p:txBody>
      </p:sp>
      <p:sp>
        <p:nvSpPr>
          <p:cNvPr id="12" name="TextBox 11"/>
          <p:cNvSpPr txBox="1"/>
          <p:nvPr/>
        </p:nvSpPr>
        <p:spPr>
          <a:xfrm>
            <a:off x="8503920" y="5568696"/>
            <a:ext cx="320040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roads where settlements between towns grew faster than the towns.</a:t>
            </a:r>
          </a:p>
        </p:txBody>
      </p:sp>
      <p:sp>
        <p:nvSpPr>
          <p:cNvPr id="13" name="TextBox 12"/>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outputs/growth_temporal_summary.csv (scripts/27_growth_temporal.py). Counts from building_fractional_count; trend = straight-line fit over 2016–2023, which damps year-to-year model noise.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When distance becomes time</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The corridors redrawn so that length is loaded-truck travel time; dots mark each hour</a:t>
            </a:r>
          </a:p>
        </p:txBody>
      </p:sp>
      <p:pic>
        <p:nvPicPr>
          <p:cNvPr id="4" name="Picture 3" descr="g04.png"/>
          <p:cNvPicPr>
            <a:picLocks noChangeAspect="1"/>
          </p:cNvPicPr>
          <p:nvPr/>
        </p:nvPicPr>
        <p:blipFill>
          <a:blip r:embed="rId2"/>
          <a:stretch>
            <a:fillRect/>
          </a:stretch>
        </p:blipFill>
        <p:spPr>
          <a:xfrm>
            <a:off x="822960" y="1691640"/>
            <a:ext cx="8909939" cy="4572000"/>
          </a:xfrm>
          <a:prstGeom prst="rect">
            <a:avLst/>
          </a:prstGeom>
        </p:spPr>
      </p:pic>
      <p:sp>
        <p:nvSpPr>
          <p:cNvPr id="5" name="TextBox 4"/>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figures/g04_time_map.png. Grey: the roads as mapped. Towns, controls and hills stretch the lines.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5 · Trucks spend most of the trip standing still</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Observed truck transit, Kampala ↔ border (NCTTCA Observatory 2025–26), against the model's driving time</a:t>
            </a:r>
          </a:p>
        </p:txBody>
      </p:sp>
      <p:pic>
        <p:nvPicPr>
          <p:cNvPr id="4" name="Picture 3" descr="f14_transit_gap.png"/>
          <p:cNvPicPr>
            <a:picLocks noChangeAspect="1"/>
          </p:cNvPicPr>
          <p:nvPr/>
        </p:nvPicPr>
        <p:blipFill>
          <a:blip r:embed="rId2"/>
          <a:stretch>
            <a:fillRect/>
          </a:stretch>
        </p:blipFill>
        <p:spPr>
          <a:xfrm>
            <a:off x="365760" y="1691640"/>
            <a:ext cx="7680960" cy="4129003"/>
          </a:xfrm>
          <a:prstGeom prst="rect">
            <a:avLst/>
          </a:prstGeom>
        </p:spPr>
      </p:pic>
      <p:sp>
        <p:nvSpPr>
          <p:cNvPr id="5" name="TextBox 4"/>
          <p:cNvSpPr txBox="1"/>
          <p:nvPr/>
        </p:nvSpPr>
        <p:spPr>
          <a:xfrm>
            <a:off x="8321040" y="1783080"/>
            <a:ext cx="3291840" cy="457200"/>
          </a:xfrm>
          <a:prstGeom prst="rect">
            <a:avLst/>
          </a:prstGeom>
          <a:noFill/>
        </p:spPr>
        <p:txBody>
          <a:bodyPr wrap="square" lIns="0" rIns="0" tIns="0" bIns="0" anchor="t">
            <a:spAutoFit/>
          </a:bodyPr>
          <a:lstStyle/>
          <a:p>
            <a:pPr algn="l">
              <a:spcAft>
                <a:spcPts val="0"/>
              </a:spcAft>
            </a:pPr>
            <a:r>
              <a:rPr sz="2400" b="1" i="0">
                <a:solidFill>
                  <a:srgbClr val="C4532D"/>
                </a:solidFill>
                <a:latin typeface="Cambria"/>
              </a:rPr>
              <a:t>17–93 h</a:t>
            </a:r>
          </a:p>
        </p:txBody>
      </p:sp>
      <p:sp>
        <p:nvSpPr>
          <p:cNvPr id="6" name="TextBox 5"/>
          <p:cNvSpPr txBox="1"/>
          <p:nvPr/>
        </p:nvSpPr>
        <p:spPr>
          <a:xfrm>
            <a:off x="8321040" y="2240280"/>
            <a:ext cx="329184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observed between Kampala and the borders; the model drives it in 5–9 h.</a:t>
            </a:r>
          </a:p>
        </p:txBody>
      </p:sp>
      <p:sp>
        <p:nvSpPr>
          <p:cNvPr id="7" name="TextBox 6"/>
          <p:cNvSpPr txBox="1"/>
          <p:nvPr/>
        </p:nvSpPr>
        <p:spPr>
          <a:xfrm>
            <a:off x="8321040" y="2926080"/>
            <a:ext cx="3291840" cy="457200"/>
          </a:xfrm>
          <a:prstGeom prst="rect">
            <a:avLst/>
          </a:prstGeom>
          <a:noFill/>
        </p:spPr>
        <p:txBody>
          <a:bodyPr wrap="square" lIns="0" rIns="0" tIns="0" bIns="0" anchor="t">
            <a:spAutoFit/>
          </a:bodyPr>
          <a:lstStyle/>
          <a:p>
            <a:pPr algn="l">
              <a:spcAft>
                <a:spcPts val="0"/>
              </a:spcAft>
            </a:pPr>
            <a:r>
              <a:rPr sz="2400" b="1" i="0">
                <a:solidFill>
                  <a:srgbClr val="C4532D"/>
                </a:solidFill>
                <a:latin typeface="Cambria"/>
              </a:rPr>
              <a:t>2–14%</a:t>
            </a:r>
          </a:p>
        </p:txBody>
      </p:sp>
      <p:sp>
        <p:nvSpPr>
          <p:cNvPr id="8" name="TextBox 7"/>
          <p:cNvSpPr txBox="1"/>
          <p:nvPr/>
        </p:nvSpPr>
        <p:spPr>
          <a:xfrm>
            <a:off x="8321040" y="3383280"/>
            <a:ext cx="329184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of the real truck trip is roadside and control friction; the rest is stopped time.</a:t>
            </a:r>
          </a:p>
        </p:txBody>
      </p:sp>
      <p:sp>
        <p:nvSpPr>
          <p:cNvPr id="9" name="TextBox 8"/>
          <p:cNvSpPr txBox="1"/>
          <p:nvPr/>
        </p:nvSpPr>
        <p:spPr>
          <a:xfrm>
            <a:off x="8321040" y="4069080"/>
            <a:ext cx="3291840" cy="457200"/>
          </a:xfrm>
          <a:prstGeom prst="rect">
            <a:avLst/>
          </a:prstGeom>
          <a:noFill/>
        </p:spPr>
        <p:txBody>
          <a:bodyPr wrap="square" lIns="0" rIns="0" tIns="0" bIns="0" anchor="t">
            <a:spAutoFit/>
          </a:bodyPr>
          <a:lstStyle/>
          <a:p>
            <a:pPr algn="l">
              <a:spcAft>
                <a:spcPts val="0"/>
              </a:spcAft>
            </a:pPr>
            <a:r>
              <a:rPr sz="2400" b="1" i="0">
                <a:solidFill>
                  <a:srgbClr val="C4532D"/>
                </a:solidFill>
                <a:latin typeface="Cambria"/>
              </a:rPr>
              <a:t>86%</a:t>
            </a:r>
          </a:p>
        </p:txBody>
      </p:sp>
      <p:sp>
        <p:nvSpPr>
          <p:cNvPr id="10" name="TextBox 9"/>
          <p:cNvSpPr txBox="1"/>
          <p:nvPr/>
        </p:nvSpPr>
        <p:spPr>
          <a:xfrm>
            <a:off x="8321040" y="4526280"/>
            <a:ext cx="329184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of stopped time is rest, meals and border procedures (approx.).</a:t>
            </a:r>
          </a:p>
        </p:txBody>
      </p:sp>
      <p:sp>
        <p:nvSpPr>
          <p:cNvPr id="11" name="TextBox 10"/>
          <p:cNvSpPr txBox="1"/>
          <p:nvPr/>
        </p:nvSpPr>
        <p:spPr>
          <a:xfrm>
            <a:off x="8321040" y="5212080"/>
            <a:ext cx="3291840" cy="457200"/>
          </a:xfrm>
          <a:prstGeom prst="rect">
            <a:avLst/>
          </a:prstGeom>
          <a:noFill/>
        </p:spPr>
        <p:txBody>
          <a:bodyPr wrap="square" lIns="0" rIns="0" tIns="0" bIns="0" anchor="t">
            <a:spAutoFit/>
          </a:bodyPr>
          <a:lstStyle/>
          <a:p>
            <a:pPr algn="l">
              <a:spcAft>
                <a:spcPts val="0"/>
              </a:spcAft>
            </a:pPr>
            <a:r>
              <a:rPr sz="2400" b="1" i="0">
                <a:solidFill>
                  <a:srgbClr val="C4532D"/>
                </a:solidFill>
                <a:latin typeface="Cambria"/>
              </a:rPr>
              <a:t>12 min</a:t>
            </a:r>
          </a:p>
        </p:txBody>
      </p:sp>
      <p:sp>
        <p:nvSpPr>
          <p:cNvPr id="12" name="TextBox 11"/>
          <p:cNvSpPr txBox="1"/>
          <p:nvPr/>
        </p:nvSpPr>
        <p:spPr>
          <a:xfrm>
            <a:off x="8321040" y="5669280"/>
            <a:ext cx="329184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median weighbridge stop: the model's 10 min (5–30) assumption holds.</a:t>
            </a:r>
          </a:p>
        </p:txBody>
      </p:sp>
      <p:sp>
        <p:nvSpPr>
          <p:cNvPr id="13" name="TextBox 12"/>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outputs/transit_gap.csv, transit_stop_mix.csv (scripts/24_transit_gap.py). GPS: fleet sample; RECTS: bonded transit cargo. Kampala–Hoima not reported.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6 · Controls are the quickest wins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Truck minutes saved per trip leaving Kampala, by fix (central estimate)</a:t>
            </a:r>
          </a:p>
        </p:txBody>
      </p:sp>
      <p:graphicFrame>
        <p:nvGraphicFramePr>
          <p:cNvPr id="4" name="Chart 3"/>
          <p:cNvGraphicFramePr>
            <a:graphicFrameLocks noGrp="1"/>
          </p:cNvGraphicFramePr>
          <p:nvPr/>
        </p:nvGraphicFramePr>
        <p:xfrm>
          <a:off x="457200" y="1737360"/>
          <a:ext cx="7498079" cy="4572000"/>
        </p:xfrm>
        <a:graphic>
          <a:graphicData uri="http://schemas.openxmlformats.org/drawingml/2006/chart">
            <c:chart xmlns:c="http://schemas.openxmlformats.org/drawingml/2006/chart" r:id="rId2"/>
          </a:graphicData>
        </a:graphic>
      </p:graphicFrame>
      <p:sp>
        <p:nvSpPr>
          <p:cNvPr id="5" name="TextBox 4"/>
          <p:cNvSpPr txBox="1"/>
          <p:nvPr/>
        </p:nvSpPr>
        <p:spPr>
          <a:xfrm>
            <a:off x="8321040" y="1874519"/>
            <a:ext cx="3291840" cy="4389120"/>
          </a:xfrm>
          <a:prstGeom prst="rect">
            <a:avLst/>
          </a:prstGeom>
          <a:noFill/>
        </p:spPr>
        <p:txBody>
          <a:bodyPr wrap="square" lIns="0" rIns="0" tIns="0" bIns="0" anchor="t">
            <a:spAutoFit/>
          </a:bodyPr>
          <a:lstStyle/>
          <a:p>
            <a:pPr algn="l">
              <a:spcAft>
                <a:spcPts val="1000"/>
              </a:spcAft>
            </a:pPr>
            <a:r>
              <a:rPr sz="2800" b="1" i="0">
                <a:solidFill>
                  <a:srgbClr val="C4532D"/>
                </a:solidFill>
                <a:latin typeface="Cambria"/>
              </a:rPr>
              <a:t>US$41 M a year</a:t>
            </a:r>
          </a:p>
          <a:p>
            <a:pPr algn="l">
              <a:spcAft>
                <a:spcPts val="1000"/>
              </a:spcAft>
            </a:pPr>
            <a:r>
              <a:rPr sz="1400" b="0" i="0">
                <a:solidFill>
                  <a:srgbClr val="1E2528"/>
                </a:solidFill>
                <a:latin typeface="Calibri"/>
              </a:rPr>
              <a:t>in truck time lost to delay on the five roads at central values, plus about US$70 M in extra diesel burnt slowing and re-accelerating.</a:t>
            </a:r>
          </a:p>
          <a:p>
            <a:pPr algn="l">
              <a:spcAft>
                <a:spcPts val="1000"/>
              </a:spcAft>
            </a:pPr>
            <a:r>
              <a:rPr sz="1400" b="0" i="0">
                <a:solidFill>
                  <a:srgbClr val="5B6770"/>
                </a:solidFill>
                <a:latin typeface="Calibri"/>
              </a:rPr>
              <a:t>Weigh-in-motion and ending police stops save more per trip than bypasses in light traffic. Truck counts are surveyed on the Malaba, Katuna and Bwera roads, assumed on the others.</a:t>
            </a:r>
          </a:p>
        </p:txBody>
      </p:sp>
      <p:sp>
        <p:nvSpPr>
          <p:cNvPr id="6" name="TextBox 5"/>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outputs/scenarios.csv, costs.csv, fuel_co2.csv (scripts 16, 17, 26). Congestion relief from bypasses is not captured by the light-traffic model.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7 · Stop-go costs fuel and carbon</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Extra diesel per loaded truck trip from friction, and CO₂ a year (physical fuel model, 1,000 draws)</a:t>
            </a:r>
          </a:p>
        </p:txBody>
      </p:sp>
      <p:pic>
        <p:nvPicPr>
          <p:cNvPr id="4" name="Picture 3" descr="f16_fuel_co2.png"/>
          <p:cNvPicPr>
            <a:picLocks noChangeAspect="1"/>
          </p:cNvPicPr>
          <p:nvPr/>
        </p:nvPicPr>
        <p:blipFill>
          <a:blip r:embed="rId2"/>
          <a:stretch>
            <a:fillRect/>
          </a:stretch>
        </p:blipFill>
        <p:spPr>
          <a:xfrm>
            <a:off x="548640" y="1645920"/>
            <a:ext cx="11064240" cy="4243535"/>
          </a:xfrm>
          <a:prstGeom prst="rect">
            <a:avLst/>
          </a:prstGeom>
        </p:spPr>
      </p:pic>
      <p:sp>
        <p:nvSpPr>
          <p:cNvPr id="5" name="TextBox 4"/>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29–75 L extra per trip (25–41% of trip fuel); about 138 kt CO₂ a year. Humps are assumed (one per town piece), so the Malaba figure has a wide range. outputs/fuel_co2.csv.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8 · Settlements carry most of the risk</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Roadside settlements: share of people within 300 m vs share of exposure (people × trucks × speed⁴)</a:t>
            </a:r>
          </a:p>
        </p:txBody>
      </p:sp>
      <p:graphicFrame>
        <p:nvGraphicFramePr>
          <p:cNvPr id="4" name="Chart 3"/>
          <p:cNvGraphicFramePr>
            <a:graphicFrameLocks noGrp="1"/>
          </p:cNvGraphicFramePr>
          <p:nvPr/>
        </p:nvGraphicFramePr>
        <p:xfrm>
          <a:off x="457200" y="1737360"/>
          <a:ext cx="6949440" cy="4572000"/>
        </p:xfrm>
        <a:graphic>
          <a:graphicData uri="http://schemas.openxmlformats.org/drawingml/2006/chart">
            <c:chart xmlns:c="http://schemas.openxmlformats.org/drawingml/2006/chart" r:id="rId2"/>
          </a:graphicData>
        </a:graphic>
      </p:graphicFrame>
      <p:sp>
        <p:nvSpPr>
          <p:cNvPr id="5" name="Rounded Rectangle 4"/>
          <p:cNvSpPr/>
          <p:nvPr/>
        </p:nvSpPr>
        <p:spPr>
          <a:xfrm>
            <a:off x="7772400" y="1828800"/>
            <a:ext cx="38404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2011680"/>
            <a:ext cx="3383280" cy="1828800"/>
          </a:xfrm>
          <a:prstGeom prst="rect">
            <a:avLst/>
          </a:prstGeom>
          <a:noFill/>
        </p:spPr>
        <p:txBody>
          <a:bodyPr wrap="square" lIns="0" rIns="0" tIns="0" bIns="0" anchor="t">
            <a:spAutoFit/>
          </a:bodyPr>
          <a:lstStyle/>
          <a:p>
            <a:pPr algn="l">
              <a:spcAft>
                <a:spcPts val="600"/>
              </a:spcAft>
            </a:pPr>
            <a:r>
              <a:rPr sz="2200" b="1" i="0">
                <a:solidFill>
                  <a:srgbClr val="C4532D"/>
                </a:solidFill>
                <a:latin typeface="Cambria"/>
              </a:rPr>
              <a:t>Trucks run at 55–60 km/h</a:t>
            </a:r>
          </a:p>
          <a:p>
            <a:pPr algn="l">
              <a:spcAft>
                <a:spcPts val="600"/>
              </a:spcAft>
            </a:pPr>
            <a:r>
              <a:rPr sz="1300" b="0" i="0">
                <a:solidFill>
                  <a:srgbClr val="1E2528"/>
                </a:solidFill>
                <a:latin typeface="Calibri"/>
              </a:rPr>
              <a:t>through settlements that are not classed as towns, so risk concentrates where people live between towns.</a:t>
            </a:r>
          </a:p>
        </p:txBody>
      </p:sp>
      <p:sp>
        <p:nvSpPr>
          <p:cNvPr id="7" name="Rounded Rectangle 6"/>
          <p:cNvSpPr/>
          <p:nvPr/>
        </p:nvSpPr>
        <p:spPr>
          <a:xfrm>
            <a:off x="7772400" y="4114800"/>
            <a:ext cx="38404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4297680"/>
            <a:ext cx="3383280" cy="1828800"/>
          </a:xfrm>
          <a:prstGeom prst="rect">
            <a:avLst/>
          </a:prstGeom>
          <a:noFill/>
        </p:spPr>
        <p:txBody>
          <a:bodyPr wrap="square" lIns="0" rIns="0" tIns="0" bIns="0" anchor="t">
            <a:spAutoFit/>
          </a:bodyPr>
          <a:lstStyle/>
          <a:p>
            <a:pPr algn="l">
              <a:spcAft>
                <a:spcPts val="600"/>
              </a:spcAft>
            </a:pPr>
            <a:r>
              <a:rPr sz="2200" b="1" i="0">
                <a:solidFill>
                  <a:srgbClr val="17252A"/>
                </a:solidFill>
                <a:latin typeface="Cambria"/>
              </a:rPr>
              <a:t>5%–8% slower</a:t>
            </a:r>
          </a:p>
          <a:p>
            <a:pPr algn="l">
              <a:spcAft>
                <a:spcPts val="600"/>
              </a:spcAft>
            </a:pPr>
            <a:r>
              <a:rPr sz="1300" b="0" i="0">
                <a:solidFill>
                  <a:srgbClr val="1E2528"/>
                </a:solidFill>
                <a:latin typeface="Calibri"/>
              </a:rPr>
              <a:t>on a bad-rain day (95th percentile, 2006–2025) than on a typical day. The May 2020 Mpondwe flood stretch ranks at the 92th percentile of flood exposure.</a:t>
            </a:r>
          </a:p>
        </p:txBody>
      </p:sp>
      <p:sp>
        <p:nvSpPr>
          <p:cNvPr id="9" name="TextBox 8"/>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outputs/safety_by_type.csv, reliability.csv, flood_events_check.csv (scripts 18, 19). Exposure is not a crash rate.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Result 9 · Police crash black spots sit in busy settlements</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Stretches holding a named black spot, against random stretches near a named place (5,000 permutations)</a:t>
            </a:r>
          </a:p>
        </p:txBody>
      </p:sp>
      <p:pic>
        <p:nvPicPr>
          <p:cNvPr id="4" name="Picture 3" descr="f15_black_spots.png"/>
          <p:cNvPicPr>
            <a:picLocks noChangeAspect="1"/>
          </p:cNvPicPr>
          <p:nvPr/>
        </p:nvPicPr>
        <p:blipFill>
          <a:blip r:embed="rId2"/>
          <a:stretch>
            <a:fillRect/>
          </a:stretch>
        </p:blipFill>
        <p:spPr>
          <a:xfrm>
            <a:off x="365760" y="1691640"/>
            <a:ext cx="7589520" cy="4246329"/>
          </a:xfrm>
          <a:prstGeom prst="rect">
            <a:avLst/>
          </a:prstGeom>
        </p:spPr>
      </p:pic>
      <p:sp>
        <p:nvSpPr>
          <p:cNvPr id="5" name="TextBox 4"/>
          <p:cNvSpPr txBox="1"/>
          <p:nvPr/>
        </p:nvSpPr>
        <p:spPr>
          <a:xfrm>
            <a:off x="8229600" y="1783080"/>
            <a:ext cx="338328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40 / 58</a:t>
            </a:r>
          </a:p>
        </p:txBody>
      </p:sp>
      <p:sp>
        <p:nvSpPr>
          <p:cNvPr id="6" name="TextBox 5"/>
          <p:cNvSpPr txBox="1"/>
          <p:nvPr/>
        </p:nvSpPr>
        <p:spPr>
          <a:xfrm>
            <a:off x="8229600" y="2221991"/>
            <a:ext cx="338328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police-named black spots located by name in OSM.</a:t>
            </a:r>
          </a:p>
        </p:txBody>
      </p:sp>
      <p:sp>
        <p:nvSpPr>
          <p:cNvPr id="7" name="TextBox 6"/>
          <p:cNvSpPr txBox="1"/>
          <p:nvPr/>
        </p:nvSpPr>
        <p:spPr>
          <a:xfrm>
            <a:off x="8229600" y="2898648"/>
            <a:ext cx="338328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71th pct</a:t>
            </a:r>
          </a:p>
        </p:txBody>
      </p:sp>
      <p:sp>
        <p:nvSpPr>
          <p:cNvPr id="8" name="TextBox 7"/>
          <p:cNvSpPr txBox="1"/>
          <p:nvPr/>
        </p:nvSpPr>
        <p:spPr>
          <a:xfrm>
            <a:off x="8229600" y="3337560"/>
            <a:ext cx="338328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on roadside buildings (p &lt; 0.001); joining roads 65th.</a:t>
            </a:r>
          </a:p>
        </p:txBody>
      </p:sp>
      <p:sp>
        <p:nvSpPr>
          <p:cNvPr id="9" name="TextBox 8"/>
          <p:cNvSpPr txBox="1"/>
          <p:nvPr/>
        </p:nvSpPr>
        <p:spPr>
          <a:xfrm>
            <a:off x="8229600" y="4014215"/>
            <a:ext cx="338328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32th pct</a:t>
            </a:r>
          </a:p>
        </p:txBody>
      </p:sp>
      <p:sp>
        <p:nvSpPr>
          <p:cNvPr id="10" name="TextBox 9"/>
          <p:cNvSpPr txBox="1"/>
          <p:nvPr/>
        </p:nvSpPr>
        <p:spPr>
          <a:xfrm>
            <a:off x="8229600" y="4453127"/>
            <a:ext cx="338328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on truck speed (p &lt; 0.001): black spots are slower, busier places, not fast bends.</a:t>
            </a:r>
          </a:p>
        </p:txBody>
      </p:sp>
      <p:sp>
        <p:nvSpPr>
          <p:cNvPr id="11" name="TextBox 10"/>
          <p:cNvSpPr txBox="1"/>
          <p:nvPr/>
        </p:nvSpPr>
        <p:spPr>
          <a:xfrm>
            <a:off x="8229600" y="5129783"/>
            <a:ext cx="3383280" cy="457200"/>
          </a:xfrm>
          <a:prstGeom prst="rect">
            <a:avLst/>
          </a:prstGeom>
          <a:noFill/>
        </p:spPr>
        <p:txBody>
          <a:bodyPr wrap="square" lIns="0" rIns="0" tIns="0" bIns="0" anchor="t">
            <a:spAutoFit/>
          </a:bodyPr>
          <a:lstStyle/>
          <a:p>
            <a:pPr algn="l">
              <a:spcAft>
                <a:spcPts val="0"/>
              </a:spcAft>
            </a:pPr>
            <a:r>
              <a:rPr sz="2200" b="1" i="0">
                <a:solidFill>
                  <a:srgbClr val="C4532D"/>
                </a:solidFill>
                <a:latin typeface="Cambria"/>
              </a:rPr>
              <a:t>59th pct</a:t>
            </a:r>
          </a:p>
        </p:txBody>
      </p:sp>
      <p:sp>
        <p:nvSpPr>
          <p:cNvPr id="12" name="TextBox 11"/>
          <p:cNvSpPr txBox="1"/>
          <p:nvPr/>
        </p:nvSpPr>
        <p:spPr>
          <a:xfrm>
            <a:off x="8229600" y="5568696"/>
            <a:ext cx="3383280" cy="731520"/>
          </a:xfrm>
          <a:prstGeom prst="rect">
            <a:avLst/>
          </a:prstGeom>
          <a:noFill/>
        </p:spPr>
        <p:txBody>
          <a:bodyPr wrap="square" lIns="0" rIns="0" tIns="0" bIns="0" anchor="t">
            <a:spAutoFit/>
          </a:bodyPr>
          <a:lstStyle/>
          <a:p>
            <a:pPr algn="l">
              <a:spcAft>
                <a:spcPts val="0"/>
              </a:spcAft>
            </a:pPr>
            <a:r>
              <a:rPr sz="1250" b="0" i="0">
                <a:solidFill>
                  <a:srgbClr val="1E2528"/>
                </a:solidFill>
                <a:latin typeface="Calibri"/>
              </a:rPr>
              <a:t>on the exposure index (p = 0.081): its speed⁴ term under-weights busy, slower places.</a:t>
            </a:r>
          </a:p>
        </p:txBody>
      </p:sp>
      <p:sp>
        <p:nvSpPr>
          <p:cNvPr id="13" name="TextBox 12"/>
          <p:cNvSpPr txBox="1"/>
          <p:nvPr/>
        </p:nvSpPr>
        <p:spPr>
          <a:xfrm>
            <a:off x="548640" y="6400800"/>
            <a:ext cx="11064240" cy="274320"/>
          </a:xfrm>
          <a:prstGeom prst="rect">
            <a:avLst/>
          </a:prstGeom>
          <a:noFill/>
        </p:spPr>
        <p:txBody>
          <a:bodyPr wrap="square" lIns="0" rIns="0" tIns="0" bIns="0" anchor="t">
            <a:spAutoFit/>
          </a:bodyPr>
          <a:lstStyle/>
          <a:p>
            <a:pPr algn="l">
              <a:spcAft>
                <a:spcPts val="0"/>
              </a:spcAft>
            </a:pPr>
            <a:r>
              <a:rPr sz="1000" b="0" i="0">
                <a:solidFill>
                  <a:srgbClr val="5B6770"/>
                </a:solidFill>
                <a:latin typeface="Calibri"/>
              </a:rPr>
              <a:t>Daily Monitor (23 Dec 2018), black spots named by Uganda Police traffic officers; outputs/black_spots_*.csv (script 25). Name matching misses forest and swamp spots.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f12.png"/>
          <p:cNvPicPr>
            <a:picLocks noChangeAspect="1"/>
          </p:cNvPicPr>
          <p:nvPr/>
        </p:nvPicPr>
        <p:blipFill>
          <a:blip r:embed="rId2"/>
          <a:stretch>
            <a:fillRect/>
          </a:stretch>
        </p:blipFill>
        <p:spPr>
          <a:xfrm>
            <a:off x="365760" y="320040"/>
            <a:ext cx="5896644" cy="6217920"/>
          </a:xfrm>
          <a:prstGeom prst="rect">
            <a:avLst/>
          </a:prstGeom>
        </p:spPr>
      </p:pic>
      <p:sp>
        <p:nvSpPr>
          <p:cNvPr id="3" name="TextBox 2"/>
          <p:cNvSpPr txBox="1"/>
          <p:nvPr/>
        </p:nvSpPr>
        <p:spPr>
          <a:xfrm>
            <a:off x="6400800" y="411480"/>
            <a:ext cx="5303520" cy="1188720"/>
          </a:xfrm>
          <a:prstGeom prst="rect">
            <a:avLst/>
          </a:prstGeom>
          <a:noFill/>
        </p:spPr>
        <p:txBody>
          <a:bodyPr wrap="square" lIns="0" rIns="0" tIns="0" bIns="0" anchor="t">
            <a:spAutoFit/>
          </a:bodyPr>
          <a:lstStyle/>
          <a:p>
            <a:pPr algn="l">
              <a:spcAft>
                <a:spcPts val="0"/>
              </a:spcAft>
            </a:pPr>
            <a:r>
              <a:rPr sz="3000" b="1" i="0">
                <a:solidFill>
                  <a:srgbClr val="1E2528"/>
                </a:solidFill>
                <a:latin typeface="Cambria"/>
              </a:rPr>
              <a:t>Rail along the bottlenecks</a:t>
            </a:r>
          </a:p>
        </p:txBody>
      </p:sp>
      <p:sp>
        <p:nvSpPr>
          <p:cNvPr id="4" name="TextBox 3"/>
          <p:cNvSpPr txBox="1"/>
          <p:nvPr/>
        </p:nvSpPr>
        <p:spPr>
          <a:xfrm>
            <a:off x="6400800" y="1234440"/>
            <a:ext cx="5303520" cy="54864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Least-cost screening alignments and the existing metre-gauge railway</a:t>
            </a:r>
          </a:p>
        </p:txBody>
      </p:sp>
      <p:sp>
        <p:nvSpPr>
          <p:cNvPr id="5" name="TextBox 4"/>
          <p:cNvSpPr txBox="1"/>
          <p:nvPr/>
        </p:nvSpPr>
        <p:spPr>
          <a:xfrm>
            <a:off x="6400800" y="2011680"/>
            <a:ext cx="1463040" cy="640080"/>
          </a:xfrm>
          <a:prstGeom prst="rect">
            <a:avLst/>
          </a:prstGeom>
          <a:noFill/>
        </p:spPr>
        <p:txBody>
          <a:bodyPr wrap="square" lIns="0" rIns="0" tIns="0" bIns="0" anchor="t">
            <a:spAutoFit/>
          </a:bodyPr>
          <a:lstStyle/>
          <a:p>
            <a:pPr algn="l">
              <a:spcAft>
                <a:spcPts val="0"/>
              </a:spcAft>
            </a:pPr>
            <a:r>
              <a:rPr sz="2600" b="1" i="0">
                <a:solidFill>
                  <a:srgbClr val="C4532D"/>
                </a:solidFill>
                <a:latin typeface="Cambria"/>
              </a:rPr>
              <a:t>81%</a:t>
            </a:r>
          </a:p>
        </p:txBody>
      </p:sp>
      <p:sp>
        <p:nvSpPr>
          <p:cNvPr id="6" name="TextBox 5"/>
          <p:cNvSpPr txBox="1"/>
          <p:nvPr/>
        </p:nvSpPr>
        <p:spPr>
          <a:xfrm>
            <a:off x="8001000" y="2057400"/>
            <a:ext cx="3703320" cy="118872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of the Malaba road's truck delay lies within 10 km of the railway the SGR follows; on the other roads, 16% or less.</a:t>
            </a:r>
          </a:p>
        </p:txBody>
      </p:sp>
      <p:sp>
        <p:nvSpPr>
          <p:cNvPr id="7" name="TextBox 6"/>
          <p:cNvSpPr txBox="1"/>
          <p:nvPr/>
        </p:nvSpPr>
        <p:spPr>
          <a:xfrm>
            <a:off x="6400800" y="3337560"/>
            <a:ext cx="1463040" cy="640080"/>
          </a:xfrm>
          <a:prstGeom prst="rect">
            <a:avLst/>
          </a:prstGeom>
          <a:noFill/>
        </p:spPr>
        <p:txBody>
          <a:bodyPr wrap="square" lIns="0" rIns="0" tIns="0" bIns="0" anchor="t">
            <a:spAutoFit/>
          </a:bodyPr>
          <a:lstStyle/>
          <a:p>
            <a:pPr algn="l">
              <a:spcAft>
                <a:spcPts val="0"/>
              </a:spcAft>
            </a:pPr>
            <a:r>
              <a:rPr sz="2600" b="1" i="0">
                <a:solidFill>
                  <a:srgbClr val="C4532D"/>
                </a:solidFill>
                <a:latin typeface="Cambria"/>
              </a:rPr>
              <a:t>17 h</a:t>
            </a:r>
          </a:p>
        </p:txBody>
      </p:sp>
      <p:sp>
        <p:nvSpPr>
          <p:cNvPr id="8" name="TextBox 7"/>
          <p:cNvSpPr txBox="1"/>
          <p:nvPr/>
        </p:nvSpPr>
        <p:spPr>
          <a:xfrm>
            <a:off x="8001000" y="3383280"/>
            <a:ext cx="3703320" cy="118872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door to door by rail for domestic freight on the eastern line, against about 5 h by truck: terminals, not line-haul, set the time.</a:t>
            </a:r>
          </a:p>
        </p:txBody>
      </p:sp>
      <p:sp>
        <p:nvSpPr>
          <p:cNvPr id="9" name="TextBox 8"/>
          <p:cNvSpPr txBox="1"/>
          <p:nvPr/>
        </p:nvSpPr>
        <p:spPr>
          <a:xfrm>
            <a:off x="6400800" y="4663440"/>
            <a:ext cx="1463040" cy="640080"/>
          </a:xfrm>
          <a:prstGeom prst="rect">
            <a:avLst/>
          </a:prstGeom>
          <a:noFill/>
        </p:spPr>
        <p:txBody>
          <a:bodyPr wrap="square" lIns="0" rIns="0" tIns="0" bIns="0" anchor="t">
            <a:spAutoFit/>
          </a:bodyPr>
          <a:lstStyle/>
          <a:p>
            <a:pPr algn="l">
              <a:spcAft>
                <a:spcPts val="0"/>
              </a:spcAft>
            </a:pPr>
            <a:r>
              <a:rPr sz="2600" b="1" i="0">
                <a:solidFill>
                  <a:srgbClr val="C4532D"/>
                </a:solidFill>
                <a:latin typeface="Cambria"/>
              </a:rPr>
              <a:t>≤ 0.09</a:t>
            </a:r>
          </a:p>
        </p:txBody>
      </p:sp>
      <p:sp>
        <p:nvSpPr>
          <p:cNvPr id="10" name="TextBox 9"/>
          <p:cNvSpPr txBox="1"/>
          <p:nvPr/>
        </p:nvSpPr>
        <p:spPr>
          <a:xfrm>
            <a:off x="8001000" y="4709160"/>
            <a:ext cx="3703320" cy="1188720"/>
          </a:xfrm>
          <a:prstGeom prst="rect">
            <a:avLst/>
          </a:prstGeom>
          <a:noFill/>
        </p:spPr>
        <p:txBody>
          <a:bodyPr wrap="square" lIns="0" rIns="0" tIns="0" bIns="0" anchor="t">
            <a:spAutoFit/>
          </a:bodyPr>
          <a:lstStyle/>
          <a:p>
            <a:pPr algn="l">
              <a:spcAft>
                <a:spcPts val="0"/>
              </a:spcAft>
            </a:pPr>
            <a:r>
              <a:rPr sz="1300" b="0" i="0">
                <a:solidFill>
                  <a:srgbClr val="1E2528"/>
                </a:solidFill>
                <a:latin typeface="Calibri"/>
              </a:rPr>
              <a:t>benefit/cost for any of the 5 lines on Ugandan freight alone; through traffic from Mombasa needs about 93 Mt a year to break even.</a:t>
            </a:r>
          </a:p>
        </p:txBody>
      </p:sp>
      <p:sp>
        <p:nvSpPr>
          <p:cNvPr id="11" name="TextBox 10"/>
          <p:cNvSpPr txBox="1"/>
          <p:nvPr/>
        </p:nvSpPr>
        <p:spPr>
          <a:xfrm>
            <a:off x="6400800" y="5897880"/>
            <a:ext cx="5303520" cy="548640"/>
          </a:xfrm>
          <a:prstGeom prst="rect">
            <a:avLst/>
          </a:prstGeom>
          <a:noFill/>
        </p:spPr>
        <p:txBody>
          <a:bodyPr wrap="square" lIns="0" rIns="0" tIns="0" bIns="0" anchor="t">
            <a:spAutoFit/>
          </a:bodyPr>
          <a:lstStyle/>
          <a:p>
            <a:pPr algn="l">
              <a:spcAft>
                <a:spcPts val="0"/>
              </a:spcAft>
            </a:pPr>
            <a:r>
              <a:rPr sz="1200" b="0" i="1">
                <a:solidFill>
                  <a:srgbClr val="5B6770"/>
                </a:solidFill>
                <a:latin typeface="Calibri"/>
              </a:rPr>
              <a:t>Counting only freight costs and CO2 from today's Ugandan traffic: transit growth, passengers and congestion relief carry the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Discussion</a:t>
            </a:r>
          </a:p>
        </p:txBody>
      </p:sp>
      <p:sp>
        <p:nvSpPr>
          <p:cNvPr id="3" name="TextBox 2"/>
          <p:cNvSpPr txBox="1"/>
          <p:nvPr/>
        </p:nvSpPr>
        <p:spPr>
          <a:xfrm>
            <a:off x="548640" y="1115568"/>
            <a:ext cx="11064240" cy="457200"/>
          </a:xfrm>
          <a:prstGeom prst="rect">
            <a:avLst/>
          </a:prstGeom>
          <a:noFill/>
        </p:spPr>
        <p:txBody>
          <a:bodyPr wrap="square" lIns="0" rIns="0" tIns="0" bIns="0" anchor="t">
            <a:spAutoFit/>
          </a:bodyPr>
          <a:lstStyle/>
          <a:p>
            <a:pPr algn="l">
              <a:spcAft>
                <a:spcPts val="0"/>
              </a:spcAft>
            </a:pPr>
            <a:r>
              <a:rPr sz="1600" b="0" i="0">
                <a:solidFill>
                  <a:srgbClr val="5B6770"/>
                </a:solidFill>
                <a:latin typeface="Calibri"/>
              </a:rPr>
              <a:t>What the results suggest for corridor policy</a:t>
            </a:r>
          </a:p>
        </p:txBody>
      </p:sp>
      <p:sp>
        <p:nvSpPr>
          <p:cNvPr id="4" name="Rounded Rectangle 3"/>
          <p:cNvSpPr/>
          <p:nvPr/>
        </p:nvSpPr>
        <p:spPr>
          <a:xfrm>
            <a:off x="548640" y="1783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057400"/>
            <a:ext cx="457200" cy="45720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1463040" y="2084831"/>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Settlement is the chronic problem</a:t>
            </a:r>
          </a:p>
        </p:txBody>
      </p:sp>
      <p:sp>
        <p:nvSpPr>
          <p:cNvPr id="7" name="TextBox 6"/>
          <p:cNvSpPr txBox="1"/>
          <p:nvPr/>
        </p:nvSpPr>
        <p:spPr>
          <a:xfrm>
            <a:off x="1463040" y="2560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Roadside activity costs the most time for cars on every road, is growing fastest where it is newest, and is where police place their crash black spots. Access management and service roads address the cause.</a:t>
            </a:r>
          </a:p>
        </p:txBody>
      </p:sp>
      <p:sp>
        <p:nvSpPr>
          <p:cNvPr id="8" name="Rounded Rectangle 7"/>
          <p:cNvSpPr/>
          <p:nvPr/>
        </p:nvSpPr>
        <p:spPr>
          <a:xfrm>
            <a:off x="6172200" y="1783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46520" y="2057400"/>
            <a:ext cx="457200" cy="457200"/>
          </a:xfrm>
          <a:prstGeom prst="ellipse">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0" name="TextBox 9"/>
          <p:cNvSpPr txBox="1"/>
          <p:nvPr/>
        </p:nvSpPr>
        <p:spPr>
          <a:xfrm>
            <a:off x="7086600" y="2084831"/>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Controls are the cheap wins</a:t>
            </a:r>
          </a:p>
        </p:txBody>
      </p:sp>
      <p:sp>
        <p:nvSpPr>
          <p:cNvPr id="11" name="TextBox 10"/>
          <p:cNvSpPr txBox="1"/>
          <p:nvPr/>
        </p:nvSpPr>
        <p:spPr>
          <a:xfrm>
            <a:off x="7086600" y="2560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Weighbridges and police posts produce the worst single stretches. Weigh-in-motion and ending police stops save more per trip than bypasses in light traffic, and cut stop-go fuel.</a:t>
            </a:r>
          </a:p>
        </p:txBody>
      </p:sp>
      <p:sp>
        <p:nvSpPr>
          <p:cNvPr id="12" name="Rounded Rectangle 11"/>
          <p:cNvSpPr/>
          <p:nvPr/>
        </p:nvSpPr>
        <p:spPr>
          <a:xfrm>
            <a:off x="548640" y="4069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59" y="4343400"/>
            <a:ext cx="457200" cy="457200"/>
          </a:xfrm>
          <a:prstGeom prst="ellipse">
            <a:avLst/>
          </a:prstGeom>
          <a:solidFill>
            <a:srgbClr val="3A7D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4" name="TextBox 13"/>
          <p:cNvSpPr txBox="1"/>
          <p:nvPr/>
        </p:nvSpPr>
        <p:spPr>
          <a:xfrm>
            <a:off x="1463040" y="4370832"/>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Stopped time dwarfs driving time</a:t>
            </a:r>
          </a:p>
        </p:txBody>
      </p:sp>
      <p:sp>
        <p:nvSpPr>
          <p:cNvPr id="15" name="TextBox 14"/>
          <p:cNvSpPr txBox="1"/>
          <p:nvPr/>
        </p:nvSpPr>
        <p:spPr>
          <a:xfrm>
            <a:off x="1463040" y="4846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Trucks take 17–93 h between Kampala and the borders, of which friction is a small share. Rest, border and administrative stops need their own reforms alongside the road.</a:t>
            </a:r>
          </a:p>
        </p:txBody>
      </p:sp>
      <p:sp>
        <p:nvSpPr>
          <p:cNvPr id="16" name="Rounded Rectangle 15"/>
          <p:cNvSpPr/>
          <p:nvPr/>
        </p:nvSpPr>
        <p:spPr>
          <a:xfrm>
            <a:off x="6172200" y="4069080"/>
            <a:ext cx="5440680" cy="210312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46520" y="4343400"/>
            <a:ext cx="457200" cy="457200"/>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8" name="TextBox 17"/>
          <p:cNvSpPr txBox="1"/>
          <p:nvPr/>
        </p:nvSpPr>
        <p:spPr>
          <a:xfrm>
            <a:off x="7086600" y="4370832"/>
            <a:ext cx="4297680" cy="411480"/>
          </a:xfrm>
          <a:prstGeom prst="rect">
            <a:avLst/>
          </a:prstGeom>
          <a:noFill/>
        </p:spPr>
        <p:txBody>
          <a:bodyPr wrap="square" lIns="0" rIns="0" tIns="0" bIns="0" anchor="t">
            <a:spAutoFit/>
          </a:bodyPr>
          <a:lstStyle/>
          <a:p>
            <a:pPr algn="l">
              <a:spcAft>
                <a:spcPts val="0"/>
              </a:spcAft>
            </a:pPr>
            <a:r>
              <a:rPr sz="1900" b="1" i="0">
                <a:solidFill>
                  <a:srgbClr val="1E2528"/>
                </a:solidFill>
                <a:latin typeface="Cambria"/>
              </a:rPr>
              <a:t>Growth outpaces the road</a:t>
            </a:r>
          </a:p>
        </p:txBody>
      </p:sp>
      <p:sp>
        <p:nvSpPr>
          <p:cNvPr id="19" name="TextBox 18"/>
          <p:cNvSpPr txBox="1"/>
          <p:nvPr/>
        </p:nvSpPr>
        <p:spPr>
          <a:xfrm>
            <a:off x="7086600" y="4846320"/>
            <a:ext cx="4297680" cy="128016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At 27–68% in 20 years, today's open road is tomorrow's settlement. Land-use control along the corridors is time-critical.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spcAft>
                <a:spcPts val="0"/>
              </a:spcAft>
            </a:pPr>
            <a:r>
              <a:rPr sz="3400" b="1" i="0">
                <a:solidFill>
                  <a:srgbClr val="1E2528"/>
                </a:solidFill>
                <a:latin typeface="Cambria"/>
              </a:rPr>
              <a:t>Limitations and next steps</a:t>
            </a:r>
          </a:p>
        </p:txBody>
      </p:sp>
      <p:sp>
        <p:nvSpPr>
          <p:cNvPr id="3" name="Rounded Rectangle 2"/>
          <p:cNvSpPr/>
          <p:nvPr/>
        </p:nvSpPr>
        <p:spPr>
          <a:xfrm>
            <a:off x="548640" y="141732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Congestion is not modelled</a:t>
            </a:r>
          </a:p>
        </p:txBody>
      </p:sp>
      <p:sp>
        <p:nvSpPr>
          <p:cNvPr id="5" name="TextBox 4"/>
          <p:cNvSpPr txBox="1"/>
          <p:nvPr/>
        </p:nvSpPr>
        <p:spPr>
          <a:xfrm>
            <a:off x="822960" y="192024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Results describe light traffic; peak-hour delay near Kampala is larger.</a:t>
            </a:r>
          </a:p>
        </p:txBody>
      </p:sp>
      <p:sp>
        <p:nvSpPr>
          <p:cNvPr id="6" name="Rounded Rectangle 5"/>
          <p:cNvSpPr/>
          <p:nvPr/>
        </p:nvSpPr>
        <p:spPr>
          <a:xfrm>
            <a:off x="548640" y="260604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Speed humps are under-mapped</a:t>
            </a:r>
          </a:p>
        </p:txBody>
      </p:sp>
      <p:sp>
        <p:nvSpPr>
          <p:cNvPr id="8" name="TextBox 7"/>
          <p:cNvSpPr txBox="1"/>
          <p:nvPr/>
        </p:nvSpPr>
        <p:spPr>
          <a:xfrm>
            <a:off x="822960" y="310896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One per town piece is assumed (range 0–2); they drive the Malaba fuel figure.</a:t>
            </a:r>
          </a:p>
        </p:txBody>
      </p:sp>
      <p:sp>
        <p:nvSpPr>
          <p:cNvPr id="9" name="Rounded Rectangle 8"/>
          <p:cNvSpPr/>
          <p:nvPr/>
        </p:nvSpPr>
        <p:spPr>
          <a:xfrm>
            <a:off x="548640" y="379476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93192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Truck counts are partly assumed</a:t>
            </a:r>
          </a:p>
        </p:txBody>
      </p:sp>
      <p:sp>
        <p:nvSpPr>
          <p:cNvPr id="11" name="TextBox 10"/>
          <p:cNvSpPr txBox="1"/>
          <p:nvPr/>
        </p:nvSpPr>
        <p:spPr>
          <a:xfrm>
            <a:off x="822960" y="429768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Surveyed on the Malaba, Katuna and Bwera roads; assumed on the Elegu and Hoima roads.</a:t>
            </a:r>
          </a:p>
        </p:txBody>
      </p:sp>
      <p:sp>
        <p:nvSpPr>
          <p:cNvPr id="12" name="Rounded Rectangle 11"/>
          <p:cNvSpPr/>
          <p:nvPr/>
        </p:nvSpPr>
        <p:spPr>
          <a:xfrm>
            <a:off x="548640" y="4983480"/>
            <a:ext cx="6675120" cy="1051560"/>
          </a:xfrm>
          <a:prstGeom prst="roundRect">
            <a:avLst>
              <a:gd name="adj" fmla="val 6000"/>
            </a:avLst>
          </a:prstGeom>
          <a:solidFill>
            <a:srgbClr val="EEF2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120640"/>
            <a:ext cx="6217920" cy="365760"/>
          </a:xfrm>
          <a:prstGeom prst="rect">
            <a:avLst/>
          </a:prstGeom>
          <a:noFill/>
        </p:spPr>
        <p:txBody>
          <a:bodyPr wrap="square" lIns="0" rIns="0" tIns="0" bIns="0" anchor="t">
            <a:spAutoFit/>
          </a:bodyPr>
          <a:lstStyle/>
          <a:p>
            <a:pPr algn="l">
              <a:spcAft>
                <a:spcPts val="0"/>
              </a:spcAft>
            </a:pPr>
            <a:r>
              <a:rPr sz="1700" b="1" i="0">
                <a:solidFill>
                  <a:srgbClr val="1E2528"/>
                </a:solidFill>
                <a:latin typeface="Calibri"/>
              </a:rPr>
              <a:t>Growth after 2020 is modelled</a:t>
            </a:r>
          </a:p>
        </p:txBody>
      </p:sp>
      <p:sp>
        <p:nvSpPr>
          <p:cNvPr id="14" name="TextBox 13"/>
          <p:cNvSpPr txBox="1"/>
          <p:nvPr/>
        </p:nvSpPr>
        <p:spPr>
          <a:xfrm>
            <a:off x="822960" y="5486400"/>
            <a:ext cx="6217920" cy="502920"/>
          </a:xfrm>
          <a:prstGeom prst="rect">
            <a:avLst/>
          </a:prstGeom>
          <a:noFill/>
        </p:spPr>
        <p:txBody>
          <a:bodyPr wrap="square" lIns="0" rIns="0" tIns="0" bIns="0" anchor="t">
            <a:spAutoFit/>
          </a:bodyPr>
          <a:lstStyle/>
          <a:p>
            <a:pPr algn="l">
              <a:spcAft>
                <a:spcPts val="0"/>
              </a:spcAft>
            </a:pPr>
            <a:r>
              <a:rPr sz="1400" b="0" i="0">
                <a:solidFill>
                  <a:srgbClr val="5B6770"/>
                </a:solidFill>
                <a:latin typeface="Calibri"/>
              </a:rPr>
              <a:t>Open Buildings Temporal is a Sentinel-2 model, noisy year to year; trends are fitted.</a:t>
            </a:r>
          </a:p>
        </p:txBody>
      </p:sp>
      <p:sp>
        <p:nvSpPr>
          <p:cNvPr id="15" name="Rounded Rectangle 14"/>
          <p:cNvSpPr/>
          <p:nvPr/>
        </p:nvSpPr>
        <p:spPr>
          <a:xfrm>
            <a:off x="7589520" y="1417320"/>
            <a:ext cx="4023360" cy="4617720"/>
          </a:xfrm>
          <a:prstGeom prst="roundRect">
            <a:avLst>
              <a:gd name="adj" fmla="val 6000"/>
            </a:avLst>
          </a:prstGeom>
          <a:solidFill>
            <a:srgbClr val="172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60" y="1691640"/>
            <a:ext cx="3474720" cy="4206240"/>
          </a:xfrm>
          <a:prstGeom prst="rect">
            <a:avLst/>
          </a:prstGeom>
          <a:noFill/>
        </p:spPr>
        <p:txBody>
          <a:bodyPr wrap="square" lIns="0" rIns="0" tIns="0" bIns="0" anchor="t">
            <a:spAutoFit/>
          </a:bodyPr>
          <a:lstStyle/>
          <a:p>
            <a:pPr algn="l">
              <a:spcAft>
                <a:spcPts val="1200"/>
              </a:spcAft>
            </a:pPr>
            <a:r>
              <a:rPr sz="2200" b="1" i="0">
                <a:solidFill>
                  <a:srgbClr val="FFFFFF"/>
                </a:solidFill>
                <a:latin typeface="Cambria"/>
              </a:rPr>
              <a:t>Next steps</a:t>
            </a:r>
          </a:p>
          <a:p>
            <a:pPr algn="l">
              <a:spcAft>
                <a:spcPts val="1200"/>
              </a:spcAft>
            </a:pPr>
            <a:r>
              <a:rPr sz="1500" b="0" i="0">
                <a:solidFill>
                  <a:srgbClr val="B8C7C4"/>
                </a:solidFill>
                <a:latin typeface="Calibri"/>
              </a:rPr>
              <a:t>Count speed humps (UNRA asset inventory or street-level imagery)</a:t>
            </a:r>
          </a:p>
          <a:p>
            <a:pPr algn="l">
              <a:spcAft>
                <a:spcPts val="1200"/>
              </a:spcAft>
            </a:pPr>
            <a:r>
              <a:rPr sz="1500" b="0" i="0">
                <a:solidFill>
                  <a:srgbClr val="B8C7C4"/>
                </a:solidFill>
                <a:latin typeface="Calibri"/>
              </a:rPr>
              <a:t>Swap GLO-30 for FABDEM terrain</a:t>
            </a:r>
          </a:p>
          <a:p>
            <a:pPr algn="l">
              <a:spcAft>
                <a:spcPts val="1200"/>
              </a:spcAft>
            </a:pPr>
            <a:r>
              <a:rPr sz="1500" b="0" i="0">
                <a:solidFill>
                  <a:srgbClr val="B8C7C4"/>
                </a:solidFill>
                <a:latin typeface="Calibri"/>
              </a:rPr>
              <a:t>Apply the method to eleven capitals (regional paper)</a:t>
            </a:r>
          </a:p>
          <a:p>
            <a:pPr algn="l">
              <a:spcAft>
                <a:spcPts val="1200"/>
              </a:spcAft>
            </a:pPr>
            <a:r>
              <a:rPr sz="1500" b="0" i="0">
                <a:solidFill>
                  <a:srgbClr val="B8C7C4"/>
                </a:solidFill>
                <a:latin typeface="Calibri"/>
              </a:rPr>
              <a:t>Write up the paper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252A"/>
        </a:solidFill>
        <a:effectLst/>
      </p:bgPr>
    </p:bg>
    <p:spTree>
      <p:nvGrpSpPr>
        <p:cNvPr id="1" name=""/>
        <p:cNvGrpSpPr/>
        <p:nvPr/>
      </p:nvGrpSpPr>
      <p:grpSpPr/>
      <p:sp>
        <p:nvSpPr>
          <p:cNvPr id="2" name="TextBox 1"/>
          <p:cNvSpPr txBox="1"/>
          <p:nvPr/>
        </p:nvSpPr>
        <p:spPr>
          <a:xfrm>
            <a:off x="640080" y="1097280"/>
            <a:ext cx="10881360" cy="457200"/>
          </a:xfrm>
          <a:prstGeom prst="rect">
            <a:avLst/>
          </a:prstGeom>
          <a:noFill/>
        </p:spPr>
        <p:txBody>
          <a:bodyPr wrap="square" lIns="0" rIns="0" tIns="0" bIns="0" anchor="t">
            <a:spAutoFit/>
          </a:bodyPr>
          <a:lstStyle/>
          <a:p>
            <a:pPr algn="l">
              <a:spcAft>
                <a:spcPts val="0"/>
              </a:spcAft>
            </a:pPr>
            <a:r>
              <a:rPr sz="1300" b="1" i="0">
                <a:solidFill>
                  <a:srgbClr val="D9A441"/>
                </a:solidFill>
                <a:latin typeface="Calibri"/>
              </a:rPr>
              <a:t>CONCLUSION</a:t>
            </a:r>
          </a:p>
        </p:txBody>
      </p:sp>
      <p:sp>
        <p:nvSpPr>
          <p:cNvPr id="3" name="TextBox 2"/>
          <p:cNvSpPr txBox="1"/>
          <p:nvPr/>
        </p:nvSpPr>
        <p:spPr>
          <a:xfrm>
            <a:off x="640080" y="1600200"/>
            <a:ext cx="10881360" cy="1371600"/>
          </a:xfrm>
          <a:prstGeom prst="rect">
            <a:avLst/>
          </a:prstGeom>
          <a:noFill/>
        </p:spPr>
        <p:txBody>
          <a:bodyPr wrap="square" lIns="0" rIns="0" tIns="0" bIns="0" anchor="t">
            <a:spAutoFit/>
          </a:bodyPr>
          <a:lstStyle/>
          <a:p>
            <a:pPr algn="l">
              <a:spcAft>
                <a:spcPts val="0"/>
              </a:spcAft>
            </a:pPr>
            <a:r>
              <a:rPr sz="3400" b="1" i="0">
                <a:solidFill>
                  <a:srgbClr val="FFFFFF"/>
                </a:solidFill>
                <a:latin typeface="Cambria"/>
              </a:rPr>
              <a:t>Uganda's corridors are becoming high streets faster than they are being managed as highways.</a:t>
            </a:r>
          </a:p>
        </p:txBody>
      </p:sp>
      <p:sp>
        <p:nvSpPr>
          <p:cNvPr id="4" name="Oval 3"/>
          <p:cNvSpPr/>
          <p:nvPr/>
        </p:nvSpPr>
        <p:spPr>
          <a:xfrm>
            <a:off x="640080" y="3246120"/>
            <a:ext cx="502920" cy="50292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5" name="TextBox 4"/>
          <p:cNvSpPr txBox="1"/>
          <p:nvPr/>
        </p:nvSpPr>
        <p:spPr>
          <a:xfrm>
            <a:off x="1417320" y="3264408"/>
            <a:ext cx="10058400" cy="502920"/>
          </a:xfrm>
          <a:prstGeom prst="rect">
            <a:avLst/>
          </a:prstGeom>
          <a:noFill/>
        </p:spPr>
        <p:txBody>
          <a:bodyPr wrap="square" lIns="0" rIns="0" tIns="0" bIns="0" anchor="ctr">
            <a:spAutoFit/>
          </a:bodyPr>
          <a:lstStyle/>
          <a:p>
            <a:pPr algn="l">
              <a:spcAft>
                <a:spcPts val="0"/>
              </a:spcAft>
            </a:pPr>
            <a:r>
              <a:rPr sz="1900" b="0" i="0">
                <a:solidFill>
                  <a:srgbClr val="B8C7C4"/>
                </a:solidFill>
                <a:latin typeface="Calibri"/>
              </a:rPr>
              <a:t>Open data alone reproduce trip times within a few percent, outside Kampala.</a:t>
            </a:r>
          </a:p>
        </p:txBody>
      </p:sp>
      <p:sp>
        <p:nvSpPr>
          <p:cNvPr id="6" name="Oval 5"/>
          <p:cNvSpPr/>
          <p:nvPr/>
        </p:nvSpPr>
        <p:spPr>
          <a:xfrm>
            <a:off x="640080" y="3904487"/>
            <a:ext cx="502920" cy="50292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7" name="TextBox 6"/>
          <p:cNvSpPr txBox="1"/>
          <p:nvPr/>
        </p:nvSpPr>
        <p:spPr>
          <a:xfrm>
            <a:off x="1417320" y="3922775"/>
            <a:ext cx="10058400" cy="502920"/>
          </a:xfrm>
          <a:prstGeom prst="rect">
            <a:avLst/>
          </a:prstGeom>
          <a:noFill/>
        </p:spPr>
        <p:txBody>
          <a:bodyPr wrap="square" lIns="0" rIns="0" tIns="0" bIns="0" anchor="ctr">
            <a:spAutoFit/>
          </a:bodyPr>
          <a:lstStyle/>
          <a:p>
            <a:pPr algn="l">
              <a:spcAft>
                <a:spcPts val="0"/>
              </a:spcAft>
            </a:pPr>
            <a:r>
              <a:rPr sz="1900" b="0" i="0">
                <a:solidFill>
                  <a:srgbClr val="B8C7C4"/>
                </a:solidFill>
                <a:latin typeface="Calibri"/>
              </a:rPr>
              <a:t>Roadside activity is the largest steady delay; weighbridges are the worst single points.</a:t>
            </a:r>
          </a:p>
        </p:txBody>
      </p:sp>
      <p:sp>
        <p:nvSpPr>
          <p:cNvPr id="8" name="Oval 7"/>
          <p:cNvSpPr/>
          <p:nvPr/>
        </p:nvSpPr>
        <p:spPr>
          <a:xfrm>
            <a:off x="640080" y="4562855"/>
            <a:ext cx="502920" cy="50292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9" name="TextBox 8"/>
          <p:cNvSpPr txBox="1"/>
          <p:nvPr/>
        </p:nvSpPr>
        <p:spPr>
          <a:xfrm>
            <a:off x="1417320" y="4581143"/>
            <a:ext cx="10058400" cy="502920"/>
          </a:xfrm>
          <a:prstGeom prst="rect">
            <a:avLst/>
          </a:prstGeom>
          <a:noFill/>
        </p:spPr>
        <p:txBody>
          <a:bodyPr wrap="square" lIns="0" rIns="0" tIns="0" bIns="0" anchor="ctr">
            <a:spAutoFit/>
          </a:bodyPr>
          <a:lstStyle/>
          <a:p>
            <a:pPr algn="l">
              <a:spcAft>
                <a:spcPts val="0"/>
              </a:spcAft>
            </a:pPr>
            <a:r>
              <a:rPr sz="1900" b="0" i="0">
                <a:solidFill>
                  <a:srgbClr val="B8C7C4"/>
                </a:solidFill>
                <a:latin typeface="Calibri"/>
              </a:rPr>
              <a:t>Roadside building grew 27–68% in 2000–2020, mostly between towns.</a:t>
            </a:r>
          </a:p>
        </p:txBody>
      </p:sp>
      <p:sp>
        <p:nvSpPr>
          <p:cNvPr id="10" name="Oval 9"/>
          <p:cNvSpPr/>
          <p:nvPr/>
        </p:nvSpPr>
        <p:spPr>
          <a:xfrm>
            <a:off x="640080" y="5221223"/>
            <a:ext cx="502920" cy="502920"/>
          </a:xfrm>
          <a:prstGeom prst="ellipse">
            <a:avLst/>
          </a:prstGeom>
          <a:solidFill>
            <a:srgbClr val="C453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1" name="TextBox 10"/>
          <p:cNvSpPr txBox="1"/>
          <p:nvPr/>
        </p:nvSpPr>
        <p:spPr>
          <a:xfrm>
            <a:off x="1417320" y="5239511"/>
            <a:ext cx="10058400" cy="502920"/>
          </a:xfrm>
          <a:prstGeom prst="rect">
            <a:avLst/>
          </a:prstGeom>
          <a:noFill/>
        </p:spPr>
        <p:txBody>
          <a:bodyPr wrap="square" lIns="0" rIns="0" tIns="0" bIns="0" anchor="ctr">
            <a:spAutoFit/>
          </a:bodyPr>
          <a:lstStyle/>
          <a:p>
            <a:pPr algn="l">
              <a:spcAft>
                <a:spcPts val="0"/>
              </a:spcAft>
            </a:pPr>
            <a:r>
              <a:rPr sz="1900" b="0" i="0">
                <a:solidFill>
                  <a:srgbClr val="B8C7C4"/>
                </a:solidFill>
                <a:latin typeface="Calibri"/>
              </a:rPr>
              <a:t>Friction is a small part of truck transit, but it costs fuel and sits where crashes happen.</a:t>
            </a:r>
          </a:p>
        </p:txBody>
      </p:sp>
      <p:sp>
        <p:nvSpPr>
          <p:cNvPr id="12" name="TextBox 11"/>
          <p:cNvSpPr txBox="1"/>
          <p:nvPr/>
        </p:nvSpPr>
        <p:spPr>
          <a:xfrm>
            <a:off x="640080" y="5989320"/>
            <a:ext cx="10881360" cy="365760"/>
          </a:xfrm>
          <a:prstGeom prst="rect">
            <a:avLst/>
          </a:prstGeom>
          <a:noFill/>
        </p:spPr>
        <p:txBody>
          <a:bodyPr wrap="square" lIns="0" rIns="0" tIns="0" bIns="0" anchor="t">
            <a:spAutoFit/>
          </a:bodyPr>
          <a:lstStyle/>
          <a:p>
            <a:pPr algn="l">
              <a:spcAft>
                <a:spcPts val="0"/>
              </a:spcAft>
            </a:pPr>
            <a:r>
              <a:rPr sz="1300" b="0" i="0">
                <a:solidFill>
                  <a:srgbClr val="B8C7C4"/>
                </a:solidFill>
                <a:latin typeface="Calibri"/>
              </a:rPr>
              <a:t>Code, outputs, maps and animations: github.com/gavacharles/uganda-trade-corridors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